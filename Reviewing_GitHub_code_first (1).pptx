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differently this time: no framework, no agenda. Tell them — I'm going to follow one idea, a real one, all the way from a sentence to a buildable plan. Everything Buzzin is will surface along the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our idea. A product manager says this on a Tuesday morning. It's a good idea. Everything that follows in this deck happens to this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happens to that sentence today? It gets re-typed. Into an email, a BRD, a deck, a Jira epic — each re-typing by a different person, each one drifting a little. Six weeks later, engineering starts building something that resembles the idea. Nobody can say exactly where 'split with another person' became 'shared account access' — but it did.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rewind to Tuesday morning and run it again — this time the PM types the sentence into Buzzin. Behind the chat sits a team of five AI specialists, one per stage, each only allowed to write its own artifact type. The idea will move through five stages, and we'll walk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one. Buzzin doesn't accept the sentence — it interrogates it, against a rubric. Problem and users go green fast. Then it asks the one question that closes the biggest gap: how do we know it worked? The PM can't advance until the hard dimensions are green. Vagueness dies here, on day one — not in week six.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two. The PRD Author drafts product items — but look at the footer of each card. Every line cites the requirement it came from. This is the artifact graph appearing for the first time: nothing in the PRD floats free, and if a line can't cite its source, Buzzin flags it. 'Shared account access' can't sneak in here — it has no parent.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three. The Stack Advisor picks the how — but it isn't reasoning against the open internet. It's constrained to our tech radar and hard compliance rules. It reaches for the internal ledger service on ADOPT; the trendy external wallet SDK is on HOLD, so it's blocked outright — and if a requirement collides with a hard rule, the advisor escalates instead of quietly breaking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four — and here's the moment that matters. The architect, co-editing the spec, supersedes ADR-1: the split escrow moves to a different settlement pattern. In any normal process, that edit lands in a document and the downstream plan silently rots. Watch what Buzzin does instead — it walks the graph and flags everything the change touches,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what the architect actually sees after that edit: a worklist. Each flagged item names what went stale, why, and a suggested fix — accept, edit, or dismiss. Ninety seconds of review instead of a drift nobody notices until QA. This is where the week-six disaster from earlier simply can't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five. The Planner breaks the spec into epics and tasks with estimates and dependencies — and every task still traces back to the Tuesday-morning sentence. Read the chain out loud: TASK-1 implements SPEC-1, which satisfies PRD-1, which derives from REQ-1 — 'split a bill payment with another person.' The sentence survived, verbatim, at every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zoom out from one idea to all of them. Around 5,500 people sit in the architect and product-management ladders at roughly 225K average total comp. These roles spend about 30% of their time in the idea-to-plan-to-spec cycle you just watched, and Buzzin gives back about a third of it. Multiply it out: roughly 110 million dollars a year in reclaimed capacity — before any downstream delivery speedup. Illustrative; validate headcount and comp with Finance.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here's the thing — everything you just watched isn't a storyboard. The full pipeline runs today: five Claude-backed agents, the artifact graph, the readiness gate, the impact analyzer, constrained ADRs — on a real backend and frontend, with the offline test suite green on the hard acceptance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ask, same as it would be in any framing: one real initiative, a small build team, and access to our radar and compliance data. We just followed one sentence all the way through — give us a pilot and the next one will be yours. Let's build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777875"/>
            <a:ext cx="1237456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spc="-66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4792920" y="762000"/>
            <a:ext cx="2447330" cy="514350"/>
          </a:xfrm>
          <a:prstGeom prst="roundRect">
            <a:avLst>
              <a:gd name="adj" fmla="val 14815"/>
            </a:avLst>
          </a:prstGeom>
          <a:ln w="6350">
            <a:solidFill>
              <a:srgbClr val="C9BFB2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5008820" y="901700"/>
            <a:ext cx="209173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▢ Wells Fargo logo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3000" y="3067050"/>
            <a:ext cx="17287875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432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PROPOSAL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3727450"/>
            <a:ext cx="16187738" cy="205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350" spc="-73" kern="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idea, followed all the way </a:t>
            </a:r>
            <a:pPr algn="l" indent="0" marL="0">
              <a:lnSpc>
                <a:spcPct val="102000"/>
              </a:lnSpc>
              <a:buNone/>
            </a:pPr>
            <a:r>
              <a:rPr lang="en-US" sz="7350" i="1" spc="-73" kern="0" dirty="0">
                <a:solidFill>
                  <a:srgbClr val="C41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through.</a:t>
            </a:r>
            <a:endParaRPr lang="en-US" sz="7350" dirty="0"/>
          </a:p>
        </p:txBody>
      </p:sp>
      <p:sp>
        <p:nvSpPr>
          <p:cNvPr id="8" name="Text 6"/>
          <p:cNvSpPr/>
          <p:nvPr/>
        </p:nvSpPr>
        <p:spPr>
          <a:xfrm>
            <a:off x="1143000" y="6158707"/>
            <a:ext cx="117729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next twenty minutes we'll take a single stakeholder request from one sentence to a shippable, traceable plan — and meet Buzzin along the way.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143000" y="8991600"/>
            <a:ext cx="16097250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9283700"/>
            <a:ext cx="632098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is for developers. </a:t>
            </a:r>
            <a:pPr algn="l" indent="0" marL="0">
              <a:buNone/>
            </a:pPr>
            <a:r>
              <a:rPr lang="en-US" sz="2025" b="1" dirty="0">
                <a:solidFill>
                  <a:srgbClr val="C412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 is for the business.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5841167" y="9321800"/>
            <a:ext cx="153899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64966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IDEA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905000" y="3277295"/>
            <a:ext cx="1592580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15000" dirty="0">
                <a:solidFill>
                  <a:srgbClr val="E0CF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905000" y="4134545"/>
            <a:ext cx="14912340" cy="2056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30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should let customers </a:t>
            </a:r>
            <a:pPr algn="l" indent="0" marL="0">
              <a:lnSpc>
                <a:spcPct val="115000"/>
              </a:lnSpc>
              <a:buNone/>
            </a:pPr>
            <a:r>
              <a:rPr lang="en-US" sz="6300" i="1" dirty="0">
                <a:solidFill>
                  <a:srgbClr val="C41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a bill payment </a:t>
            </a:r>
            <a:pPr algn="l" indent="0" marL="0">
              <a:lnSpc>
                <a:spcPct val="115000"/>
              </a:lnSpc>
              <a:buNone/>
            </a:pPr>
            <a:r>
              <a:rPr lang="en-US" sz="630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another person.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1905000" y="6833493"/>
            <a:ext cx="609600" cy="28575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6" name="Text 4"/>
          <p:cNvSpPr/>
          <p:nvPr/>
        </p:nvSpPr>
        <p:spPr>
          <a:xfrm>
            <a:off x="2705100" y="6685856"/>
            <a:ext cx="715635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 manager. Tuesday morning. One sentence.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9626600"/>
            <a:ext cx="65682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831517" y="9645650"/>
            <a:ext cx="254483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FC7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HAPPENS TODAY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422400"/>
            <a:ext cx="14716125" cy="1543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sentence gets re-typed. And re-typed. And re-typed.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143000" y="4321175"/>
            <a:ext cx="17811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028950" y="4095750"/>
            <a:ext cx="14116050" cy="698500"/>
          </a:xfrm>
          <a:prstGeom prst="roundRect">
            <a:avLst>
              <a:gd name="adj" fmla="val 16364"/>
            </a:avLst>
          </a:prstGeom>
          <a:solidFill>
            <a:srgbClr val="1E1A16"/>
          </a:solidFill>
          <a:ln w="6350">
            <a:solidFill>
              <a:srgbClr val="2F29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21050" y="4311650"/>
            <a:ext cx="139553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7DED3"/>
                </a:solidFill>
                <a:highlight>
                  <a:srgbClr val="1E1A1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"Let customers split a bill payment with another person" </a:t>
            </a:r>
            <a:pPr algn="l" indent="0" marL="0">
              <a:buNone/>
            </a:pPr>
            <a:r>
              <a:rPr lang="en-US" sz="135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email to the BA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5248275"/>
            <a:ext cx="17811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2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28950" y="5022850"/>
            <a:ext cx="14116050" cy="698500"/>
          </a:xfrm>
          <a:prstGeom prst="roundRect">
            <a:avLst>
              <a:gd name="adj" fmla="val 16364"/>
            </a:avLst>
          </a:prstGeom>
          <a:solidFill>
            <a:srgbClr val="1E1A16"/>
          </a:solidFill>
          <a:ln w="6350">
            <a:solidFill>
              <a:srgbClr val="2F29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21050" y="5238750"/>
            <a:ext cx="139553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CFC4B6"/>
                </a:solidFill>
                <a:highlight>
                  <a:srgbClr val="1E1A1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"Support multi-party payment workflows" </a:t>
            </a:r>
            <a:pPr algn="l" indent="0" marL="0">
              <a:buNone/>
            </a:pPr>
            <a:r>
              <a:rPr lang="en-US" sz="135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the BRD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43000" y="6175375"/>
            <a:ext cx="17811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4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028950" y="5949950"/>
            <a:ext cx="14116050" cy="698500"/>
          </a:xfrm>
          <a:prstGeom prst="roundRect">
            <a:avLst>
              <a:gd name="adj" fmla="val 16364"/>
            </a:avLst>
          </a:prstGeom>
          <a:solidFill>
            <a:srgbClr val="1E1A16"/>
          </a:solidFill>
          <a:ln w="6350">
            <a:solidFill>
              <a:srgbClr val="2F29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1050" y="6165850"/>
            <a:ext cx="139553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A89C8D"/>
                </a:solidFill>
                <a:highlight>
                  <a:srgbClr val="1E1A1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"Phase 1: shared account access" </a:t>
            </a:r>
            <a:pPr algn="l" indent="0" marL="0">
              <a:buNone/>
            </a:pPr>
            <a:r>
              <a:rPr lang="en-US" sz="135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the steering deck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7102475"/>
            <a:ext cx="17811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6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028950" y="6877050"/>
            <a:ext cx="14116050" cy="698500"/>
          </a:xfrm>
          <a:prstGeom prst="roundRect">
            <a:avLst>
              <a:gd name="adj" fmla="val 16364"/>
            </a:avLst>
          </a:prstGeom>
          <a:solidFill>
            <a:srgbClr val="2A1418"/>
          </a:solidFill>
          <a:ln w="6350">
            <a:solidFill>
              <a:srgbClr val="C412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1050" y="7092950"/>
            <a:ext cx="139553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7F3EE"/>
                </a:solidFill>
                <a:highlight>
                  <a:srgbClr val="2A1418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"EPIC-4412: Joint account entitlements" </a:t>
            </a:r>
            <a:pPr algn="l" indent="0" marL="0">
              <a:buNone/>
            </a:pPr>
            <a:r>
              <a:rPr lang="en-US" sz="1350" dirty="0">
                <a:solidFill>
                  <a:srgbClr val="FF9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Jira. Nobody ordered this.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43000" y="8655050"/>
            <a:ext cx="1760220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i="1" dirty="0">
                <a:solidFill>
                  <a:srgbClr val="BCB3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can point to the handoff where the idea changed. That's the problem — there's no thread back.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143000" y="9626600"/>
            <a:ext cx="65682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026853" y="9645650"/>
            <a:ext cx="3429963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COMPOSITE, BUT YOU'VE SEEN IT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04775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REWIND. RUN IT AGAIN.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555750"/>
            <a:ext cx="1760220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time, the sentence goes into </a:t>
            </a:r>
            <a:pPr algn="l" indent="0" marL="0">
              <a:lnSpc>
                <a:spcPct val="104000"/>
              </a:lnSpc>
              <a:buNone/>
            </a:pPr>
            <a:r>
              <a:rPr lang="en-US" sz="5700" dirty="0">
                <a:solidFill>
                  <a:srgbClr val="C41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Buzzin.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143000" y="2594273"/>
            <a:ext cx="1373505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25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chat sits a team of five AI specialists — one per stage, each allowed to write only its own artifact. The same idea now travels five stages, and nothing gets re-typed.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143000" y="5334000"/>
            <a:ext cx="3028950" cy="381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5619750"/>
            <a:ext cx="301752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1143000" y="5949950"/>
            <a:ext cx="30175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43000" y="6356350"/>
            <a:ext cx="30175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 Analyst</a:t>
            </a:r>
            <a:endParaRPr lang="en-US" sz="1275" dirty="0"/>
          </a:p>
        </p:txBody>
      </p:sp>
      <p:sp>
        <p:nvSpPr>
          <p:cNvPr id="10" name="Shape 8"/>
          <p:cNvSpPr/>
          <p:nvPr/>
        </p:nvSpPr>
        <p:spPr>
          <a:xfrm>
            <a:off x="4171950" y="5334000"/>
            <a:ext cx="3314700" cy="38100"/>
          </a:xfrm>
          <a:prstGeom prst="rect">
            <a:avLst/>
          </a:prstGeom>
          <a:solidFill>
            <a:srgbClr val="E0CF9A"/>
          </a:solidFill>
          <a:ln/>
        </p:spPr>
      </p:sp>
      <p:sp>
        <p:nvSpPr>
          <p:cNvPr id="11" name="Text 9"/>
          <p:cNvSpPr/>
          <p:nvPr/>
        </p:nvSpPr>
        <p:spPr>
          <a:xfrm>
            <a:off x="4457700" y="5619750"/>
            <a:ext cx="301752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4457700" y="5949950"/>
            <a:ext cx="30175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457700" y="6356350"/>
            <a:ext cx="30175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 Author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7486650" y="5334000"/>
            <a:ext cx="3314700" cy="38100"/>
          </a:xfrm>
          <a:prstGeom prst="rect">
            <a:avLst/>
          </a:prstGeom>
          <a:solidFill>
            <a:srgbClr val="E0CF9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5619750"/>
            <a:ext cx="301752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7772400" y="5949950"/>
            <a:ext cx="30175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/ ADR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772400" y="6356350"/>
            <a:ext cx="30175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Advisor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10801350" y="5334000"/>
            <a:ext cx="3314700" cy="38100"/>
          </a:xfrm>
          <a:prstGeom prst="rect">
            <a:avLst/>
          </a:prstGeom>
          <a:solidFill>
            <a:srgbClr val="E0CF9A"/>
          </a:solidFill>
          <a:ln/>
        </p:spPr>
      </p:sp>
      <p:sp>
        <p:nvSpPr>
          <p:cNvPr id="19" name="Text 17"/>
          <p:cNvSpPr/>
          <p:nvPr/>
        </p:nvSpPr>
        <p:spPr>
          <a:xfrm>
            <a:off x="11087100" y="5619750"/>
            <a:ext cx="301752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1087100" y="5949950"/>
            <a:ext cx="30175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Spec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087100" y="6356350"/>
            <a:ext cx="30175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</a:t>
            </a:r>
            <a:endParaRPr lang="en-US" sz="1275" dirty="0"/>
          </a:p>
        </p:txBody>
      </p:sp>
      <p:sp>
        <p:nvSpPr>
          <p:cNvPr id="22" name="Shape 20"/>
          <p:cNvSpPr/>
          <p:nvPr/>
        </p:nvSpPr>
        <p:spPr>
          <a:xfrm>
            <a:off x="14116050" y="5334000"/>
            <a:ext cx="3028950" cy="38100"/>
          </a:xfrm>
          <a:prstGeom prst="rect">
            <a:avLst/>
          </a:prstGeom>
          <a:solidFill>
            <a:srgbClr val="E0CF9A"/>
          </a:solidFill>
          <a:ln/>
        </p:spPr>
      </p:sp>
      <p:sp>
        <p:nvSpPr>
          <p:cNvPr id="23" name="Text 21"/>
          <p:cNvSpPr/>
          <p:nvPr/>
        </p:nvSpPr>
        <p:spPr>
          <a:xfrm>
            <a:off x="14401800" y="5619750"/>
            <a:ext cx="301752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4401800" y="5949950"/>
            <a:ext cx="30175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Plan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14401800" y="6356350"/>
            <a:ext cx="30175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1143000" y="9626600"/>
            <a:ext cx="65682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4831517" y="9645650"/>
            <a:ext cx="254483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1 · REQUIREMENTS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2715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Buzzin refuses to let the idea stay vague.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3352800"/>
            <a:ext cx="838200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86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MINUTES IN, IT ASKS THE GAP-CLOSING QUESTION</a:t>
            </a:r>
            <a:endParaRPr lang="en-US" sz="1425" dirty="0"/>
          </a:p>
        </p:txBody>
      </p:sp>
      <p:sp>
        <p:nvSpPr>
          <p:cNvPr id="5" name="Shape 3"/>
          <p:cNvSpPr/>
          <p:nvPr/>
        </p:nvSpPr>
        <p:spPr>
          <a:xfrm>
            <a:off x="1143000" y="3778250"/>
            <a:ext cx="7620000" cy="2511822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57150" dir="5400000">
              <a:srgbClr val="000000">
                <a:alpha val="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6283722"/>
            <a:ext cx="7620000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778250"/>
            <a:ext cx="7620000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3778250"/>
            <a:ext cx="44450" cy="2511822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9" name="Shape 7"/>
          <p:cNvSpPr/>
          <p:nvPr/>
        </p:nvSpPr>
        <p:spPr>
          <a:xfrm>
            <a:off x="8756650" y="3778250"/>
            <a:ext cx="9525" cy="2511822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10" name="Text 8"/>
          <p:cNvSpPr/>
          <p:nvPr/>
        </p:nvSpPr>
        <p:spPr>
          <a:xfrm>
            <a:off x="1530350" y="4108450"/>
            <a:ext cx="7089902" cy="18895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"Split with </a:t>
            </a:r>
            <a:pPr algn="l" indent="0" marL="0">
              <a:lnSpc>
                <a:spcPct val="140000"/>
              </a:lnSpc>
              <a:buNone/>
            </a:pPr>
            <a:r>
              <a:rPr lang="en-US" sz="2550" i="1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anyone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or another Wells Fargo customer? And how will we know it worked — adoption, payment volume, or support-call reduction?"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143000" y="6613922"/>
            <a:ext cx="7848600" cy="793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vagueness that would surface in week six surfaces in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six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while the PM is still in the room.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906000" y="3352800"/>
            <a:ext cx="7239000" cy="5457825"/>
          </a:xfrm>
          <a:prstGeom prst="roundRect">
            <a:avLst>
              <a:gd name="adj" fmla="val 2792"/>
            </a:avLst>
          </a:prstGeom>
          <a:solidFill>
            <a:srgbClr val="FFFFFF"/>
          </a:solidFill>
          <a:ln w="6350">
            <a:solidFill>
              <a:srgbClr val="E5DED4"/>
            </a:solidFill>
            <a:prstDash val="solid"/>
          </a:ln>
          <a:effectLst>
            <a:outerShdw sx="100000" sy="100000" kx="0" ky="0" algn="bl" rotWithShape="0" blurRad="285750" dist="9525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293351" y="3702050"/>
            <a:ext cx="31471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Split-payment readiness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186150" y="3730625"/>
            <a:ext cx="6477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5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293351" y="4121150"/>
            <a:ext cx="6464300" cy="9525"/>
          </a:xfrm>
          <a:prstGeom prst="rect">
            <a:avLst/>
          </a:prstGeom>
          <a:solidFill>
            <a:srgbClr val="EEE6DA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93351" y="4854575"/>
            <a:ext cx="6464300" cy="9525"/>
          </a:xfrm>
          <a:prstGeom prst="rect">
            <a:avLst/>
          </a:prstGeom>
          <a:solidFill>
            <a:srgbClr val="F2ECE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93351" y="4454525"/>
            <a:ext cx="152400" cy="152400"/>
          </a:xfrm>
          <a:prstGeom prst="ellipse">
            <a:avLst/>
          </a:prstGeom>
          <a:solidFill>
            <a:srgbClr val="1E8E4E"/>
          </a:solidFill>
          <a:ln/>
        </p:spPr>
      </p:sp>
      <p:sp>
        <p:nvSpPr>
          <p:cNvPr id="18" name="Text 16"/>
          <p:cNvSpPr/>
          <p:nvPr/>
        </p:nvSpPr>
        <p:spPr>
          <a:xfrm>
            <a:off x="10617201" y="4387850"/>
            <a:ext cx="59686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clarity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6214725" y="4413250"/>
            <a:ext cx="61912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E8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10293351" y="5508625"/>
            <a:ext cx="6464300" cy="9525"/>
          </a:xfrm>
          <a:prstGeom prst="rect">
            <a:avLst/>
          </a:prstGeom>
          <a:solidFill>
            <a:srgbClr val="F2ECE2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93351" y="5108575"/>
            <a:ext cx="152400" cy="152400"/>
          </a:xfrm>
          <a:prstGeom prst="ellipse">
            <a:avLst/>
          </a:prstGeom>
          <a:solidFill>
            <a:srgbClr val="1E8E4E"/>
          </a:solidFill>
          <a:ln/>
        </p:spPr>
      </p:sp>
      <p:sp>
        <p:nvSpPr>
          <p:cNvPr id="22" name="Text 20"/>
          <p:cNvSpPr/>
          <p:nvPr/>
        </p:nvSpPr>
        <p:spPr>
          <a:xfrm>
            <a:off x="10617201" y="5041900"/>
            <a:ext cx="59686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6214725" y="5067300"/>
            <a:ext cx="61912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E8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10293351" y="6162675"/>
            <a:ext cx="6464300" cy="9525"/>
          </a:xfrm>
          <a:prstGeom prst="rect">
            <a:avLst/>
          </a:prstGeom>
          <a:solidFill>
            <a:srgbClr val="F2ECE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93351" y="5762625"/>
            <a:ext cx="152400" cy="152400"/>
          </a:xfrm>
          <a:prstGeom prst="ellipse">
            <a:avLst/>
          </a:prstGeom>
          <a:solidFill>
            <a:srgbClr val="E0A500"/>
          </a:solidFill>
          <a:ln/>
        </p:spPr>
      </p:sp>
      <p:sp>
        <p:nvSpPr>
          <p:cNvPr id="26" name="Text 24"/>
          <p:cNvSpPr/>
          <p:nvPr/>
        </p:nvSpPr>
        <p:spPr>
          <a:xfrm>
            <a:off x="10617201" y="5695950"/>
            <a:ext cx="59686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6214725" y="5721350"/>
            <a:ext cx="61912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AMBER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10293351" y="6816725"/>
            <a:ext cx="6464300" cy="9525"/>
          </a:xfrm>
          <a:prstGeom prst="rect">
            <a:avLst/>
          </a:prstGeom>
          <a:solidFill>
            <a:srgbClr val="F2ECE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93351" y="6416675"/>
            <a:ext cx="152400" cy="152400"/>
          </a:xfrm>
          <a:prstGeom prst="ellipse">
            <a:avLst/>
          </a:prstGeom>
          <a:solidFill>
            <a:srgbClr val="E0A500"/>
          </a:solidFill>
          <a:ln/>
        </p:spPr>
      </p:sp>
      <p:sp>
        <p:nvSpPr>
          <p:cNvPr id="30" name="Text 28"/>
          <p:cNvSpPr/>
          <p:nvPr/>
        </p:nvSpPr>
        <p:spPr>
          <a:xfrm>
            <a:off x="10617201" y="6350000"/>
            <a:ext cx="59686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boundaries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16214725" y="6375400"/>
            <a:ext cx="61912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E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AMBER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10293351" y="7070725"/>
            <a:ext cx="152400" cy="152400"/>
          </a:xfrm>
          <a:prstGeom prst="ellipse">
            <a:avLst/>
          </a:prstGeom>
          <a:solidFill>
            <a:srgbClr val="1E8E4E"/>
          </a:solidFill>
          <a:ln/>
        </p:spPr>
      </p:sp>
      <p:sp>
        <p:nvSpPr>
          <p:cNvPr id="33" name="Text 31"/>
          <p:cNvSpPr/>
          <p:nvPr/>
        </p:nvSpPr>
        <p:spPr>
          <a:xfrm>
            <a:off x="10617201" y="7004050"/>
            <a:ext cx="59686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875" dirty="0"/>
          </a:p>
        </p:txBody>
      </p:sp>
      <p:sp>
        <p:nvSpPr>
          <p:cNvPr id="34" name="Text 32"/>
          <p:cNvSpPr/>
          <p:nvPr/>
        </p:nvSpPr>
        <p:spPr>
          <a:xfrm>
            <a:off x="16214725" y="7029450"/>
            <a:ext cx="61912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1E8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</a:t>
            </a:r>
            <a:endParaRPr lang="en-US" sz="1425" dirty="0"/>
          </a:p>
        </p:txBody>
      </p:sp>
      <p:sp>
        <p:nvSpPr>
          <p:cNvPr id="35" name="Shape 33"/>
          <p:cNvSpPr/>
          <p:nvPr/>
        </p:nvSpPr>
        <p:spPr>
          <a:xfrm>
            <a:off x="10293351" y="7718425"/>
            <a:ext cx="6464300" cy="742950"/>
          </a:xfrm>
          <a:prstGeom prst="roundRect">
            <a:avLst>
              <a:gd name="adj" fmla="val 15385"/>
            </a:avLst>
          </a:prstGeom>
          <a:solidFill>
            <a:srgbClr val="F4EEE4"/>
          </a:solidFill>
          <a:ln w="6350">
            <a:solidFill>
              <a:srgbClr val="CBBFAE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1491615" y="7934325"/>
            <a:ext cx="390128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938893" y="7950200"/>
            <a:ext cx="398254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A89E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 — locked until all-green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143000" y="9626600"/>
            <a:ext cx="65682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3423305" y="9645650"/>
            <a:ext cx="4093865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READINESS ENGINE, MET IN THE WILD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PRD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2715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line remembers where it came from.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262088"/>
            <a:ext cx="1422558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artifact graph surfacing for the first time — each PRD item carries a live link to its requirement. Uncited lines get flagged, so drift can't sneak in.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43000" y="4095750"/>
            <a:ext cx="5160368" cy="2752725"/>
          </a:xfrm>
          <a:prstGeom prst="roundRect">
            <a:avLst>
              <a:gd name="adj" fmla="val 4844"/>
            </a:avLst>
          </a:prstGeom>
          <a:solidFill>
            <a:srgbClr val="FFFFFF"/>
          </a:solidFill>
          <a:ln w="6350">
            <a:solidFill>
              <a:srgbClr val="E5DED4"/>
            </a:solidFill>
            <a:prstDash val="solid"/>
          </a:ln>
          <a:effectLst>
            <a:outerShdw sx="100000" sy="100000" kx="0" ky="0" algn="bl" rotWithShape="0" blurRad="190500" dist="57150" dir="5400000">
              <a:srgbClr val="000000">
                <a:alpha val="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54150" y="4425950"/>
            <a:ext cx="4991874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PRD-1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454150" y="4800600"/>
            <a:ext cx="499187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request flow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454150" y="5219700"/>
            <a:ext cx="4674209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Payer selects a bill, chooses a co-payer, sets the split ratio.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1454150" y="6105525"/>
            <a:ext cx="4538067" cy="9525"/>
          </a:xfrm>
          <a:prstGeom prst="rect">
            <a:avLst/>
          </a:prstGeom>
          <a:solidFill>
            <a:srgbClr val="EEE6DA"/>
          </a:solidFill>
          <a:ln/>
        </p:spPr>
      </p:sp>
      <p:sp>
        <p:nvSpPr>
          <p:cNvPr id="10" name="Text 8"/>
          <p:cNvSpPr/>
          <p:nvPr/>
        </p:nvSpPr>
        <p:spPr>
          <a:xfrm>
            <a:off x="1454150" y="6264275"/>
            <a:ext cx="4674209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E8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⇡ traces to REQ-1 · split a bill payment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51018" y="4095750"/>
            <a:ext cx="5160466" cy="2752725"/>
          </a:xfrm>
          <a:prstGeom prst="roundRect">
            <a:avLst>
              <a:gd name="adj" fmla="val 4844"/>
            </a:avLst>
          </a:prstGeom>
          <a:solidFill>
            <a:srgbClr val="FFFFFF"/>
          </a:solidFill>
          <a:ln w="6350">
            <a:solidFill>
              <a:srgbClr val="E5DED4"/>
            </a:solidFill>
            <a:prstDash val="solid"/>
          </a:ln>
          <a:effectLst>
            <a:outerShdw sx="100000" sy="100000" kx="0" ky="0" algn="bl" rotWithShape="0" blurRad="190500" dist="57150" dir="540000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62167" y="4425950"/>
            <a:ext cx="499198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PRD-2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62167" y="4800600"/>
            <a:ext cx="49919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Co-payer notification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862167" y="5219700"/>
            <a:ext cx="467431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person gets a secure request they can accept or decline.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6862167" y="6105525"/>
            <a:ext cx="4538167" cy="9525"/>
          </a:xfrm>
          <a:prstGeom prst="rect">
            <a:avLst/>
          </a:prstGeom>
          <a:solidFill>
            <a:srgbClr val="EEE6DA"/>
          </a:solidFill>
          <a:ln/>
        </p:spPr>
      </p:sp>
      <p:sp>
        <p:nvSpPr>
          <p:cNvPr id="16" name="Text 14"/>
          <p:cNvSpPr/>
          <p:nvPr/>
        </p:nvSpPr>
        <p:spPr>
          <a:xfrm>
            <a:off x="6862167" y="6264275"/>
            <a:ext cx="4674312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E8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⇡ traces to REQ-1 · with another person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1959134" y="4095750"/>
            <a:ext cx="5185867" cy="2752725"/>
          </a:xfrm>
          <a:prstGeom prst="roundRect">
            <a:avLst>
              <a:gd name="adj" fmla="val 4844"/>
            </a:avLst>
          </a:prstGeom>
          <a:solidFill>
            <a:srgbClr val="FFFFFF"/>
          </a:solidFill>
          <a:ln w="19050">
            <a:solidFill>
              <a:srgbClr val="E0A50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2282984" y="4438650"/>
            <a:ext cx="499198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PRD-3 (draft)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282984" y="4813300"/>
            <a:ext cx="49919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account access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282984" y="5232400"/>
            <a:ext cx="467431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25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week-six drift from the last slide — tries to enter here.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12282984" y="6118225"/>
            <a:ext cx="4538167" cy="9525"/>
          </a:xfrm>
          <a:prstGeom prst="rect">
            <a:avLst/>
          </a:prstGeom>
          <a:solidFill>
            <a:srgbClr val="F2E3B8"/>
          </a:solidFill>
          <a:ln/>
        </p:spPr>
      </p:sp>
      <p:sp>
        <p:nvSpPr>
          <p:cNvPr id="22" name="Text 20"/>
          <p:cNvSpPr/>
          <p:nvPr/>
        </p:nvSpPr>
        <p:spPr>
          <a:xfrm>
            <a:off x="12282984" y="6276975"/>
            <a:ext cx="46743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no parent requirement — flagged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43000" y="9626600"/>
            <a:ext cx="65682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3624521" y="9645650"/>
            <a:ext cx="3872528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ARTIFACT GRAPH, MET IN THE WILD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3 · STACK / ADR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27150"/>
            <a:ext cx="16482060" cy="1533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stack </a:t>
            </a:r>
            <a:pPr algn="l" indent="0" marL="0">
              <a:lnSpc>
                <a:spcPct val="103000"/>
              </a:lnSpc>
              <a:buNone/>
            </a:pPr>
            <a:r>
              <a:rPr lang="en-US" sz="5400" i="1" dirty="0">
                <a:solidFill>
                  <a:srgbClr val="C412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</a:t>
            </a:r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allow — not the internet's favorite.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714750"/>
            <a:ext cx="16002000" cy="8445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5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73200" y="3990975"/>
            <a:ext cx="136207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E8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ADOPT ✓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978150" y="3987800"/>
            <a:ext cx="1344726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payments ledger service </a:t>
            </a:r>
            <a:pPr algn="l" indent="0" marL="0">
              <a:buNone/>
            </a:pPr>
            <a:r>
              <a:rPr lang="en-US" sz="180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chosen for split escrow &amp; settlement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300450" y="4025900"/>
            <a:ext cx="59055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ADR-1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143000" y="4768850"/>
            <a:ext cx="16002000" cy="8445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6350">
            <a:solidFill>
              <a:srgbClr val="E5DE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73200" y="5045075"/>
            <a:ext cx="136207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TRIAL ⚠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978150" y="5041900"/>
            <a:ext cx="1344726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Push-notification hub v2 </a:t>
            </a:r>
            <a:pPr algn="l" indent="0" marL="0">
              <a:buNone/>
            </a:pPr>
            <a:r>
              <a:rPr lang="en-US" sz="180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allowed with caveat, SMS named as fallback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300450" y="5080000"/>
            <a:ext cx="59055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ADR-2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143000" y="5822950"/>
            <a:ext cx="16002000" cy="844550"/>
          </a:xfrm>
          <a:prstGeom prst="roundRect">
            <a:avLst>
              <a:gd name="adj" fmla="val 15789"/>
            </a:avLst>
          </a:prstGeom>
          <a:solidFill>
            <a:srgbClr val="FAF3F3"/>
          </a:solidFill>
          <a:ln w="6350">
            <a:solidFill>
              <a:srgbClr val="E8C7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73200" y="6099175"/>
            <a:ext cx="1362075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HOLD ✗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978150" y="6096000"/>
            <a:ext cx="1312933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strike="sngStrike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wallet SDK </a:t>
            </a:r>
            <a:pPr algn="l" indent="0" marL="0">
              <a:buNone/>
            </a:pPr>
            <a:r>
              <a:rPr lang="en-US" sz="180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blocked: vendor risk tier + data residency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991781" y="6134100"/>
            <a:ext cx="89922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143000" y="7981950"/>
            <a:ext cx="16002000" cy="971550"/>
          </a:xfrm>
          <a:prstGeom prst="roundRect">
            <a:avLst>
              <a:gd name="adj" fmla="val 13725"/>
            </a:avLst>
          </a:prstGeom>
          <a:solidFill>
            <a:srgbClr val="171717"/>
          </a:solidFill>
          <a:ln/>
        </p:spPr>
      </p:sp>
      <p:sp>
        <p:nvSpPr>
          <p:cNvPr id="17" name="Text 15"/>
          <p:cNvSpPr/>
          <p:nvPr/>
        </p:nvSpPr>
        <p:spPr>
          <a:xfrm>
            <a:off x="1485900" y="8267700"/>
            <a:ext cx="168478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 requirement collides with a hard compliance rule, the advisor </a:t>
            </a:r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FFC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escalates the conflict </a:t>
            </a:r>
            <a:pPr algn="l" indent="0" marL="0">
              <a:lnSpc>
                <a:spcPct val="140000"/>
              </a:lnSpc>
              <a:buNone/>
            </a:pPr>
            <a:r>
              <a:rPr lang="en-US" sz="2250" i="1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it never quietly breaks it.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43000" y="9626600"/>
            <a:ext cx="65682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121580" y="9645650"/>
            <a:ext cx="442576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RADAR + COMPLIANCE, MET IN THE WILD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FC7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4 · TECH SPEC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2715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architect changes one thing…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2262088"/>
            <a:ext cx="1422558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dirty="0">
                <a:solidFill>
                  <a:srgbClr val="BC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Buzzin walks the graph, flagging every spec section and task the change touches — with a suggested fix for each. Nothing silently rots.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33364" y="3581400"/>
            <a:ext cx="1624449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5720904" y="3581400"/>
            <a:ext cx="445393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8562380" y="3581400"/>
            <a:ext cx="148911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FFC7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/ ADR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11923961" y="3581400"/>
            <a:ext cx="1183779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SPEC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5408573" y="3581400"/>
            <a:ext cx="69155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14" kern="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42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4500" y="4076700"/>
            <a:ext cx="14859000" cy="4953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914525" y="4953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221D19"/>
          </a:solidFill>
          <a:ln w="19050">
            <a:solidFill>
              <a:srgbClr val="3A33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95475" y="4972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F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REQ-1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914525" y="7620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221D19"/>
          </a:solidFill>
          <a:ln w="19050">
            <a:solidFill>
              <a:srgbClr val="3A33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95475" y="7639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F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REQ-2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5248275" y="4953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221D19"/>
          </a:solidFill>
          <a:ln w="19050">
            <a:solidFill>
              <a:srgbClr val="3A332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29225" y="4972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F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PRD-1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5248275" y="7620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221D19"/>
          </a:solidFill>
          <a:ln w="19050">
            <a:solidFill>
              <a:srgbClr val="3A33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29225" y="7639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8F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PRD-2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8582025" y="62865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C4122E"/>
          </a:solidFill>
          <a:ln w="19050">
            <a:solidFill>
              <a:srgbClr val="C4122E"/>
            </a:solidFill>
            <a:prstDash val="solid"/>
          </a:ln>
          <a:effectLst>
            <a:outerShdw sx="100000" sy="100000" kx="0" ky="0" algn="bl" rotWithShape="0" blurRad="101600" dist="50800" dir="16200000">
              <a:srgbClr val="C4122E">
                <a:alpha val="2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562975" y="63055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ADR-1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11820525" y="4953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3D0"/>
          </a:solidFill>
          <a:ln w="19050">
            <a:solidFill>
              <a:srgbClr val="E0A500"/>
            </a:solidFill>
            <a:prstDash val="solid"/>
          </a:ln>
          <a:effectLst>
            <a:outerShdw sx="100000" sy="100000" kx="0" ky="0" algn="bl" rotWithShape="0" blurRad="101600" dist="50800" dir="16200000">
              <a:srgbClr val="E0A500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1801475" y="4972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7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SPEC-1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11820525" y="76200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3D0"/>
          </a:solidFill>
          <a:ln w="19050">
            <a:solidFill>
              <a:srgbClr val="E0A500"/>
            </a:solidFill>
            <a:prstDash val="solid"/>
          </a:ln>
          <a:effectLst>
            <a:outerShdw sx="100000" sy="100000" kx="0" ky="0" algn="bl" rotWithShape="0" blurRad="101600" dist="50800" dir="16200000">
              <a:srgbClr val="E0A500">
                <a:alpha val="1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1801475" y="76390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7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SPEC-2</a:t>
            </a:r>
            <a:endParaRPr lang="en-US" sz="1650" dirty="0"/>
          </a:p>
        </p:txBody>
      </p:sp>
      <p:sp>
        <p:nvSpPr>
          <p:cNvPr id="25" name="Shape 22"/>
          <p:cNvSpPr/>
          <p:nvPr/>
        </p:nvSpPr>
        <p:spPr>
          <a:xfrm>
            <a:off x="15059025" y="447675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3D0"/>
          </a:solidFill>
          <a:ln w="19050">
            <a:solidFill>
              <a:srgbClr val="E0A500"/>
            </a:solidFill>
            <a:prstDash val="solid"/>
          </a:ln>
          <a:effectLst>
            <a:outerShdw sx="100000" sy="100000" kx="0" ky="0" algn="bl" rotWithShape="0" blurRad="101600" dist="50800" dir="16200000">
              <a:srgbClr val="E0A500">
                <a:alpha val="1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5039975" y="449580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7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TASK-1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15059025" y="628650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3D0"/>
          </a:solidFill>
          <a:ln w="19050">
            <a:solidFill>
              <a:srgbClr val="E0A500"/>
            </a:solidFill>
            <a:prstDash val="solid"/>
          </a:ln>
          <a:effectLst>
            <a:outerShdw sx="100000" sy="100000" kx="0" ky="0" algn="bl" rotWithShape="0" blurRad="101600" dist="50800" dir="16200000">
              <a:srgbClr val="E0A500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5039975" y="630555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7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TASK-2</a:t>
            </a:r>
            <a:endParaRPr lang="en-US" sz="1650" dirty="0"/>
          </a:p>
        </p:txBody>
      </p:sp>
      <p:sp>
        <p:nvSpPr>
          <p:cNvPr id="29" name="Shape 26"/>
          <p:cNvSpPr/>
          <p:nvPr/>
        </p:nvSpPr>
        <p:spPr>
          <a:xfrm>
            <a:off x="15059025" y="8096250"/>
            <a:ext cx="1314450" cy="533400"/>
          </a:xfrm>
          <a:prstGeom prst="roundRect">
            <a:avLst>
              <a:gd name="adj" fmla="val 17857"/>
            </a:avLst>
          </a:prstGeom>
          <a:solidFill>
            <a:srgbClr val="FFF3D0"/>
          </a:solidFill>
          <a:ln w="19050">
            <a:solidFill>
              <a:srgbClr val="E0A500"/>
            </a:solidFill>
            <a:prstDash val="solid"/>
          </a:ln>
          <a:effectLst>
            <a:outerShdw sx="100000" sy="100000" kx="0" ky="0" algn="bl" rotWithShape="0" blurRad="101600" dist="50800" dir="16200000">
              <a:srgbClr val="E0A500">
                <a:alpha val="16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15039975" y="8115300"/>
            <a:ext cx="13525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7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TASK-3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9239250" y="7315200"/>
            <a:ext cx="5448300" cy="393700"/>
          </a:xfrm>
          <a:prstGeom prst="roundRect">
            <a:avLst>
              <a:gd name="adj" fmla="val 19355"/>
            </a:avLst>
          </a:prstGeom>
          <a:solidFill>
            <a:srgbClr val="C4122E"/>
          </a:solidFill>
          <a:ln/>
        </p:spPr>
      </p:sp>
      <p:sp>
        <p:nvSpPr>
          <p:cNvPr id="32" name="Text 29"/>
          <p:cNvSpPr/>
          <p:nvPr/>
        </p:nvSpPr>
        <p:spPr>
          <a:xfrm>
            <a:off x="9391650" y="7400925"/>
            <a:ext cx="5306949" cy="260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 supersedes ADR-1: new settlement pattern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1143000" y="9626600"/>
            <a:ext cx="65682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10111680" y="9645650"/>
            <a:ext cx="773665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E0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l" indent="0" marL="0">
              <a:buNone/>
            </a:pPr>
            <a:r>
              <a:rPr lang="en-US" sz="1200" spc="72" kern="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flagged stale · fix suggested — THE IMPACT ANALYZER, MET IN THE WILD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AFTERMATH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2715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…and gets a worklist, not a silent drift.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524250"/>
            <a:ext cx="16002000" cy="1136650"/>
          </a:xfrm>
          <a:prstGeom prst="roundRect">
            <a:avLst>
              <a:gd name="adj" fmla="val 1173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4654550"/>
            <a:ext cx="16002000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3524250"/>
            <a:ext cx="16002000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524250"/>
            <a:ext cx="44450" cy="1136650"/>
          </a:xfrm>
          <a:prstGeom prst="rect">
            <a:avLst/>
          </a:prstGeom>
          <a:solidFill>
            <a:srgbClr val="E0A500"/>
          </a:solidFill>
          <a:ln/>
        </p:spPr>
      </p:sp>
      <p:sp>
        <p:nvSpPr>
          <p:cNvPr id="8" name="Shape 6"/>
          <p:cNvSpPr/>
          <p:nvPr/>
        </p:nvSpPr>
        <p:spPr>
          <a:xfrm>
            <a:off x="17138650" y="3524250"/>
            <a:ext cx="9525" cy="1136650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9" name="Text 7"/>
          <p:cNvSpPr/>
          <p:nvPr/>
        </p:nvSpPr>
        <p:spPr>
          <a:xfrm>
            <a:off x="1511300" y="3981450"/>
            <a:ext cx="121920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7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SPEC-1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2921000" y="3797300"/>
            <a:ext cx="1238713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 flow section is stale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921000" y="4133850"/>
            <a:ext cx="1238713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fix: rewrite escrow steps for the new settlement pattern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448731" y="3981450"/>
            <a:ext cx="2602676" cy="260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E8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 · edit · dismiss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43000" y="4870450"/>
            <a:ext cx="16002000" cy="1136650"/>
          </a:xfrm>
          <a:prstGeom prst="roundRect">
            <a:avLst>
              <a:gd name="adj" fmla="val 11732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6000750"/>
            <a:ext cx="16002000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4870450"/>
            <a:ext cx="16002000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3000" y="4870450"/>
            <a:ext cx="44450" cy="1136650"/>
          </a:xfrm>
          <a:prstGeom prst="rect">
            <a:avLst/>
          </a:prstGeom>
          <a:solidFill>
            <a:srgbClr val="E0A5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7138650" y="4870450"/>
            <a:ext cx="9525" cy="1136650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18" name="Text 16"/>
          <p:cNvSpPr/>
          <p:nvPr/>
        </p:nvSpPr>
        <p:spPr>
          <a:xfrm>
            <a:off x="1511300" y="5327650"/>
            <a:ext cx="121920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7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SPEC-2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2921000" y="5143500"/>
            <a:ext cx="1238713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contract references the old ledger API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921000" y="5480050"/>
            <a:ext cx="1238713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fix: repoint co-payer events to the new settlement events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4448731" y="5327650"/>
            <a:ext cx="2602676" cy="260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E8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 · edit · dismiss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143000" y="6216650"/>
            <a:ext cx="16002000" cy="1136650"/>
          </a:xfrm>
          <a:prstGeom prst="roundRect">
            <a:avLst>
              <a:gd name="adj" fmla="val 11732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000" y="7346950"/>
            <a:ext cx="16002000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6216650"/>
            <a:ext cx="16002000" cy="9525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6216650"/>
            <a:ext cx="44450" cy="1136650"/>
          </a:xfrm>
          <a:prstGeom prst="rect">
            <a:avLst/>
          </a:prstGeom>
          <a:solidFill>
            <a:srgbClr val="E0A5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7138650" y="6216650"/>
            <a:ext cx="9525" cy="1136650"/>
          </a:xfrm>
          <a:prstGeom prst="rect">
            <a:avLst/>
          </a:prstGeom>
          <a:solidFill>
            <a:srgbClr val="E5DED4"/>
          </a:solidFill>
          <a:ln/>
        </p:spPr>
      </p:sp>
      <p:sp>
        <p:nvSpPr>
          <p:cNvPr id="27" name="Text 25"/>
          <p:cNvSpPr/>
          <p:nvPr/>
        </p:nvSpPr>
        <p:spPr>
          <a:xfrm>
            <a:off x="1511300" y="6673850"/>
            <a:ext cx="121920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7A5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TASK-2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2921000" y="6489700"/>
            <a:ext cx="1238713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no longer valid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2921000" y="6826250"/>
            <a:ext cx="12387134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4A44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fix: re-plan the escrow integration task — new dependency from the superseded ADR-1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4448731" y="6673850"/>
            <a:ext cx="2602676" cy="260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E8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 · edit · dismiss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43000" y="8585200"/>
            <a:ext cx="17602200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i="1" dirty="0">
                <a:solidFill>
                  <a:srgbClr val="4A4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Ninety seconds of review — instead of a drift nobody notices until QA.</a:t>
            </a:r>
            <a:endParaRPr lang="en-US" sz="2550" dirty="0"/>
          </a:p>
        </p:txBody>
      </p:sp>
      <p:sp>
        <p:nvSpPr>
          <p:cNvPr id="32" name="Text 30"/>
          <p:cNvSpPr/>
          <p:nvPr/>
        </p:nvSpPr>
        <p:spPr>
          <a:xfrm>
            <a:off x="1143000" y="9626600"/>
            <a:ext cx="65682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4831517" y="9645650"/>
            <a:ext cx="254483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8382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5 · TASK PLAN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2715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sentence to a buildable plan.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1143000" y="3333750"/>
            <a:ext cx="87630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5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5100" y="3597275"/>
            <a:ext cx="76219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EPIC-1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349698" y="3568700"/>
            <a:ext cx="594751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request &amp; escrow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7985125" y="3587750"/>
            <a:ext cx="1791653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tasks · 6 wks</a:t>
            </a:r>
            <a:endParaRPr lang="en-US" sz="1425" dirty="0"/>
          </a:p>
        </p:txBody>
      </p:sp>
      <p:sp>
        <p:nvSpPr>
          <p:cNvPr id="9" name="Shape 7"/>
          <p:cNvSpPr/>
          <p:nvPr/>
        </p:nvSpPr>
        <p:spPr>
          <a:xfrm>
            <a:off x="1600200" y="4248150"/>
            <a:ext cx="8305800" cy="749300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6350">
            <a:solidFill>
              <a:srgbClr val="E5DE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92300" y="4514850"/>
            <a:ext cx="76219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TASK-1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06898" y="4483100"/>
            <a:ext cx="5563989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escrow integration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93671" y="4505325"/>
            <a:ext cx="1672253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wks · dep: —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1600200" y="5168900"/>
            <a:ext cx="8305800" cy="749300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6350">
            <a:solidFill>
              <a:srgbClr val="E5DE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92300" y="5435600"/>
            <a:ext cx="76219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TASK-2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06898" y="5403850"/>
            <a:ext cx="4966772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Split-ratio flow &amp; validation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50746" y="5426075"/>
            <a:ext cx="226947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wks · dep: TASK-1</a:t>
            </a:r>
            <a:endParaRPr lang="en-US" sz="1425" dirty="0"/>
          </a:p>
        </p:txBody>
      </p:sp>
      <p:sp>
        <p:nvSpPr>
          <p:cNvPr id="17" name="Shape 15"/>
          <p:cNvSpPr/>
          <p:nvPr/>
        </p:nvSpPr>
        <p:spPr>
          <a:xfrm>
            <a:off x="1143000" y="6089650"/>
            <a:ext cx="87630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6350">
            <a:solidFill>
              <a:srgbClr val="E5DE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5100" y="6353175"/>
            <a:ext cx="76219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EPIC-2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349698" y="6324600"/>
            <a:ext cx="5947510" cy="31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Co-payer experience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7985125" y="6343650"/>
            <a:ext cx="1791653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8A8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tasks · 4 wks</a:t>
            </a:r>
            <a:endParaRPr lang="en-US" sz="1425" dirty="0"/>
          </a:p>
        </p:txBody>
      </p:sp>
      <p:sp>
        <p:nvSpPr>
          <p:cNvPr id="21" name="Shape 19"/>
          <p:cNvSpPr/>
          <p:nvPr/>
        </p:nvSpPr>
        <p:spPr>
          <a:xfrm>
            <a:off x="11049000" y="3333750"/>
            <a:ext cx="6096000" cy="3692128"/>
          </a:xfrm>
          <a:prstGeom prst="roundRect">
            <a:avLst>
              <a:gd name="adj" fmla="val 4128"/>
            </a:avLst>
          </a:prstGeom>
          <a:solidFill>
            <a:srgbClr val="171717"/>
          </a:solidFill>
          <a:ln/>
        </p:spPr>
      </p:sp>
      <p:sp>
        <p:nvSpPr>
          <p:cNvPr id="22" name="Text 20"/>
          <p:cNvSpPr/>
          <p:nvPr/>
        </p:nvSpPr>
        <p:spPr>
          <a:xfrm>
            <a:off x="11468100" y="3714750"/>
            <a:ext cx="578358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35" kern="0" dirty="0">
                <a:solidFill>
                  <a:srgbClr val="FFC7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THREAD, READ BACKWARDS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468100" y="4203700"/>
            <a:ext cx="578358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F7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TASK-1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1677650" y="4559300"/>
            <a:ext cx="5205984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implements SPEC-1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1887200" y="4876800"/>
            <a:ext cx="4996434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satisfies PRD-1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2096750" y="5194300"/>
            <a:ext cx="4786884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↳ derives from REQ-1</a:t>
            </a:r>
            <a:endParaRPr lang="en-US" sz="1425" dirty="0"/>
          </a:p>
        </p:txBody>
      </p:sp>
      <p:sp>
        <p:nvSpPr>
          <p:cNvPr id="27" name="Shape 25"/>
          <p:cNvSpPr/>
          <p:nvPr/>
        </p:nvSpPr>
        <p:spPr>
          <a:xfrm>
            <a:off x="11468100" y="5664200"/>
            <a:ext cx="5257800" cy="9525"/>
          </a:xfrm>
          <a:prstGeom prst="rect">
            <a:avLst/>
          </a:prstGeom>
          <a:solidFill>
            <a:srgbClr val="2F2924"/>
          </a:solidFill>
          <a:ln/>
        </p:spPr>
      </p:sp>
      <p:sp>
        <p:nvSpPr>
          <p:cNvPr id="28" name="Text 26"/>
          <p:cNvSpPr/>
          <p:nvPr/>
        </p:nvSpPr>
        <p:spPr>
          <a:xfrm>
            <a:off x="11468100" y="5899150"/>
            <a:ext cx="5415534" cy="783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25" i="1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"…split a bill payment with another person." </a:t>
            </a:r>
            <a:pPr algn="l" indent="0" marL="0">
              <a:lnSpc>
                <a:spcPct val="145000"/>
              </a:lnSpc>
              <a:buNone/>
            </a:pPr>
            <a:r>
              <a:rPr lang="en-US" sz="1650" i="1" dirty="0">
                <a:solidFill>
                  <a:srgbClr val="BCB3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Tuesday sentence — intact at every level.</a:t>
            </a:r>
            <a:endParaRPr lang="en-US" sz="2025" dirty="0"/>
          </a:p>
        </p:txBody>
      </p:sp>
      <p:sp>
        <p:nvSpPr>
          <p:cNvPr id="29" name="Text 27"/>
          <p:cNvSpPr/>
          <p:nvPr/>
        </p:nvSpPr>
        <p:spPr>
          <a:xfrm>
            <a:off x="1143000" y="9626600"/>
            <a:ext cx="65682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4831517" y="9645650"/>
            <a:ext cx="254483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382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FFC7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MULTIPLY BY EVERY IDEA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27150"/>
            <a:ext cx="17602200" cy="74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Reclaimed capacity worth </a:t>
            </a:r>
            <a:pPr algn="l" indent="0" marL="0">
              <a:lnSpc>
                <a:spcPct val="103000"/>
              </a:lnSpc>
              <a:buNone/>
            </a:pPr>
            <a:r>
              <a:rPr lang="en-US" sz="5400" dirty="0">
                <a:solidFill>
                  <a:srgbClr val="FFC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~$110M a year.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143000" y="3543300"/>
            <a:ext cx="3574752" cy="2161381"/>
          </a:xfrm>
          <a:prstGeom prst="roundRect">
            <a:avLst>
              <a:gd name="adj" fmla="val 6170"/>
            </a:avLst>
          </a:prstGeom>
          <a:solidFill>
            <a:srgbClr val="1E1A16"/>
          </a:solidFill>
          <a:ln w="6350">
            <a:solidFill>
              <a:srgbClr val="2F29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35100" y="3873500"/>
            <a:ext cx="328960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5,500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435100" y="4787900"/>
            <a:ext cx="3080269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C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architects + PMs in scope, junior through Principal / Lead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889203" y="3543300"/>
            <a:ext cx="300930" cy="2199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6F6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5285383" y="3543300"/>
            <a:ext cx="3574852" cy="2161381"/>
          </a:xfrm>
          <a:prstGeom prst="roundRect">
            <a:avLst>
              <a:gd name="adj" fmla="val 6170"/>
            </a:avLst>
          </a:prstGeom>
          <a:solidFill>
            <a:srgbClr val="1E1A16"/>
          </a:solidFill>
          <a:ln w="6350">
            <a:solidFill>
              <a:srgbClr val="2F29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483" y="3873500"/>
            <a:ext cx="3289717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$225K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577483" y="4787900"/>
            <a:ext cx="3080371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C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total comp, US-anchored estimate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031685" y="3543300"/>
            <a:ext cx="300930" cy="2199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6F6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9427865" y="3543300"/>
            <a:ext cx="3574752" cy="2161381"/>
          </a:xfrm>
          <a:prstGeom prst="roundRect">
            <a:avLst>
              <a:gd name="adj" fmla="val 6170"/>
            </a:avLst>
          </a:prstGeom>
          <a:solidFill>
            <a:srgbClr val="1E1A16"/>
          </a:solidFill>
          <a:ln w="6350">
            <a:solidFill>
              <a:srgbClr val="2F29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9965" y="3873500"/>
            <a:ext cx="328960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9719965" y="4787900"/>
            <a:ext cx="3080269" cy="6246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C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their time in the idea → plan → spec cycle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174068" y="3543300"/>
            <a:ext cx="300930" cy="21994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6F6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13570248" y="3543300"/>
            <a:ext cx="3574752" cy="2161381"/>
          </a:xfrm>
          <a:prstGeom prst="roundRect">
            <a:avLst>
              <a:gd name="adj" fmla="val 6170"/>
            </a:avLst>
          </a:prstGeom>
          <a:solidFill>
            <a:srgbClr val="1E1A16"/>
          </a:solidFill>
          <a:ln w="6350">
            <a:solidFill>
              <a:srgbClr val="2F29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62348" y="3873500"/>
            <a:ext cx="328960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dirty="0">
                <a:solidFill>
                  <a:srgbClr val="FFC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13862348" y="4787900"/>
            <a:ext cx="3289608" cy="331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BC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that time Buzzin gives back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143000" y="6953250"/>
            <a:ext cx="16002000" cy="1850331"/>
          </a:xfrm>
          <a:prstGeom prst="roundRect">
            <a:avLst>
              <a:gd name="adj" fmla="val 9266"/>
            </a:avLst>
          </a:prstGeom>
          <a:solidFill>
            <a:srgbClr val="C4122E"/>
          </a:solidFill>
          <a:ln/>
        </p:spPr>
      </p:sp>
      <p:sp>
        <p:nvSpPr>
          <p:cNvPr id="20" name="Text 18"/>
          <p:cNvSpPr/>
          <p:nvPr/>
        </p:nvSpPr>
        <p:spPr>
          <a:xfrm>
            <a:off x="1638300" y="7315200"/>
            <a:ext cx="6515805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FFD9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RECLAIMED PLANNING CAPACITY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638300" y="7645400"/>
            <a:ext cx="6515805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$111M / year</a:t>
            </a:r>
            <a:endParaRPr lang="en-US" sz="6600" dirty="0"/>
          </a:p>
        </p:txBody>
      </p:sp>
      <p:sp>
        <p:nvSpPr>
          <p:cNvPr id="22" name="Text 20"/>
          <p:cNvSpPr/>
          <p:nvPr/>
        </p:nvSpPr>
        <p:spPr>
          <a:xfrm>
            <a:off x="10370820" y="7342584"/>
            <a:ext cx="6278880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FFE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point estimate. Range ≈ </a:t>
            </a:r>
            <a:pPr algn="r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$74M </a:t>
            </a:r>
            <a:pPr algn="r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FFE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global-blended comp to </a:t>
            </a:r>
            <a:pPr algn="r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$130M </a:t>
            </a:r>
            <a:pPr algn="r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FFE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35% efficiency — and this is planning only, before faster delivery downstream.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143000" y="9626600"/>
            <a:ext cx="65682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606980" y="9645650"/>
            <a:ext cx="719182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· HEADCOUNT &amp; COMP ESTIMATED · VALIDATE WITH FINANCE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914400"/>
            <a:ext cx="176022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1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WE ARE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403350"/>
            <a:ext cx="17602200" cy="783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700" dirty="0">
                <a:solidFill>
                  <a:srgbClr val="1717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 just watched runs today.</a:t>
            </a:r>
            <a:endParaRPr lang="en-US" sz="5700" dirty="0"/>
          </a:p>
        </p:txBody>
      </p:sp>
      <p:sp>
        <p:nvSpPr>
          <p:cNvPr id="5" name="Text 3"/>
          <p:cNvSpPr/>
          <p:nvPr/>
        </p:nvSpPr>
        <p:spPr>
          <a:xfrm>
            <a:off x="1143000" y="3600450"/>
            <a:ext cx="3045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80852" y="3600450"/>
            <a:ext cx="7496979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Claude-backed specialist agents, live end-to-end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572625" y="3600450"/>
            <a:ext cx="3045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10477" y="3600450"/>
            <a:ext cx="6909038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graph with typed edges &amp; version history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1143000" y="4253805"/>
            <a:ext cx="3045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80852" y="4253805"/>
            <a:ext cx="734855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&amp; Impact engines on one consistency checker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572625" y="4253805"/>
            <a:ext cx="3045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010477" y="4253805"/>
            <a:ext cx="7021562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ADRs — radar + compliance enforced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143000" y="5293816"/>
            <a:ext cx="3045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80852" y="5293816"/>
            <a:ext cx="5973049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SQLite backend, React front end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9572625" y="5293816"/>
            <a:ext cx="30450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8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010477" y="5293816"/>
            <a:ext cx="7348558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75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test suite green: gate · impact · constraint · traceability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1143000" y="8121650"/>
            <a:ext cx="16482060" cy="774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i="1" dirty="0">
                <a:solidFill>
                  <a:srgbClr val="4A44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on the path: detect the operator's role from Workday, then multi-user and live Jira / Confluence / ServiceNow integration.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43000" y="9626600"/>
            <a:ext cx="65682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33" kern="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4831517" y="9645650"/>
            <a:ext cx="2544832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A89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3350" cy="10287000"/>
          </a:xfrm>
          <a:prstGeom prst="rect">
            <a:avLst/>
          </a:prstGeom>
          <a:solidFill>
            <a:srgbClr val="C412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3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143000" y="2190750"/>
            <a:ext cx="2044859" cy="831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400" b="1" spc="-162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097213" y="2273300"/>
            <a:ext cx="171450" cy="55245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27400"/>
            <a:ext cx="16187738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F7F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sentence could be </a:t>
            </a:r>
            <a:pPr algn="l" indent="0" marL="0">
              <a:lnSpc>
                <a:spcPct val="100000"/>
              </a:lnSpc>
              <a:buNone/>
            </a:pPr>
            <a:r>
              <a:rPr lang="en-US" sz="7200" dirty="0">
                <a:solidFill>
                  <a:srgbClr val="FFC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yours. Let's build it.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143000" y="5537200"/>
            <a:ext cx="12263438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BC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us a focused pilot on one real initiative — a small team and access to our radar + compliance data — and we'll show Buzzin carry it from a sentence to a shippable plan.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143000" y="8293100"/>
            <a:ext cx="1594048" cy="755650"/>
          </a:xfrm>
          <a:prstGeom prst="roundRect">
            <a:avLst>
              <a:gd name="adj" fmla="val 15126"/>
            </a:avLst>
          </a:prstGeom>
          <a:solidFill>
            <a:srgbClr val="1E1A16"/>
          </a:solidFill>
          <a:ln w="6350">
            <a:solidFill>
              <a:srgbClr val="2F29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35100" y="8528050"/>
            <a:ext cx="108604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FFC7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 →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927549" y="8293100"/>
            <a:ext cx="4612084" cy="755650"/>
          </a:xfrm>
          <a:prstGeom prst="roundRect">
            <a:avLst>
              <a:gd name="adj" fmla="val 15126"/>
            </a:avLst>
          </a:prstGeom>
          <a:solidFill>
            <a:srgbClr val="1E1A16"/>
          </a:solidFill>
          <a:ln w="6350">
            <a:solidFill>
              <a:srgbClr val="2F29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9649" y="8528050"/>
            <a:ext cx="41662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7D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real initiative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7730133" y="8293100"/>
            <a:ext cx="4612184" cy="755650"/>
          </a:xfrm>
          <a:prstGeom prst="roundRect">
            <a:avLst>
              <a:gd name="adj" fmla="val 15126"/>
            </a:avLst>
          </a:prstGeom>
          <a:solidFill>
            <a:srgbClr val="1E1A16"/>
          </a:solidFill>
          <a:ln w="6350">
            <a:solidFill>
              <a:srgbClr val="2F29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22233" y="8528050"/>
            <a:ext cx="41663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7D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build team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2532816" y="8293100"/>
            <a:ext cx="4612184" cy="755650"/>
          </a:xfrm>
          <a:prstGeom prst="roundRect">
            <a:avLst>
              <a:gd name="adj" fmla="val 15126"/>
            </a:avLst>
          </a:prstGeom>
          <a:solidFill>
            <a:srgbClr val="1E1A16"/>
          </a:solidFill>
          <a:ln w="6350">
            <a:solidFill>
              <a:srgbClr val="2F29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24916" y="8528050"/>
            <a:ext cx="41663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7DE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+ compliance access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143000" y="9359900"/>
            <a:ext cx="16002000" cy="9525"/>
          </a:xfrm>
          <a:prstGeom prst="rect">
            <a:avLst/>
          </a:prstGeom>
          <a:solidFill>
            <a:srgbClr val="2F2924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9613900"/>
            <a:ext cx="527280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CB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Devin is for developers. </a:t>
            </a:r>
            <a:pPr algn="l" indent="0" marL="0">
              <a:buNone/>
            </a:pPr>
            <a:r>
              <a:rPr lang="en-US" sz="1650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Buzzin is for the business.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761369" y="9639300"/>
            <a:ext cx="2621994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6F6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· INTERNAL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2026-07-02T04:57:54Z</dcterms:created>
  <dcterms:modified xsi:type="dcterms:W3CDTF">2026-07-02T04:57:54Z</dcterms:modified>
</cp:coreProperties>
</file>