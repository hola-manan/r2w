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confidently. This is a proposal to build Buzzin for real. One line: Devin gave engineers an AI teammate; Buzzin gives the business one — it carries an idea from a sentence to a shippable plan.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product starts as a sentence from a business stakeholder. Then it gets handed off — BA to PM to architect to engineering — and at every handoff, context leaks. What ships is rarely what was meant.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lost context is expensive. Industry ranges: rework eats a big share of build effort, and most failed projects trace back to requirements problems. Frame these as directional, not precise — the mechanism is the point.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turn. Devin gave every engineer an AI teammate. Buzzin gives the business one. One operator chats their idea in; a team of AI specialists turns it into a plan the way a great cross-functional team would — but nothing gets lost between them.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workflow. One idea moves through five stages — Requirements, PRD, Stack, Spec, Tasks. The operator switches persona from Business User to Tech Architect as it deepens. Each stage has a gate; you can't advance until the work is actually ready.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Under the hood, Buzzin is a team of five AI specialists, each expert at one stage. The key discipline: single-writer. Each specialist can only write its own artifact type, so they collaborate without trampling each other's work — like a well-run team with clear ownership.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Here's the spine that makes it all hold together: the artifact graph. Every node — a requirement, a PRD item, an ADR, a spec component, a task — is linked to the upstream node it came from. Nothing floats free. If a node can't cite where it came from, Buzzin flags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first of two signature engines. The Readiness Engine scores the work against an anchored rubric and gates progression — you literally cannot advance until the hard dimensions go green. Instead of a blank 'is this good enough?', Buzzin asks the one question that closes the gap.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second engine, and the one that earns its keep over time. When the architect changes one node — say, supersedes an ADR — Buzzin walks the graph and flags everything downstream that just went stale, with a suggested fix for each. Watch it propagate: the change ripples from the ADR to the specs to the tasks.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Why this is safe for us specifically. Every stack decision is an ADR, constrained to our tech radar and blocked outright if it violates a hard compliance rule. The advisor escalates a conflict instead of silently breaking a rule. It reasons inside our guardrails, not a generic internet's.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 it's worth at Wells Fargo scale. Around 5,500 people sit in the architect and product-management ladders, junior through Principal, at roughly 225K average total comp. These roles spend a large share of their week on the idea-to-plan-to-spec cycle — 30% is conservative — and Buzzin gives back about a third of it. Multiply it out: roughly 110 million dollars a year in reclaimed capacity, before any downstream delivery speedup. Illustrative; validate the headcount and comp with Finance.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Crucially, this is not a mockup. The full pipeline runs today — five agents, the graph, both engines, constrained ADRs, on a real backend and frontend. The offline test suite is green on the hard acceptance checks: gating, impact, constraint enforcement, and traceability.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Where it goes from here. Today it's a single operator on a seeded profile. Next, we detect the operator's role from Workday and auto-apply the right persona and entitlements. Then multi-user and live integrations — Jira, Confluence, ServiceNow. Then portfolio-level impact across many projects.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ask. The risky part is proven. Give us a focused pilot — one real initiative, a small team, and access to our radar and compliance data — and we'll show Buzzin carrying it from a sentence to a task plan. Let's build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3350" cy="10287000"/>
          </a:xfrm>
          <a:prstGeom prst="rect">
            <a:avLst/>
          </a:prstGeom>
          <a:solidFill>
            <a:srgbClr val="C4122E"/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762000"/>
            <a:ext cx="1407041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b="1" spc="-66" kern="0" dirty="0">
                <a:solidFill>
                  <a:srgbClr val="17171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buzzin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2479278" y="812800"/>
            <a:ext cx="152400" cy="361950"/>
          </a:xfrm>
          <a:prstGeom prst="rect">
            <a:avLst/>
          </a:prstGeom>
          <a:solidFill>
            <a:srgbClr val="FFC72C"/>
          </a:solidFill>
          <a:ln/>
        </p:spPr>
      </p:sp>
      <p:sp>
        <p:nvSpPr>
          <p:cNvPr id="5" name="Shape 3"/>
          <p:cNvSpPr/>
          <p:nvPr/>
        </p:nvSpPr>
        <p:spPr>
          <a:xfrm>
            <a:off x="14792920" y="771525"/>
            <a:ext cx="2447330" cy="514350"/>
          </a:xfrm>
          <a:prstGeom prst="roundRect">
            <a:avLst>
              <a:gd name="adj" fmla="val 14815"/>
            </a:avLst>
          </a:prstGeom>
          <a:ln w="6350">
            <a:solidFill>
              <a:srgbClr val="C9BFB2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15008820" y="911225"/>
            <a:ext cx="2091730" cy="273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54" kern="0" dirty="0">
                <a:solidFill>
                  <a:srgbClr val="A89E9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▢ Wells Fargo logo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1143000" y="3067050"/>
            <a:ext cx="17287875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432" kern="0" dirty="0">
                <a:solidFill>
                  <a:srgbClr val="C4122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INTERNAL PROPOSAL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143000" y="3727450"/>
            <a:ext cx="16187738" cy="19423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7350" spc="-73" kern="0" dirty="0">
                <a:solidFill>
                  <a:srgbClr val="171717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The AI teammate for the people who </a:t>
            </a:r>
            <a:pPr algn="l" indent="0" marL="0">
              <a:lnSpc>
                <a:spcPct val="102000"/>
              </a:lnSpc>
              <a:buNone/>
            </a:pPr>
            <a:r>
              <a:rPr lang="en-US" sz="7350" i="1" spc="-73" kern="0" dirty="0">
                <a:solidFill>
                  <a:srgbClr val="C4122E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start </a:t>
            </a:r>
            <a:pPr algn="l" indent="0" marL="0">
              <a:lnSpc>
                <a:spcPct val="102000"/>
              </a:lnSpc>
              <a:buNone/>
            </a:pPr>
            <a:r>
              <a:rPr lang="en-US" sz="7350" spc="-73" kern="0" dirty="0">
                <a:solidFill>
                  <a:srgbClr val="171717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the work.</a:t>
            </a:r>
            <a:endParaRPr lang="en-US" sz="7350" dirty="0"/>
          </a:p>
        </p:txBody>
      </p:sp>
      <p:sp>
        <p:nvSpPr>
          <p:cNvPr id="9" name="Text 7"/>
          <p:cNvSpPr/>
          <p:nvPr/>
        </p:nvSpPr>
        <p:spPr>
          <a:xfrm>
            <a:off x="1143000" y="6050756"/>
            <a:ext cx="11772900" cy="1495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550" dirty="0">
                <a:solidFill>
                  <a:srgbClr val="4A443C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An AI-mediated SDLC companion that takes a stakeholder's idea from a single sentence to a shippable, traceable plan — without losing a thing in translation.</a:t>
            </a:r>
            <a:endParaRPr lang="en-US" sz="2550" dirty="0"/>
          </a:p>
        </p:txBody>
      </p:sp>
      <p:sp>
        <p:nvSpPr>
          <p:cNvPr id="10" name="Shape 8"/>
          <p:cNvSpPr/>
          <p:nvPr/>
        </p:nvSpPr>
        <p:spPr>
          <a:xfrm>
            <a:off x="1143000" y="8978900"/>
            <a:ext cx="16097250" cy="9525"/>
          </a:xfrm>
          <a:prstGeom prst="rect">
            <a:avLst/>
          </a:prstGeom>
          <a:solidFill>
            <a:srgbClr val="E5DED4"/>
          </a:solidFill>
          <a:ln/>
        </p:spPr>
      </p:sp>
      <p:sp>
        <p:nvSpPr>
          <p:cNvPr id="11" name="Text 9"/>
          <p:cNvSpPr/>
          <p:nvPr/>
        </p:nvSpPr>
        <p:spPr>
          <a:xfrm>
            <a:off x="1143000" y="9271000"/>
            <a:ext cx="6619597" cy="349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171717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Devin is for developers. </a:t>
            </a:r>
            <a:pPr algn="l" indent="0" marL="0">
              <a:buNone/>
            </a:pPr>
            <a:r>
              <a:rPr lang="en-US" sz="2025" b="1" dirty="0">
                <a:solidFill>
                  <a:srgbClr val="C4122E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Buzzin is for the business.</a:t>
            </a:r>
            <a:endParaRPr lang="en-US" sz="2025" dirty="0"/>
          </a:p>
        </p:txBody>
      </p:sp>
      <p:sp>
        <p:nvSpPr>
          <p:cNvPr id="12" name="Text 10"/>
          <p:cNvSpPr/>
          <p:nvPr/>
        </p:nvSpPr>
        <p:spPr>
          <a:xfrm>
            <a:off x="15841167" y="9315450"/>
            <a:ext cx="1538992" cy="260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108" kern="0" dirty="0">
                <a:solidFill>
                  <a:srgbClr val="A89E9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CONFIDENTIAL</a:t>
            </a:r>
            <a:endParaRPr lang="en-US" sz="13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14400"/>
            <a:ext cx="17602200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96" kern="0" dirty="0">
                <a:solidFill>
                  <a:srgbClr val="C4122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THE PROBLEM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43000" y="1422400"/>
            <a:ext cx="14716125" cy="15436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5700" dirty="0">
                <a:solidFill>
                  <a:srgbClr val="171717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Every product starts as a sentence. Then the handoffs begin.</a:t>
            </a:r>
            <a:endParaRPr lang="en-US" sz="5700" dirty="0"/>
          </a:p>
        </p:txBody>
      </p:sp>
      <p:sp>
        <p:nvSpPr>
          <p:cNvPr id="4" name="Text 2"/>
          <p:cNvSpPr/>
          <p:nvPr/>
        </p:nvSpPr>
        <p:spPr>
          <a:xfrm>
            <a:off x="1009650" y="4095750"/>
            <a:ext cx="293370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71717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Idea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1143000" y="4667250"/>
            <a:ext cx="2667000" cy="95250"/>
          </a:xfrm>
          <a:prstGeom prst="roundRect">
            <a:avLst>
              <a:gd name="adj" fmla="val 50000"/>
            </a:avLst>
          </a:prstGeom>
          <a:solidFill>
            <a:srgbClr val="171717"/>
          </a:solidFill>
          <a:ln/>
        </p:spPr>
      </p:sp>
      <p:sp>
        <p:nvSpPr>
          <p:cNvPr id="6" name="Text 4"/>
          <p:cNvSpPr/>
          <p:nvPr/>
        </p:nvSpPr>
        <p:spPr>
          <a:xfrm>
            <a:off x="1009650" y="4953000"/>
            <a:ext cx="293370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8A827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100% intent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3771900" y="4425950"/>
            <a:ext cx="742950" cy="482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3000" dirty="0">
                <a:solidFill>
                  <a:srgbClr val="C9BFB2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→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4343400" y="4095750"/>
            <a:ext cx="293370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71717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BA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4476750" y="4667250"/>
            <a:ext cx="2667000" cy="95250"/>
          </a:xfrm>
          <a:prstGeom prst="roundRect">
            <a:avLst>
              <a:gd name="adj" fmla="val 50000"/>
            </a:avLst>
          </a:prstGeom>
          <a:solidFill>
            <a:srgbClr val="171717">
              <a:alpha val="78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4343400" y="4953000"/>
            <a:ext cx="293370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8A827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reworded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105650" y="4425950"/>
            <a:ext cx="742950" cy="482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3000" dirty="0">
                <a:solidFill>
                  <a:srgbClr val="C9BFB2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→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7677150" y="4095750"/>
            <a:ext cx="293370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71717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PM</a:t>
            </a:r>
            <a:endParaRPr lang="en-US" sz="3000" dirty="0"/>
          </a:p>
        </p:txBody>
      </p:sp>
      <p:sp>
        <p:nvSpPr>
          <p:cNvPr id="13" name="Shape 11"/>
          <p:cNvSpPr/>
          <p:nvPr/>
        </p:nvSpPr>
        <p:spPr>
          <a:xfrm>
            <a:off x="7810500" y="4667250"/>
            <a:ext cx="2667000" cy="95250"/>
          </a:xfrm>
          <a:prstGeom prst="roundRect">
            <a:avLst>
              <a:gd name="adj" fmla="val 50000"/>
            </a:avLst>
          </a:prstGeom>
          <a:solidFill>
            <a:srgbClr val="C4122E">
              <a:alpha val="58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7677150" y="4953000"/>
            <a:ext cx="293370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8A827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re-scoped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0439400" y="4425950"/>
            <a:ext cx="742950" cy="482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3000" dirty="0">
                <a:solidFill>
                  <a:srgbClr val="C9BFB2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→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11010900" y="4095750"/>
            <a:ext cx="293370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71717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Architect</a:t>
            </a:r>
            <a:endParaRPr lang="en-US" sz="3000" dirty="0"/>
          </a:p>
        </p:txBody>
      </p:sp>
      <p:sp>
        <p:nvSpPr>
          <p:cNvPr id="17" name="Shape 15"/>
          <p:cNvSpPr/>
          <p:nvPr/>
        </p:nvSpPr>
        <p:spPr>
          <a:xfrm>
            <a:off x="11144250" y="4667250"/>
            <a:ext cx="2667000" cy="95250"/>
          </a:xfrm>
          <a:prstGeom prst="roundRect">
            <a:avLst>
              <a:gd name="adj" fmla="val 50000"/>
            </a:avLst>
          </a:prstGeom>
          <a:solidFill>
            <a:srgbClr val="C4122E">
              <a:alpha val="40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11010900" y="4953000"/>
            <a:ext cx="293370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8A827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reinterpreted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3773150" y="4425950"/>
            <a:ext cx="742950" cy="482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3000" dirty="0">
                <a:solidFill>
                  <a:srgbClr val="C9BFB2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→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14344650" y="4095750"/>
            <a:ext cx="293370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71717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Build</a:t>
            </a:r>
            <a:endParaRPr lang="en-US" sz="3000" dirty="0"/>
          </a:p>
        </p:txBody>
      </p:sp>
      <p:sp>
        <p:nvSpPr>
          <p:cNvPr id="21" name="Shape 19"/>
          <p:cNvSpPr/>
          <p:nvPr/>
        </p:nvSpPr>
        <p:spPr>
          <a:xfrm>
            <a:off x="14478000" y="4667250"/>
            <a:ext cx="2667000" cy="95250"/>
          </a:xfrm>
          <a:prstGeom prst="roundRect">
            <a:avLst>
              <a:gd name="adj" fmla="val 50000"/>
            </a:avLst>
          </a:prstGeom>
          <a:solidFill>
            <a:srgbClr val="C4122E">
              <a:alpha val="24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14344650" y="4953000"/>
            <a:ext cx="293370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C4122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≈ what was meant?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143000" y="8134350"/>
            <a:ext cx="13735050" cy="762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i="1" dirty="0">
                <a:solidFill>
                  <a:srgbClr val="4A443C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Each handoff is a re-typing of intent into a new document — with no thread back to what was actually meant.</a:t>
            </a:r>
            <a:endParaRPr lang="en-US" sz="2850" dirty="0"/>
          </a:p>
        </p:txBody>
      </p:sp>
      <p:sp>
        <p:nvSpPr>
          <p:cNvPr id="24" name="Text 22"/>
          <p:cNvSpPr/>
          <p:nvPr/>
        </p:nvSpPr>
        <p:spPr>
          <a:xfrm>
            <a:off x="1143000" y="9601200"/>
            <a:ext cx="715764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-33" kern="0" dirty="0">
                <a:solidFill>
                  <a:srgbClr val="17171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buzzin</a:t>
            </a:r>
            <a:endParaRPr lang="en-US" sz="1650" dirty="0"/>
          </a:p>
        </p:txBody>
      </p:sp>
      <p:sp>
        <p:nvSpPr>
          <p:cNvPr id="25" name="Text 23"/>
          <p:cNvSpPr/>
          <p:nvPr/>
        </p:nvSpPr>
        <p:spPr>
          <a:xfrm>
            <a:off x="14831517" y="9632950"/>
            <a:ext cx="2544832" cy="241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72" kern="0" dirty="0">
                <a:solidFill>
                  <a:srgbClr val="A89E9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CONFIDENTIAL · INTERNAL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717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14400"/>
            <a:ext cx="17602200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96" kern="0" dirty="0">
                <a:solidFill>
                  <a:srgbClr val="FFC72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THE COST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43000" y="1422400"/>
            <a:ext cx="14668500" cy="7908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5700" dirty="0">
                <a:solidFill>
                  <a:srgbClr val="F7F3EE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Lost context isn't free. It's most of the bill.</a:t>
            </a:r>
            <a:endParaRPr lang="en-US" sz="5700" dirty="0"/>
          </a:p>
        </p:txBody>
      </p:sp>
      <p:sp>
        <p:nvSpPr>
          <p:cNvPr id="4" name="Shape 2"/>
          <p:cNvSpPr/>
          <p:nvPr/>
        </p:nvSpPr>
        <p:spPr>
          <a:xfrm>
            <a:off x="1143000" y="3924300"/>
            <a:ext cx="4978400" cy="25400"/>
          </a:xfrm>
          <a:prstGeom prst="rect">
            <a:avLst/>
          </a:prstGeom>
          <a:solidFill>
            <a:srgbClr val="C4122E"/>
          </a:solidFill>
          <a:ln/>
        </p:spPr>
      </p:sp>
      <p:sp>
        <p:nvSpPr>
          <p:cNvPr id="5" name="Text 3"/>
          <p:cNvSpPr/>
          <p:nvPr/>
        </p:nvSpPr>
        <p:spPr>
          <a:xfrm>
            <a:off x="1143000" y="4254500"/>
            <a:ext cx="5476240" cy="1181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0" dirty="0">
                <a:solidFill>
                  <a:srgbClr val="F7F3EE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~40%</a:t>
            </a:r>
            <a:endParaRPr lang="en-US" sz="9000" dirty="0"/>
          </a:p>
        </p:txBody>
      </p:sp>
      <p:sp>
        <p:nvSpPr>
          <p:cNvPr id="6" name="Text 4"/>
          <p:cNvSpPr/>
          <p:nvPr/>
        </p:nvSpPr>
        <p:spPr>
          <a:xfrm>
            <a:off x="1143000" y="5607050"/>
            <a:ext cx="5127752" cy="12811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250" dirty="0">
                <a:solidFill>
                  <a:srgbClr val="BCB3A7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of engineering effort is spent on </a:t>
            </a:r>
            <a:pPr algn="l" indent="0" marL="0">
              <a:lnSpc>
                <a:spcPct val="145000"/>
              </a:lnSpc>
              <a:buNone/>
            </a:pPr>
            <a:r>
              <a:rPr lang="en-US" sz="2250" b="1" dirty="0">
                <a:solidFill>
                  <a:srgbClr val="F7F3EE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rework </a:t>
            </a:r>
            <a:pPr algn="l" indent="0" marL="0">
              <a:lnSpc>
                <a:spcPct val="145000"/>
              </a:lnSpc>
              <a:buNone/>
            </a:pPr>
            <a:r>
              <a:rPr lang="en-US" sz="2250" dirty="0">
                <a:solidFill>
                  <a:srgbClr val="BCB3A7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— building the wrong thing, then fixing it.</a:t>
            </a:r>
            <a:endParaRPr lang="en-US" sz="2250" dirty="0"/>
          </a:p>
        </p:txBody>
      </p:sp>
      <p:sp>
        <p:nvSpPr>
          <p:cNvPr id="7" name="Shape 5"/>
          <p:cNvSpPr/>
          <p:nvPr/>
        </p:nvSpPr>
        <p:spPr>
          <a:xfrm>
            <a:off x="6654800" y="3924300"/>
            <a:ext cx="4978400" cy="25400"/>
          </a:xfrm>
          <a:prstGeom prst="rect">
            <a:avLst/>
          </a:prstGeom>
          <a:solidFill>
            <a:srgbClr val="FFC72C"/>
          </a:solidFill>
          <a:ln/>
        </p:spPr>
      </p:sp>
      <p:sp>
        <p:nvSpPr>
          <p:cNvPr id="8" name="Text 6"/>
          <p:cNvSpPr/>
          <p:nvPr/>
        </p:nvSpPr>
        <p:spPr>
          <a:xfrm>
            <a:off x="6654800" y="4254500"/>
            <a:ext cx="5476240" cy="1181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0" dirty="0">
                <a:solidFill>
                  <a:srgbClr val="F7F3EE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~70%</a:t>
            </a:r>
            <a:endParaRPr lang="en-US" sz="9000" dirty="0"/>
          </a:p>
        </p:txBody>
      </p:sp>
      <p:sp>
        <p:nvSpPr>
          <p:cNvPr id="9" name="Text 7"/>
          <p:cNvSpPr/>
          <p:nvPr/>
        </p:nvSpPr>
        <p:spPr>
          <a:xfrm>
            <a:off x="6654800" y="5607050"/>
            <a:ext cx="5127752" cy="12811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250" dirty="0">
                <a:solidFill>
                  <a:srgbClr val="BCB3A7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of troubled projects trace back to </a:t>
            </a:r>
            <a:pPr algn="l" indent="0" marL="0">
              <a:lnSpc>
                <a:spcPct val="145000"/>
              </a:lnSpc>
              <a:buNone/>
            </a:pPr>
            <a:r>
              <a:rPr lang="en-US" sz="2250" b="1" dirty="0">
                <a:solidFill>
                  <a:srgbClr val="F7F3EE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requirements </a:t>
            </a:r>
            <a:pPr algn="l" indent="0" marL="0">
              <a:lnSpc>
                <a:spcPct val="145000"/>
              </a:lnSpc>
              <a:buNone/>
            </a:pPr>
            <a:r>
              <a:rPr lang="en-US" sz="2250" dirty="0">
                <a:solidFill>
                  <a:srgbClr val="BCB3A7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— vague, missing, or misread.</a:t>
            </a:r>
            <a:endParaRPr lang="en-US" sz="2250" dirty="0"/>
          </a:p>
        </p:txBody>
      </p:sp>
      <p:sp>
        <p:nvSpPr>
          <p:cNvPr id="10" name="Shape 8"/>
          <p:cNvSpPr/>
          <p:nvPr/>
        </p:nvSpPr>
        <p:spPr>
          <a:xfrm>
            <a:off x="12166600" y="3924300"/>
            <a:ext cx="4978400" cy="25400"/>
          </a:xfrm>
          <a:prstGeom prst="rect">
            <a:avLst/>
          </a:prstGeom>
          <a:solidFill>
            <a:srgbClr val="C4122E"/>
          </a:solidFill>
          <a:ln/>
        </p:spPr>
      </p:sp>
      <p:sp>
        <p:nvSpPr>
          <p:cNvPr id="11" name="Text 9"/>
          <p:cNvSpPr/>
          <p:nvPr/>
        </p:nvSpPr>
        <p:spPr>
          <a:xfrm>
            <a:off x="12166600" y="4254500"/>
            <a:ext cx="5476240" cy="1181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0" dirty="0">
                <a:solidFill>
                  <a:srgbClr val="F7F3EE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6+ wks</a:t>
            </a:r>
            <a:endParaRPr lang="en-US" sz="9000" dirty="0"/>
          </a:p>
        </p:txBody>
      </p:sp>
      <p:sp>
        <p:nvSpPr>
          <p:cNvPr id="12" name="Text 10"/>
          <p:cNvSpPr/>
          <p:nvPr/>
        </p:nvSpPr>
        <p:spPr>
          <a:xfrm>
            <a:off x="12166600" y="5607050"/>
            <a:ext cx="5127752" cy="12811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250" dirty="0">
                <a:solidFill>
                  <a:srgbClr val="BCB3A7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from idea to an agreed, buildable plan — much of it re-aligning what was already said.</a:t>
            </a:r>
            <a:endParaRPr lang="en-US" sz="2250" dirty="0"/>
          </a:p>
        </p:txBody>
      </p:sp>
      <p:sp>
        <p:nvSpPr>
          <p:cNvPr id="13" name="Text 11"/>
          <p:cNvSpPr/>
          <p:nvPr/>
        </p:nvSpPr>
        <p:spPr>
          <a:xfrm>
            <a:off x="1143000" y="9601200"/>
            <a:ext cx="715764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-33" kern="0" dirty="0">
                <a:solidFill>
                  <a:srgbClr val="F7F3E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buzzin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14227969" y="9632950"/>
            <a:ext cx="3208734" cy="241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72" kern="0" dirty="0">
                <a:solidFill>
                  <a:srgbClr val="6F665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DIRECTIONAL · INDUSTRY RANGES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3350" cy="10287000"/>
          </a:xfrm>
          <a:prstGeom prst="rect">
            <a:avLst/>
          </a:prstGeom>
          <a:solidFill>
            <a:srgbClr val="C4122E"/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1905000"/>
            <a:ext cx="17287875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96" kern="0" dirty="0">
                <a:solidFill>
                  <a:srgbClr val="C4122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MEET BUZZIN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143000" y="2622550"/>
            <a:ext cx="3009553" cy="1206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200" b="1" spc="-216" kern="0" dirty="0">
                <a:solidFill>
                  <a:srgbClr val="17171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buzzin</a:t>
            </a:r>
            <a:endParaRPr lang="en-US" sz="7200" dirty="0"/>
          </a:p>
        </p:txBody>
      </p:sp>
      <p:sp>
        <p:nvSpPr>
          <p:cNvPr id="5" name="Shape 3"/>
          <p:cNvSpPr/>
          <p:nvPr/>
        </p:nvSpPr>
        <p:spPr>
          <a:xfrm>
            <a:off x="3993257" y="2800350"/>
            <a:ext cx="209550" cy="723900"/>
          </a:xfrm>
          <a:prstGeom prst="rect">
            <a:avLst/>
          </a:prstGeom>
          <a:solidFill>
            <a:srgbClr val="FFC72C"/>
          </a:solidFill>
          <a:ln/>
        </p:spPr>
      </p:sp>
      <p:sp>
        <p:nvSpPr>
          <p:cNvPr id="6" name="Text 4"/>
          <p:cNvSpPr/>
          <p:nvPr/>
        </p:nvSpPr>
        <p:spPr>
          <a:xfrm>
            <a:off x="1143000" y="4057650"/>
            <a:ext cx="14225588" cy="13547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4800" dirty="0">
                <a:solidFill>
                  <a:srgbClr val="171717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Devin gave every engineer an AI teammate. </a:t>
            </a:r>
            <a:pPr algn="l" indent="0" marL="0">
              <a:lnSpc>
                <a:spcPct val="108000"/>
              </a:lnSpc>
              <a:buNone/>
            </a:pPr>
            <a:r>
              <a:rPr lang="en-US" sz="4800" dirty="0">
                <a:solidFill>
                  <a:srgbClr val="C4122E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Buzzin gives the business one.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1143000" y="5755283"/>
            <a:ext cx="13244513" cy="1495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550" dirty="0">
                <a:solidFill>
                  <a:srgbClr val="4A443C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You chat your idea in as a Business User. A team of AI specialists turns it into requirements, a PRD, an architecture, a spec, and a task plan — the way a great cross-functional team would, with nothing lost between them.</a:t>
            </a:r>
            <a:endParaRPr lang="en-US" sz="2550" dirty="0"/>
          </a:p>
        </p:txBody>
      </p:sp>
      <p:sp>
        <p:nvSpPr>
          <p:cNvPr id="8" name="Text 6"/>
          <p:cNvSpPr/>
          <p:nvPr/>
        </p:nvSpPr>
        <p:spPr>
          <a:xfrm>
            <a:off x="1143000" y="9601200"/>
            <a:ext cx="715764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-33" kern="0" dirty="0">
                <a:solidFill>
                  <a:srgbClr val="17171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buzzin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14831517" y="9632950"/>
            <a:ext cx="2544832" cy="241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72" kern="0" dirty="0">
                <a:solidFill>
                  <a:srgbClr val="A89E9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CONFIDENTIAL · INTERNAL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838200"/>
            <a:ext cx="17602200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96" kern="0" dirty="0">
                <a:solidFill>
                  <a:srgbClr val="C4122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THE WORKFLOW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43000" y="1327150"/>
            <a:ext cx="17602200" cy="7444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5400" dirty="0">
                <a:solidFill>
                  <a:srgbClr val="171717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One idea, five stages, zero handoff loss.</a:t>
            </a:r>
            <a:endParaRPr lang="en-US" sz="5400" dirty="0"/>
          </a:p>
        </p:txBody>
      </p:sp>
      <p:sp>
        <p:nvSpPr>
          <p:cNvPr id="4" name="Shape 2"/>
          <p:cNvSpPr/>
          <p:nvPr/>
        </p:nvSpPr>
        <p:spPr>
          <a:xfrm>
            <a:off x="1143000" y="3429000"/>
            <a:ext cx="3006030" cy="38100"/>
          </a:xfrm>
          <a:prstGeom prst="rect">
            <a:avLst/>
          </a:prstGeom>
          <a:solidFill>
            <a:srgbClr val="C4122E"/>
          </a:solidFill>
          <a:ln/>
        </p:spPr>
      </p:sp>
      <p:sp>
        <p:nvSpPr>
          <p:cNvPr id="5" name="Text 3"/>
          <p:cNvSpPr/>
          <p:nvPr/>
        </p:nvSpPr>
        <p:spPr>
          <a:xfrm>
            <a:off x="1143000" y="3752850"/>
            <a:ext cx="2950399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A89E9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143000" y="4114800"/>
            <a:ext cx="2950399" cy="431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171717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Requirements</a:t>
            </a:r>
            <a:endParaRPr lang="en-US" sz="2550" dirty="0"/>
          </a:p>
        </p:txBody>
      </p:sp>
      <p:sp>
        <p:nvSpPr>
          <p:cNvPr id="7" name="Shape 5"/>
          <p:cNvSpPr/>
          <p:nvPr/>
        </p:nvSpPr>
        <p:spPr>
          <a:xfrm>
            <a:off x="1143000" y="4622800"/>
            <a:ext cx="1575891" cy="323850"/>
          </a:xfrm>
          <a:prstGeom prst="roundRect">
            <a:avLst>
              <a:gd name="adj" fmla="val 14706"/>
            </a:avLst>
          </a:prstGeom>
          <a:solidFill>
            <a:srgbClr val="FFF3D0"/>
          </a:solidFill>
          <a:ln/>
        </p:spPr>
      </p:sp>
      <p:sp>
        <p:nvSpPr>
          <p:cNvPr id="8" name="Text 6"/>
          <p:cNvSpPr/>
          <p:nvPr/>
        </p:nvSpPr>
        <p:spPr>
          <a:xfrm>
            <a:off x="1257300" y="4679950"/>
            <a:ext cx="1423491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spc="51" kern="0" dirty="0">
                <a:solidFill>
                  <a:srgbClr val="8A6D0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BUSINESS USER</a:t>
            </a:r>
            <a:endParaRPr lang="en-US" sz="1275" dirty="0"/>
          </a:p>
        </p:txBody>
      </p:sp>
      <p:sp>
        <p:nvSpPr>
          <p:cNvPr id="9" name="Text 7"/>
          <p:cNvSpPr/>
          <p:nvPr/>
        </p:nvSpPr>
        <p:spPr>
          <a:xfrm>
            <a:off x="1143000" y="5156200"/>
            <a:ext cx="2762646" cy="1109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875" dirty="0">
                <a:solidFill>
                  <a:srgbClr val="4A443C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Chat your idea in. A live scorecard blocks Advance until it's clear.</a:t>
            </a:r>
            <a:endParaRPr lang="en-US" sz="1875" dirty="0"/>
          </a:p>
        </p:txBody>
      </p:sp>
      <p:sp>
        <p:nvSpPr>
          <p:cNvPr id="10" name="Shape 8"/>
          <p:cNvSpPr/>
          <p:nvPr/>
        </p:nvSpPr>
        <p:spPr>
          <a:xfrm>
            <a:off x="4149030" y="3429000"/>
            <a:ext cx="3329980" cy="38100"/>
          </a:xfrm>
          <a:prstGeom prst="rect">
            <a:avLst/>
          </a:prstGeom>
          <a:solidFill>
            <a:srgbClr val="E0CF9A"/>
          </a:solidFill>
          <a:ln/>
        </p:spPr>
      </p:sp>
      <p:sp>
        <p:nvSpPr>
          <p:cNvPr id="11" name="Text 9"/>
          <p:cNvSpPr/>
          <p:nvPr/>
        </p:nvSpPr>
        <p:spPr>
          <a:xfrm>
            <a:off x="4472880" y="3752850"/>
            <a:ext cx="2950508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A89E9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472880" y="4114800"/>
            <a:ext cx="2950508" cy="431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171717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PRD</a:t>
            </a:r>
            <a:endParaRPr lang="en-US" sz="2550" dirty="0"/>
          </a:p>
        </p:txBody>
      </p:sp>
      <p:sp>
        <p:nvSpPr>
          <p:cNvPr id="13" name="Shape 11"/>
          <p:cNvSpPr/>
          <p:nvPr/>
        </p:nvSpPr>
        <p:spPr>
          <a:xfrm>
            <a:off x="4472880" y="4622800"/>
            <a:ext cx="1575891" cy="323850"/>
          </a:xfrm>
          <a:prstGeom prst="roundRect">
            <a:avLst>
              <a:gd name="adj" fmla="val 14706"/>
            </a:avLst>
          </a:prstGeom>
          <a:solidFill>
            <a:srgbClr val="FFF3D0"/>
          </a:solidFill>
          <a:ln/>
        </p:spPr>
      </p:sp>
      <p:sp>
        <p:nvSpPr>
          <p:cNvPr id="14" name="Text 12"/>
          <p:cNvSpPr/>
          <p:nvPr/>
        </p:nvSpPr>
        <p:spPr>
          <a:xfrm>
            <a:off x="4587180" y="4679950"/>
            <a:ext cx="1423491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spc="51" kern="0" dirty="0">
                <a:solidFill>
                  <a:srgbClr val="8A6D0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BUSINESS USER</a:t>
            </a:r>
            <a:endParaRPr lang="en-US" sz="1275" dirty="0"/>
          </a:p>
        </p:txBody>
      </p:sp>
      <p:sp>
        <p:nvSpPr>
          <p:cNvPr id="15" name="Text 13"/>
          <p:cNvSpPr/>
          <p:nvPr/>
        </p:nvSpPr>
        <p:spPr>
          <a:xfrm>
            <a:off x="4472880" y="5156200"/>
            <a:ext cx="2762748" cy="1109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875" dirty="0">
                <a:solidFill>
                  <a:srgbClr val="4A443C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AI drafts product items, each traced back to a requirement.</a:t>
            </a:r>
            <a:endParaRPr lang="en-US" sz="1875" dirty="0"/>
          </a:p>
        </p:txBody>
      </p:sp>
      <p:sp>
        <p:nvSpPr>
          <p:cNvPr id="16" name="Shape 14"/>
          <p:cNvSpPr/>
          <p:nvPr/>
        </p:nvSpPr>
        <p:spPr>
          <a:xfrm>
            <a:off x="7479010" y="3429000"/>
            <a:ext cx="3329880" cy="38100"/>
          </a:xfrm>
          <a:prstGeom prst="rect">
            <a:avLst/>
          </a:prstGeom>
          <a:solidFill>
            <a:srgbClr val="E0CF9A"/>
          </a:solidFill>
          <a:ln/>
        </p:spPr>
      </p:sp>
      <p:sp>
        <p:nvSpPr>
          <p:cNvPr id="17" name="Text 15"/>
          <p:cNvSpPr/>
          <p:nvPr/>
        </p:nvSpPr>
        <p:spPr>
          <a:xfrm>
            <a:off x="7802860" y="3752850"/>
            <a:ext cx="2950399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A89E9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7802860" y="4114800"/>
            <a:ext cx="2950399" cy="431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171717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Stack / ADR</a:t>
            </a:r>
            <a:endParaRPr lang="en-US" sz="2550" dirty="0"/>
          </a:p>
        </p:txBody>
      </p:sp>
      <p:sp>
        <p:nvSpPr>
          <p:cNvPr id="19" name="Shape 17"/>
          <p:cNvSpPr/>
          <p:nvPr/>
        </p:nvSpPr>
        <p:spPr>
          <a:xfrm>
            <a:off x="7802860" y="4622800"/>
            <a:ext cx="954088" cy="323850"/>
          </a:xfrm>
          <a:prstGeom prst="roundRect">
            <a:avLst>
              <a:gd name="adj" fmla="val 14706"/>
            </a:avLst>
          </a:prstGeom>
          <a:solidFill>
            <a:srgbClr val="FFF3D0"/>
          </a:solidFill>
          <a:ln/>
        </p:spPr>
      </p:sp>
      <p:sp>
        <p:nvSpPr>
          <p:cNvPr id="20" name="Text 18"/>
          <p:cNvSpPr/>
          <p:nvPr/>
        </p:nvSpPr>
        <p:spPr>
          <a:xfrm>
            <a:off x="7917160" y="4679950"/>
            <a:ext cx="801688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spc="51" kern="0" dirty="0">
                <a:solidFill>
                  <a:srgbClr val="7A5B0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ADVISOR</a:t>
            </a:r>
            <a:endParaRPr lang="en-US" sz="1275" dirty="0"/>
          </a:p>
        </p:txBody>
      </p:sp>
      <p:sp>
        <p:nvSpPr>
          <p:cNvPr id="21" name="Text 19"/>
          <p:cNvSpPr/>
          <p:nvPr/>
        </p:nvSpPr>
        <p:spPr>
          <a:xfrm>
            <a:off x="7802860" y="5156200"/>
            <a:ext cx="2762646" cy="1109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875" dirty="0">
                <a:solidFill>
                  <a:srgbClr val="4A443C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Decisions constrained to our tech radar and compliance rules.</a:t>
            </a:r>
            <a:endParaRPr lang="en-US" sz="1875" dirty="0"/>
          </a:p>
        </p:txBody>
      </p:sp>
      <p:sp>
        <p:nvSpPr>
          <p:cNvPr id="22" name="Shape 20"/>
          <p:cNvSpPr/>
          <p:nvPr/>
        </p:nvSpPr>
        <p:spPr>
          <a:xfrm>
            <a:off x="10808891" y="3429000"/>
            <a:ext cx="3329980" cy="38100"/>
          </a:xfrm>
          <a:prstGeom prst="rect">
            <a:avLst/>
          </a:prstGeom>
          <a:solidFill>
            <a:srgbClr val="E0CF9A"/>
          </a:solidFill>
          <a:ln/>
        </p:spPr>
      </p:sp>
      <p:sp>
        <p:nvSpPr>
          <p:cNvPr id="23" name="Text 21"/>
          <p:cNvSpPr/>
          <p:nvPr/>
        </p:nvSpPr>
        <p:spPr>
          <a:xfrm>
            <a:off x="11132741" y="3752850"/>
            <a:ext cx="2950508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A89E9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04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1132741" y="4114800"/>
            <a:ext cx="2950508" cy="431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171717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Tech Spec</a:t>
            </a:r>
            <a:endParaRPr lang="en-US" sz="2550" dirty="0"/>
          </a:p>
        </p:txBody>
      </p:sp>
      <p:sp>
        <p:nvSpPr>
          <p:cNvPr id="25" name="Shape 23"/>
          <p:cNvSpPr/>
          <p:nvPr/>
        </p:nvSpPr>
        <p:spPr>
          <a:xfrm>
            <a:off x="11132741" y="4622800"/>
            <a:ext cx="1679476" cy="323850"/>
          </a:xfrm>
          <a:prstGeom prst="roundRect">
            <a:avLst>
              <a:gd name="adj" fmla="val 14706"/>
            </a:avLst>
          </a:prstGeom>
          <a:solidFill>
            <a:srgbClr val="EFE8FA"/>
          </a:solidFill>
          <a:ln/>
        </p:spPr>
      </p:sp>
      <p:sp>
        <p:nvSpPr>
          <p:cNvPr id="26" name="Text 24"/>
          <p:cNvSpPr/>
          <p:nvPr/>
        </p:nvSpPr>
        <p:spPr>
          <a:xfrm>
            <a:off x="11247041" y="4679950"/>
            <a:ext cx="1527076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spc="51" kern="0" dirty="0">
                <a:solidFill>
                  <a:srgbClr val="5A3D8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TECH ARCHITECT</a:t>
            </a:r>
            <a:endParaRPr lang="en-US" sz="1275" dirty="0"/>
          </a:p>
        </p:txBody>
      </p:sp>
      <p:sp>
        <p:nvSpPr>
          <p:cNvPr id="27" name="Text 25"/>
          <p:cNvSpPr/>
          <p:nvPr/>
        </p:nvSpPr>
        <p:spPr>
          <a:xfrm>
            <a:off x="11132741" y="5156200"/>
            <a:ext cx="2762748" cy="1109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875" dirty="0">
                <a:solidFill>
                  <a:srgbClr val="4A443C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Architect co-edits; every change ripples through the graph.</a:t>
            </a:r>
            <a:endParaRPr lang="en-US" sz="1875" dirty="0"/>
          </a:p>
        </p:txBody>
      </p:sp>
      <p:sp>
        <p:nvSpPr>
          <p:cNvPr id="28" name="Shape 26"/>
          <p:cNvSpPr/>
          <p:nvPr/>
        </p:nvSpPr>
        <p:spPr>
          <a:xfrm>
            <a:off x="14138871" y="3429000"/>
            <a:ext cx="3006130" cy="38100"/>
          </a:xfrm>
          <a:prstGeom prst="rect">
            <a:avLst/>
          </a:prstGeom>
          <a:solidFill>
            <a:srgbClr val="E0CF9A"/>
          </a:solidFill>
          <a:ln/>
        </p:spPr>
      </p:sp>
      <p:sp>
        <p:nvSpPr>
          <p:cNvPr id="29" name="Text 27"/>
          <p:cNvSpPr/>
          <p:nvPr/>
        </p:nvSpPr>
        <p:spPr>
          <a:xfrm>
            <a:off x="14462721" y="3752850"/>
            <a:ext cx="2950508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A89E9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05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14462721" y="4114800"/>
            <a:ext cx="2950508" cy="431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171717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Task Plan</a:t>
            </a:r>
            <a:endParaRPr lang="en-US" sz="2550" dirty="0"/>
          </a:p>
        </p:txBody>
      </p:sp>
      <p:sp>
        <p:nvSpPr>
          <p:cNvPr id="31" name="Shape 29"/>
          <p:cNvSpPr/>
          <p:nvPr/>
        </p:nvSpPr>
        <p:spPr>
          <a:xfrm>
            <a:off x="14462721" y="4622800"/>
            <a:ext cx="1679476" cy="323850"/>
          </a:xfrm>
          <a:prstGeom prst="roundRect">
            <a:avLst>
              <a:gd name="adj" fmla="val 14706"/>
            </a:avLst>
          </a:prstGeom>
          <a:solidFill>
            <a:srgbClr val="EFE8FA"/>
          </a:solidFill>
          <a:ln/>
        </p:spPr>
      </p:sp>
      <p:sp>
        <p:nvSpPr>
          <p:cNvPr id="32" name="Text 30"/>
          <p:cNvSpPr/>
          <p:nvPr/>
        </p:nvSpPr>
        <p:spPr>
          <a:xfrm>
            <a:off x="14577021" y="4679950"/>
            <a:ext cx="1527076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spc="51" kern="0" dirty="0">
                <a:solidFill>
                  <a:srgbClr val="5A3D8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TECH ARCHITECT</a:t>
            </a:r>
            <a:endParaRPr lang="en-US" sz="1275" dirty="0"/>
          </a:p>
        </p:txBody>
      </p:sp>
      <p:sp>
        <p:nvSpPr>
          <p:cNvPr id="33" name="Text 31"/>
          <p:cNvSpPr/>
          <p:nvPr/>
        </p:nvSpPr>
        <p:spPr>
          <a:xfrm>
            <a:off x="14462721" y="5156200"/>
            <a:ext cx="2762748" cy="1466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875" dirty="0">
                <a:solidFill>
                  <a:srgbClr val="4A443C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Epics and tasks with estimates and dependencies, ready to build.</a:t>
            </a:r>
            <a:endParaRPr lang="en-US" sz="1875" dirty="0"/>
          </a:p>
        </p:txBody>
      </p:sp>
      <p:sp>
        <p:nvSpPr>
          <p:cNvPr id="34" name="Text 32"/>
          <p:cNvSpPr/>
          <p:nvPr/>
        </p:nvSpPr>
        <p:spPr>
          <a:xfrm>
            <a:off x="1143000" y="8553450"/>
            <a:ext cx="4156948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4A443C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One operator switches personas.</a:t>
            </a:r>
            <a:endParaRPr lang="en-US" sz="1950" dirty="0"/>
          </a:p>
        </p:txBody>
      </p:sp>
      <p:sp>
        <p:nvSpPr>
          <p:cNvPr id="35" name="Shape 33"/>
          <p:cNvSpPr/>
          <p:nvPr/>
        </p:nvSpPr>
        <p:spPr>
          <a:xfrm>
            <a:off x="5112544" y="8701088"/>
            <a:ext cx="8622606" cy="9525"/>
          </a:xfrm>
          <a:prstGeom prst="rect">
            <a:avLst/>
          </a:prstGeom>
          <a:solidFill>
            <a:srgbClr val="E0D8CC"/>
          </a:solidFill>
          <a:ln/>
        </p:spPr>
      </p:sp>
      <p:sp>
        <p:nvSpPr>
          <p:cNvPr id="36" name="Text 34"/>
          <p:cNvSpPr/>
          <p:nvPr/>
        </p:nvSpPr>
        <p:spPr>
          <a:xfrm>
            <a:off x="13925650" y="8562975"/>
            <a:ext cx="3541286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i="1" dirty="0">
                <a:solidFill>
                  <a:srgbClr val="C4122E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The whole team stays in sync.</a:t>
            </a:r>
            <a:endParaRPr lang="en-US" sz="2250" dirty="0"/>
          </a:p>
        </p:txBody>
      </p:sp>
      <p:sp>
        <p:nvSpPr>
          <p:cNvPr id="37" name="Text 35"/>
          <p:cNvSpPr/>
          <p:nvPr/>
        </p:nvSpPr>
        <p:spPr>
          <a:xfrm>
            <a:off x="1143000" y="9601200"/>
            <a:ext cx="715764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-33" kern="0" dirty="0">
                <a:solidFill>
                  <a:srgbClr val="17171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buzzin</a:t>
            </a:r>
            <a:endParaRPr lang="en-US" sz="1650" dirty="0"/>
          </a:p>
        </p:txBody>
      </p:sp>
      <p:sp>
        <p:nvSpPr>
          <p:cNvPr id="38" name="Text 36"/>
          <p:cNvSpPr/>
          <p:nvPr/>
        </p:nvSpPr>
        <p:spPr>
          <a:xfrm>
            <a:off x="14831517" y="9632950"/>
            <a:ext cx="2544832" cy="241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72" kern="0" dirty="0">
                <a:solidFill>
                  <a:srgbClr val="A89E9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CONFIDENTIAL · INTERNAL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838200"/>
            <a:ext cx="17602200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96" kern="0" dirty="0">
                <a:solidFill>
                  <a:srgbClr val="C4122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THE TEAM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43000" y="1327150"/>
            <a:ext cx="17602200" cy="7444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5400" dirty="0">
                <a:solidFill>
                  <a:srgbClr val="171717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Five specialists, one coordinated team.</a:t>
            </a:r>
            <a:endParaRPr lang="en-US" sz="5400" dirty="0"/>
          </a:p>
        </p:txBody>
      </p:sp>
      <p:sp>
        <p:nvSpPr>
          <p:cNvPr id="4" name="Shape 2"/>
          <p:cNvSpPr/>
          <p:nvPr/>
        </p:nvSpPr>
        <p:spPr>
          <a:xfrm>
            <a:off x="1143000" y="3352800"/>
            <a:ext cx="3017441" cy="3673475"/>
          </a:xfrm>
          <a:prstGeom prst="roundRect">
            <a:avLst>
              <a:gd name="adj" fmla="val 4419"/>
            </a:avLst>
          </a:prstGeom>
          <a:solidFill>
            <a:srgbClr val="FFFFFF"/>
          </a:solidFill>
          <a:ln w="6350">
            <a:solidFill>
              <a:srgbClr val="E5DED4"/>
            </a:solidFill>
            <a:prstDash val="solid"/>
          </a:ln>
          <a:effectLst>
            <a:outerShdw sx="100000" sy="100000" kx="0" ky="0" algn="bl" rotWithShape="0" blurRad="190500" dist="57150" dir="5400000">
              <a:srgbClr val="000000">
                <a:alpha val="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416050" y="3683000"/>
            <a:ext cx="495300" cy="495300"/>
          </a:xfrm>
          <a:prstGeom prst="roundRect">
            <a:avLst>
              <a:gd name="adj" fmla="val 21154"/>
            </a:avLst>
          </a:prstGeom>
          <a:solidFill>
            <a:srgbClr val="C4122E"/>
          </a:solidFill>
          <a:ln/>
        </p:spPr>
      </p:sp>
      <p:sp>
        <p:nvSpPr>
          <p:cNvPr id="6" name="Text 4"/>
          <p:cNvSpPr/>
          <p:nvPr/>
        </p:nvSpPr>
        <p:spPr>
          <a:xfrm>
            <a:off x="1377950" y="3683000"/>
            <a:ext cx="571500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1416050" y="4406900"/>
            <a:ext cx="2547541" cy="660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171717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Requirements Analyst</a:t>
            </a:r>
            <a:endParaRPr lang="en-US" sz="2025" dirty="0"/>
          </a:p>
        </p:txBody>
      </p:sp>
      <p:sp>
        <p:nvSpPr>
          <p:cNvPr id="8" name="Text 6"/>
          <p:cNvSpPr/>
          <p:nvPr/>
        </p:nvSpPr>
        <p:spPr>
          <a:xfrm>
            <a:off x="1416050" y="5124450"/>
            <a:ext cx="2547541" cy="981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650" dirty="0">
                <a:solidFill>
                  <a:srgbClr val="4A443C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Elicits the idea and scores it against a rubric until it's clear.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1416050" y="6315075"/>
            <a:ext cx="2471341" cy="9525"/>
          </a:xfrm>
          <a:prstGeom prst="rect">
            <a:avLst/>
          </a:prstGeom>
          <a:solidFill>
            <a:srgbClr val="EEE6DA"/>
          </a:solidFill>
          <a:ln/>
        </p:spPr>
      </p:sp>
      <p:sp>
        <p:nvSpPr>
          <p:cNvPr id="10" name="Text 8"/>
          <p:cNvSpPr/>
          <p:nvPr/>
        </p:nvSpPr>
        <p:spPr>
          <a:xfrm>
            <a:off x="1416050" y="6473825"/>
            <a:ext cx="2547541" cy="260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8A827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writes → </a:t>
            </a:r>
            <a:pPr algn="l" indent="0" marL="0">
              <a:buNone/>
            </a:pPr>
            <a:r>
              <a:rPr lang="en-US" sz="1350" dirty="0">
                <a:solidFill>
                  <a:srgbClr val="C4122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REQ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4389041" y="3352800"/>
            <a:ext cx="3017540" cy="3673475"/>
          </a:xfrm>
          <a:prstGeom prst="roundRect">
            <a:avLst>
              <a:gd name="adj" fmla="val 4419"/>
            </a:avLst>
          </a:prstGeom>
          <a:solidFill>
            <a:srgbClr val="FFFFFF"/>
          </a:solidFill>
          <a:ln w="6350">
            <a:solidFill>
              <a:srgbClr val="E5DED4"/>
            </a:solidFill>
            <a:prstDash val="solid"/>
          </a:ln>
          <a:effectLst>
            <a:outerShdw sx="100000" sy="100000" kx="0" ky="0" algn="bl" rotWithShape="0" blurRad="190500" dist="57150" dir="5400000">
              <a:srgbClr val="000000">
                <a:alpha val="4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62091" y="3683000"/>
            <a:ext cx="495300" cy="495300"/>
          </a:xfrm>
          <a:prstGeom prst="roundRect">
            <a:avLst>
              <a:gd name="adj" fmla="val 21154"/>
            </a:avLst>
          </a:prstGeom>
          <a:solidFill>
            <a:srgbClr val="C4122E"/>
          </a:solidFill>
          <a:ln/>
        </p:spPr>
      </p:sp>
      <p:sp>
        <p:nvSpPr>
          <p:cNvPr id="13" name="Text 11"/>
          <p:cNvSpPr/>
          <p:nvPr/>
        </p:nvSpPr>
        <p:spPr>
          <a:xfrm>
            <a:off x="4623991" y="3683000"/>
            <a:ext cx="571500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4662091" y="4406900"/>
            <a:ext cx="2718584" cy="349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171717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PRD Author</a:t>
            </a:r>
            <a:endParaRPr lang="en-US" sz="2025" dirty="0"/>
          </a:p>
        </p:txBody>
      </p:sp>
      <p:sp>
        <p:nvSpPr>
          <p:cNvPr id="15" name="Text 13"/>
          <p:cNvSpPr/>
          <p:nvPr/>
        </p:nvSpPr>
        <p:spPr>
          <a:xfrm>
            <a:off x="4662091" y="4813300"/>
            <a:ext cx="2547640" cy="981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650" dirty="0">
                <a:solidFill>
                  <a:srgbClr val="4A443C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Drafts product items — every one traced to a requirement.</a:t>
            </a:r>
            <a:endParaRPr lang="en-US" sz="1650" dirty="0"/>
          </a:p>
        </p:txBody>
      </p:sp>
      <p:sp>
        <p:nvSpPr>
          <p:cNvPr id="16" name="Shape 14"/>
          <p:cNvSpPr/>
          <p:nvPr/>
        </p:nvSpPr>
        <p:spPr>
          <a:xfrm>
            <a:off x="4662091" y="6003925"/>
            <a:ext cx="2471440" cy="9525"/>
          </a:xfrm>
          <a:prstGeom prst="rect">
            <a:avLst/>
          </a:prstGeom>
          <a:solidFill>
            <a:srgbClr val="EEE6DA"/>
          </a:solidFill>
          <a:ln/>
        </p:spPr>
      </p:sp>
      <p:sp>
        <p:nvSpPr>
          <p:cNvPr id="17" name="Text 15"/>
          <p:cNvSpPr/>
          <p:nvPr/>
        </p:nvSpPr>
        <p:spPr>
          <a:xfrm>
            <a:off x="4662091" y="6162675"/>
            <a:ext cx="2547640" cy="260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8A827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writes → </a:t>
            </a:r>
            <a:pPr algn="l" indent="0" marL="0">
              <a:buNone/>
            </a:pPr>
            <a:r>
              <a:rPr lang="en-US" sz="1350" dirty="0">
                <a:solidFill>
                  <a:srgbClr val="C4122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PRD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7635180" y="3352800"/>
            <a:ext cx="3017540" cy="3673475"/>
          </a:xfrm>
          <a:prstGeom prst="roundRect">
            <a:avLst>
              <a:gd name="adj" fmla="val 4419"/>
            </a:avLst>
          </a:prstGeom>
          <a:solidFill>
            <a:srgbClr val="FFFFFF"/>
          </a:solidFill>
          <a:ln w="6350">
            <a:solidFill>
              <a:srgbClr val="E5DED4"/>
            </a:solidFill>
            <a:prstDash val="solid"/>
          </a:ln>
          <a:effectLst>
            <a:outerShdw sx="100000" sy="100000" kx="0" ky="0" algn="bl" rotWithShape="0" blurRad="190500" dist="57150" dir="5400000">
              <a:srgbClr val="000000">
                <a:alpha val="4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7908231" y="3683000"/>
            <a:ext cx="495300" cy="495300"/>
          </a:xfrm>
          <a:prstGeom prst="roundRect">
            <a:avLst>
              <a:gd name="adj" fmla="val 21154"/>
            </a:avLst>
          </a:prstGeom>
          <a:solidFill>
            <a:srgbClr val="8A6D00"/>
          </a:solidFill>
          <a:ln/>
        </p:spPr>
      </p:sp>
      <p:sp>
        <p:nvSpPr>
          <p:cNvPr id="20" name="Text 18"/>
          <p:cNvSpPr/>
          <p:nvPr/>
        </p:nvSpPr>
        <p:spPr>
          <a:xfrm>
            <a:off x="7870131" y="3683000"/>
            <a:ext cx="571500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</a:t>
            </a:r>
            <a:endParaRPr lang="en-US" sz="1950" dirty="0"/>
          </a:p>
        </p:txBody>
      </p:sp>
      <p:sp>
        <p:nvSpPr>
          <p:cNvPr id="21" name="Text 19"/>
          <p:cNvSpPr/>
          <p:nvPr/>
        </p:nvSpPr>
        <p:spPr>
          <a:xfrm>
            <a:off x="7908231" y="4406900"/>
            <a:ext cx="2718584" cy="349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171717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Stack Advisor</a:t>
            </a:r>
            <a:endParaRPr lang="en-US" sz="2025" dirty="0"/>
          </a:p>
        </p:txBody>
      </p:sp>
      <p:sp>
        <p:nvSpPr>
          <p:cNvPr id="22" name="Text 20"/>
          <p:cNvSpPr/>
          <p:nvPr/>
        </p:nvSpPr>
        <p:spPr>
          <a:xfrm>
            <a:off x="7908231" y="4813300"/>
            <a:ext cx="2547640" cy="981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650" dirty="0">
                <a:solidFill>
                  <a:srgbClr val="4A443C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Chooses technology within our radar and hard compliance rules.</a:t>
            </a:r>
            <a:endParaRPr lang="en-US" sz="1650" dirty="0"/>
          </a:p>
        </p:txBody>
      </p:sp>
      <p:sp>
        <p:nvSpPr>
          <p:cNvPr id="23" name="Shape 21"/>
          <p:cNvSpPr/>
          <p:nvPr/>
        </p:nvSpPr>
        <p:spPr>
          <a:xfrm>
            <a:off x="7908231" y="6003925"/>
            <a:ext cx="2471440" cy="9525"/>
          </a:xfrm>
          <a:prstGeom prst="rect">
            <a:avLst/>
          </a:prstGeom>
          <a:solidFill>
            <a:srgbClr val="EEE6DA"/>
          </a:solidFill>
          <a:ln/>
        </p:spPr>
      </p:sp>
      <p:sp>
        <p:nvSpPr>
          <p:cNvPr id="24" name="Text 22"/>
          <p:cNvSpPr/>
          <p:nvPr/>
        </p:nvSpPr>
        <p:spPr>
          <a:xfrm>
            <a:off x="7908231" y="6162675"/>
            <a:ext cx="2547640" cy="260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8A827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writes → </a:t>
            </a:r>
            <a:pPr algn="l" indent="0" marL="0">
              <a:buNone/>
            </a:pPr>
            <a:r>
              <a:rPr lang="en-US" sz="1350" dirty="0">
                <a:solidFill>
                  <a:srgbClr val="C4122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ADR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10881321" y="3352800"/>
            <a:ext cx="3017540" cy="3673475"/>
          </a:xfrm>
          <a:prstGeom prst="roundRect">
            <a:avLst>
              <a:gd name="adj" fmla="val 4419"/>
            </a:avLst>
          </a:prstGeom>
          <a:solidFill>
            <a:srgbClr val="FFFFFF"/>
          </a:solidFill>
          <a:ln w="6350">
            <a:solidFill>
              <a:srgbClr val="E5DED4"/>
            </a:solidFill>
            <a:prstDash val="solid"/>
          </a:ln>
          <a:effectLst>
            <a:outerShdw sx="100000" sy="100000" kx="0" ky="0" algn="bl" rotWithShape="0" blurRad="190500" dist="57150" dir="5400000">
              <a:srgbClr val="000000">
                <a:alpha val="4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11154370" y="3683000"/>
            <a:ext cx="495300" cy="495300"/>
          </a:xfrm>
          <a:prstGeom prst="roundRect">
            <a:avLst>
              <a:gd name="adj" fmla="val 21154"/>
            </a:avLst>
          </a:prstGeom>
          <a:solidFill>
            <a:srgbClr val="5A3D8A"/>
          </a:solidFill>
          <a:ln/>
        </p:spPr>
      </p:sp>
      <p:sp>
        <p:nvSpPr>
          <p:cNvPr id="27" name="Text 25"/>
          <p:cNvSpPr/>
          <p:nvPr/>
        </p:nvSpPr>
        <p:spPr>
          <a:xfrm>
            <a:off x="11116270" y="3683000"/>
            <a:ext cx="571500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</a:t>
            </a:r>
            <a:endParaRPr lang="en-US" sz="1950" dirty="0"/>
          </a:p>
        </p:txBody>
      </p:sp>
      <p:sp>
        <p:nvSpPr>
          <p:cNvPr id="28" name="Text 26"/>
          <p:cNvSpPr/>
          <p:nvPr/>
        </p:nvSpPr>
        <p:spPr>
          <a:xfrm>
            <a:off x="11154370" y="4406900"/>
            <a:ext cx="2718584" cy="349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171717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Architect</a:t>
            </a:r>
            <a:endParaRPr lang="en-US" sz="2025" dirty="0"/>
          </a:p>
        </p:txBody>
      </p:sp>
      <p:sp>
        <p:nvSpPr>
          <p:cNvPr id="29" name="Text 27"/>
          <p:cNvSpPr/>
          <p:nvPr/>
        </p:nvSpPr>
        <p:spPr>
          <a:xfrm>
            <a:off x="11154370" y="4813300"/>
            <a:ext cx="2547640" cy="981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650" dirty="0">
                <a:solidFill>
                  <a:srgbClr val="4A443C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Co-edits the spec and runs impact analysis on every change.</a:t>
            </a:r>
            <a:endParaRPr lang="en-US" sz="1650" dirty="0"/>
          </a:p>
        </p:txBody>
      </p:sp>
      <p:sp>
        <p:nvSpPr>
          <p:cNvPr id="30" name="Shape 28"/>
          <p:cNvSpPr/>
          <p:nvPr/>
        </p:nvSpPr>
        <p:spPr>
          <a:xfrm>
            <a:off x="11154370" y="6003925"/>
            <a:ext cx="2471440" cy="9525"/>
          </a:xfrm>
          <a:prstGeom prst="rect">
            <a:avLst/>
          </a:prstGeom>
          <a:solidFill>
            <a:srgbClr val="EEE6DA"/>
          </a:solidFill>
          <a:ln/>
        </p:spPr>
      </p:sp>
      <p:sp>
        <p:nvSpPr>
          <p:cNvPr id="31" name="Text 29"/>
          <p:cNvSpPr/>
          <p:nvPr/>
        </p:nvSpPr>
        <p:spPr>
          <a:xfrm>
            <a:off x="11154370" y="6162675"/>
            <a:ext cx="2547640" cy="260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8A827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writes → </a:t>
            </a:r>
            <a:pPr algn="l" indent="0" marL="0">
              <a:buNone/>
            </a:pPr>
            <a:r>
              <a:rPr lang="en-US" sz="1350" dirty="0">
                <a:solidFill>
                  <a:srgbClr val="C4122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SPEC</a:t>
            </a:r>
            <a:endParaRPr lang="en-US" sz="1350" dirty="0"/>
          </a:p>
        </p:txBody>
      </p:sp>
      <p:sp>
        <p:nvSpPr>
          <p:cNvPr id="32" name="Shape 30"/>
          <p:cNvSpPr/>
          <p:nvPr/>
        </p:nvSpPr>
        <p:spPr>
          <a:xfrm>
            <a:off x="14127461" y="3352800"/>
            <a:ext cx="3017540" cy="3673475"/>
          </a:xfrm>
          <a:prstGeom prst="roundRect">
            <a:avLst>
              <a:gd name="adj" fmla="val 4419"/>
            </a:avLst>
          </a:prstGeom>
          <a:solidFill>
            <a:srgbClr val="FFFFFF"/>
          </a:solidFill>
          <a:ln w="6350">
            <a:solidFill>
              <a:srgbClr val="E5DED4"/>
            </a:solidFill>
            <a:prstDash val="solid"/>
          </a:ln>
          <a:effectLst>
            <a:outerShdw sx="100000" sy="100000" kx="0" ky="0" algn="bl" rotWithShape="0" blurRad="190500" dist="57150" dir="5400000">
              <a:srgbClr val="000000">
                <a:alpha val="4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14400511" y="3683000"/>
            <a:ext cx="495300" cy="495300"/>
          </a:xfrm>
          <a:prstGeom prst="roundRect">
            <a:avLst>
              <a:gd name="adj" fmla="val 21154"/>
            </a:avLst>
          </a:prstGeom>
          <a:solidFill>
            <a:srgbClr val="5A3D8A"/>
          </a:solidFill>
          <a:ln/>
        </p:spPr>
      </p:sp>
      <p:sp>
        <p:nvSpPr>
          <p:cNvPr id="34" name="Text 32"/>
          <p:cNvSpPr/>
          <p:nvPr/>
        </p:nvSpPr>
        <p:spPr>
          <a:xfrm>
            <a:off x="14362411" y="3683000"/>
            <a:ext cx="571500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</a:t>
            </a:r>
            <a:endParaRPr lang="en-US" sz="1950" dirty="0"/>
          </a:p>
        </p:txBody>
      </p:sp>
      <p:sp>
        <p:nvSpPr>
          <p:cNvPr id="35" name="Text 33"/>
          <p:cNvSpPr/>
          <p:nvPr/>
        </p:nvSpPr>
        <p:spPr>
          <a:xfrm>
            <a:off x="14400511" y="4406900"/>
            <a:ext cx="2718584" cy="349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171717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Planner</a:t>
            </a:r>
            <a:endParaRPr lang="en-US" sz="2025" dirty="0"/>
          </a:p>
        </p:txBody>
      </p:sp>
      <p:sp>
        <p:nvSpPr>
          <p:cNvPr id="36" name="Text 34"/>
          <p:cNvSpPr/>
          <p:nvPr/>
        </p:nvSpPr>
        <p:spPr>
          <a:xfrm>
            <a:off x="14400511" y="4813300"/>
            <a:ext cx="2547640" cy="981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650" dirty="0">
                <a:solidFill>
                  <a:srgbClr val="4A443C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Breaks the spec into epics, tasks, estimates and dependencies.</a:t>
            </a:r>
            <a:endParaRPr lang="en-US" sz="1650" dirty="0"/>
          </a:p>
        </p:txBody>
      </p:sp>
      <p:sp>
        <p:nvSpPr>
          <p:cNvPr id="37" name="Shape 35"/>
          <p:cNvSpPr/>
          <p:nvPr/>
        </p:nvSpPr>
        <p:spPr>
          <a:xfrm>
            <a:off x="14400511" y="6003925"/>
            <a:ext cx="2471440" cy="9525"/>
          </a:xfrm>
          <a:prstGeom prst="rect">
            <a:avLst/>
          </a:prstGeom>
          <a:solidFill>
            <a:srgbClr val="EEE6DA"/>
          </a:solidFill>
          <a:ln/>
        </p:spPr>
      </p:sp>
      <p:sp>
        <p:nvSpPr>
          <p:cNvPr id="38" name="Text 36"/>
          <p:cNvSpPr/>
          <p:nvPr/>
        </p:nvSpPr>
        <p:spPr>
          <a:xfrm>
            <a:off x="14400511" y="6162675"/>
            <a:ext cx="2547640" cy="260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8A827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writes → </a:t>
            </a:r>
            <a:pPr algn="l" indent="0" marL="0">
              <a:buNone/>
            </a:pPr>
            <a:r>
              <a:rPr lang="en-US" sz="1350" dirty="0">
                <a:solidFill>
                  <a:srgbClr val="C4122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TASK</a:t>
            </a:r>
            <a:endParaRPr lang="en-US" sz="1350" dirty="0"/>
          </a:p>
        </p:txBody>
      </p:sp>
      <p:sp>
        <p:nvSpPr>
          <p:cNvPr id="39" name="Text 37"/>
          <p:cNvSpPr/>
          <p:nvPr/>
        </p:nvSpPr>
        <p:spPr>
          <a:xfrm>
            <a:off x="1143000" y="8724900"/>
            <a:ext cx="176022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i="1" dirty="0">
                <a:solidFill>
                  <a:srgbClr val="4A443C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The single-writer rule: no specialist writes outside its own artifact type — so they collaborate without stepping on each other.</a:t>
            </a:r>
            <a:endParaRPr lang="en-US" sz="2400" dirty="0"/>
          </a:p>
        </p:txBody>
      </p:sp>
      <p:sp>
        <p:nvSpPr>
          <p:cNvPr id="40" name="Text 38"/>
          <p:cNvSpPr/>
          <p:nvPr/>
        </p:nvSpPr>
        <p:spPr>
          <a:xfrm>
            <a:off x="1143000" y="9601200"/>
            <a:ext cx="715764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-33" kern="0" dirty="0">
                <a:solidFill>
                  <a:srgbClr val="17171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buzzin</a:t>
            </a:r>
            <a:endParaRPr lang="en-US" sz="1650" dirty="0"/>
          </a:p>
        </p:txBody>
      </p:sp>
      <p:sp>
        <p:nvSpPr>
          <p:cNvPr id="41" name="Text 39"/>
          <p:cNvSpPr/>
          <p:nvPr/>
        </p:nvSpPr>
        <p:spPr>
          <a:xfrm>
            <a:off x="14831517" y="9632950"/>
            <a:ext cx="2544832" cy="241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72" kern="0" dirty="0">
                <a:solidFill>
                  <a:srgbClr val="A89E9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CONFIDENTIAL · INTERNAL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838200"/>
            <a:ext cx="17602200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96" kern="0" dirty="0">
                <a:solidFill>
                  <a:srgbClr val="C4122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THE SPINE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43000" y="1327150"/>
            <a:ext cx="17602200" cy="7444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5400" dirty="0">
                <a:solidFill>
                  <a:srgbClr val="171717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The artifact graph — everything traces back.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1143000" y="2262088"/>
            <a:ext cx="14225588" cy="8114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100" dirty="0">
                <a:solidFill>
                  <a:srgbClr val="4A443C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Every downstream node cites the upstream id it came from. Nothing floats free — uncited nodes are flagged automatically.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1833364" y="3581400"/>
            <a:ext cx="1624449" cy="273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spc="114" kern="0" dirty="0">
                <a:solidFill>
                  <a:srgbClr val="A89E9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REQUIREMENTS</a:t>
            </a:r>
            <a:endParaRPr lang="en-US" sz="1425" dirty="0"/>
          </a:p>
        </p:txBody>
      </p:sp>
      <p:sp>
        <p:nvSpPr>
          <p:cNvPr id="6" name="Text 4"/>
          <p:cNvSpPr/>
          <p:nvPr/>
        </p:nvSpPr>
        <p:spPr>
          <a:xfrm>
            <a:off x="5720904" y="3581400"/>
            <a:ext cx="445393" cy="273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spc="114" kern="0" dirty="0">
                <a:solidFill>
                  <a:srgbClr val="A89E9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PRD</a:t>
            </a:r>
            <a:endParaRPr lang="en-US" sz="1425" dirty="0"/>
          </a:p>
        </p:txBody>
      </p:sp>
      <p:sp>
        <p:nvSpPr>
          <p:cNvPr id="7" name="Text 5"/>
          <p:cNvSpPr/>
          <p:nvPr/>
        </p:nvSpPr>
        <p:spPr>
          <a:xfrm>
            <a:off x="8562380" y="3581400"/>
            <a:ext cx="1489115" cy="273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spc="114" kern="0" dirty="0">
                <a:solidFill>
                  <a:srgbClr val="A89E9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STACK / ADR</a:t>
            </a:r>
            <a:endParaRPr lang="en-US" sz="1425" dirty="0"/>
          </a:p>
        </p:txBody>
      </p:sp>
      <p:sp>
        <p:nvSpPr>
          <p:cNvPr id="8" name="Text 6"/>
          <p:cNvSpPr/>
          <p:nvPr/>
        </p:nvSpPr>
        <p:spPr>
          <a:xfrm>
            <a:off x="11923961" y="3581400"/>
            <a:ext cx="1183779" cy="273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spc="114" kern="0" dirty="0">
                <a:solidFill>
                  <a:srgbClr val="A89E9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TECH SPEC</a:t>
            </a:r>
            <a:endParaRPr lang="en-US" sz="1425" dirty="0"/>
          </a:p>
        </p:txBody>
      </p:sp>
      <p:sp>
        <p:nvSpPr>
          <p:cNvPr id="9" name="Text 7"/>
          <p:cNvSpPr/>
          <p:nvPr/>
        </p:nvSpPr>
        <p:spPr>
          <a:xfrm>
            <a:off x="15408573" y="3581400"/>
            <a:ext cx="691555" cy="273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spc="114" kern="0" dirty="0">
                <a:solidFill>
                  <a:srgbClr val="A89E9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TASKS</a:t>
            </a:r>
            <a:endParaRPr lang="en-US" sz="1425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14500" y="4076700"/>
            <a:ext cx="14859000" cy="495300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1914525" y="4953000"/>
            <a:ext cx="1314450" cy="533400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 w="19050">
            <a:solidFill>
              <a:srgbClr val="D9D0C4"/>
            </a:solidFill>
            <a:prstDash val="solid"/>
          </a:ln>
          <a:effectLst>
            <a:outerShdw sx="100000" sy="100000" kx="0" ky="0" algn="bl" rotWithShape="0" blurRad="95250" dist="28575" dir="5400000">
              <a:srgbClr val="000000">
                <a:alpha val="5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1895475" y="4972050"/>
            <a:ext cx="1352550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17171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REQ-1</a:t>
            </a:r>
            <a:endParaRPr lang="en-US" sz="1650" dirty="0"/>
          </a:p>
        </p:txBody>
      </p:sp>
      <p:sp>
        <p:nvSpPr>
          <p:cNvPr id="13" name="Shape 10"/>
          <p:cNvSpPr/>
          <p:nvPr/>
        </p:nvSpPr>
        <p:spPr>
          <a:xfrm>
            <a:off x="1914525" y="7620000"/>
            <a:ext cx="1314450" cy="533400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 w="19050">
            <a:solidFill>
              <a:srgbClr val="D9D0C4"/>
            </a:solidFill>
            <a:prstDash val="solid"/>
          </a:ln>
          <a:effectLst>
            <a:outerShdw sx="100000" sy="100000" kx="0" ky="0" algn="bl" rotWithShape="0" blurRad="95250" dist="28575" dir="5400000">
              <a:srgbClr val="000000">
                <a:alpha val="5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1895475" y="7639050"/>
            <a:ext cx="1352550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17171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REQ-2</a:t>
            </a:r>
            <a:endParaRPr lang="en-US" sz="1650" dirty="0"/>
          </a:p>
        </p:txBody>
      </p:sp>
      <p:sp>
        <p:nvSpPr>
          <p:cNvPr id="15" name="Shape 12"/>
          <p:cNvSpPr/>
          <p:nvPr/>
        </p:nvSpPr>
        <p:spPr>
          <a:xfrm>
            <a:off x="5248275" y="4953000"/>
            <a:ext cx="1314450" cy="533400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 w="19050">
            <a:solidFill>
              <a:srgbClr val="D9D0C4"/>
            </a:solidFill>
            <a:prstDash val="solid"/>
          </a:ln>
          <a:effectLst>
            <a:outerShdw sx="100000" sy="100000" kx="0" ky="0" algn="bl" rotWithShape="0" blurRad="95250" dist="28575" dir="5400000">
              <a:srgbClr val="000000">
                <a:alpha val="5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5229225" y="4972050"/>
            <a:ext cx="1352550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17171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PRD-1</a:t>
            </a:r>
            <a:endParaRPr lang="en-US" sz="1650" dirty="0"/>
          </a:p>
        </p:txBody>
      </p:sp>
      <p:sp>
        <p:nvSpPr>
          <p:cNvPr id="17" name="Shape 14"/>
          <p:cNvSpPr/>
          <p:nvPr/>
        </p:nvSpPr>
        <p:spPr>
          <a:xfrm>
            <a:off x="5248275" y="7620000"/>
            <a:ext cx="1314450" cy="533400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 w="19050">
            <a:solidFill>
              <a:srgbClr val="D9D0C4"/>
            </a:solidFill>
            <a:prstDash val="solid"/>
          </a:ln>
          <a:effectLst>
            <a:outerShdw sx="100000" sy="100000" kx="0" ky="0" algn="bl" rotWithShape="0" blurRad="95250" dist="28575" dir="5400000">
              <a:srgbClr val="000000">
                <a:alpha val="5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5229225" y="7639050"/>
            <a:ext cx="1352550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17171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PRD-2</a:t>
            </a:r>
            <a:endParaRPr lang="en-US" sz="1650" dirty="0"/>
          </a:p>
        </p:txBody>
      </p:sp>
      <p:sp>
        <p:nvSpPr>
          <p:cNvPr id="19" name="Shape 16"/>
          <p:cNvSpPr/>
          <p:nvPr/>
        </p:nvSpPr>
        <p:spPr>
          <a:xfrm>
            <a:off x="8582025" y="6286500"/>
            <a:ext cx="1314450" cy="533400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 w="19050">
            <a:solidFill>
              <a:srgbClr val="D9D0C4"/>
            </a:solidFill>
            <a:prstDash val="solid"/>
          </a:ln>
          <a:effectLst>
            <a:outerShdw sx="100000" sy="100000" kx="0" ky="0" algn="bl" rotWithShape="0" blurRad="95250" dist="28575" dir="5400000">
              <a:srgbClr val="000000">
                <a:alpha val="5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8562975" y="6305550"/>
            <a:ext cx="1352550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17171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ADR-1</a:t>
            </a:r>
            <a:endParaRPr lang="en-US" sz="1650" dirty="0"/>
          </a:p>
        </p:txBody>
      </p:sp>
      <p:sp>
        <p:nvSpPr>
          <p:cNvPr id="21" name="Shape 18"/>
          <p:cNvSpPr/>
          <p:nvPr/>
        </p:nvSpPr>
        <p:spPr>
          <a:xfrm>
            <a:off x="11820525" y="4953000"/>
            <a:ext cx="1314450" cy="533400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 w="19050">
            <a:solidFill>
              <a:srgbClr val="D9D0C4"/>
            </a:solidFill>
            <a:prstDash val="solid"/>
          </a:ln>
          <a:effectLst>
            <a:outerShdw sx="100000" sy="100000" kx="0" ky="0" algn="bl" rotWithShape="0" blurRad="95250" dist="28575" dir="5400000">
              <a:srgbClr val="000000">
                <a:alpha val="5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11801475" y="4972050"/>
            <a:ext cx="1352550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17171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SPEC-1</a:t>
            </a:r>
            <a:endParaRPr lang="en-US" sz="1650" dirty="0"/>
          </a:p>
        </p:txBody>
      </p:sp>
      <p:sp>
        <p:nvSpPr>
          <p:cNvPr id="23" name="Shape 20"/>
          <p:cNvSpPr/>
          <p:nvPr/>
        </p:nvSpPr>
        <p:spPr>
          <a:xfrm>
            <a:off x="11820525" y="7620000"/>
            <a:ext cx="1314450" cy="533400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 w="19050">
            <a:solidFill>
              <a:srgbClr val="D9D0C4"/>
            </a:solidFill>
            <a:prstDash val="solid"/>
          </a:ln>
          <a:effectLst>
            <a:outerShdw sx="100000" sy="100000" kx="0" ky="0" algn="bl" rotWithShape="0" blurRad="95250" dist="28575" dir="5400000">
              <a:srgbClr val="000000">
                <a:alpha val="5000"/>
              </a:srgbClr>
            </a:outerShdw>
          </a:effectLst>
        </p:spPr>
      </p:sp>
      <p:sp>
        <p:nvSpPr>
          <p:cNvPr id="24" name="Text 21"/>
          <p:cNvSpPr/>
          <p:nvPr/>
        </p:nvSpPr>
        <p:spPr>
          <a:xfrm>
            <a:off x="11801475" y="7639050"/>
            <a:ext cx="1352550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17171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SPEC-2</a:t>
            </a:r>
            <a:endParaRPr lang="en-US" sz="1650" dirty="0"/>
          </a:p>
        </p:txBody>
      </p:sp>
      <p:sp>
        <p:nvSpPr>
          <p:cNvPr id="25" name="Shape 22"/>
          <p:cNvSpPr/>
          <p:nvPr/>
        </p:nvSpPr>
        <p:spPr>
          <a:xfrm>
            <a:off x="15059025" y="4476750"/>
            <a:ext cx="1314450" cy="533400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 w="19050">
            <a:solidFill>
              <a:srgbClr val="D9D0C4"/>
            </a:solidFill>
            <a:prstDash val="solid"/>
          </a:ln>
          <a:effectLst>
            <a:outerShdw sx="100000" sy="100000" kx="0" ky="0" algn="bl" rotWithShape="0" blurRad="95250" dist="28575" dir="5400000">
              <a:srgbClr val="000000">
                <a:alpha val="5000"/>
              </a:srgbClr>
            </a:outerShdw>
          </a:effectLst>
        </p:spPr>
      </p:sp>
      <p:sp>
        <p:nvSpPr>
          <p:cNvPr id="26" name="Text 23"/>
          <p:cNvSpPr/>
          <p:nvPr/>
        </p:nvSpPr>
        <p:spPr>
          <a:xfrm>
            <a:off x="15039975" y="4495800"/>
            <a:ext cx="1352550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17171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TASK-1</a:t>
            </a:r>
            <a:endParaRPr lang="en-US" sz="1650" dirty="0"/>
          </a:p>
        </p:txBody>
      </p:sp>
      <p:sp>
        <p:nvSpPr>
          <p:cNvPr id="27" name="Shape 24"/>
          <p:cNvSpPr/>
          <p:nvPr/>
        </p:nvSpPr>
        <p:spPr>
          <a:xfrm>
            <a:off x="15059025" y="6286500"/>
            <a:ext cx="1314450" cy="533400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 w="19050">
            <a:solidFill>
              <a:srgbClr val="D9D0C4"/>
            </a:solidFill>
            <a:prstDash val="solid"/>
          </a:ln>
          <a:effectLst>
            <a:outerShdw sx="100000" sy="100000" kx="0" ky="0" algn="bl" rotWithShape="0" blurRad="95250" dist="28575" dir="5400000">
              <a:srgbClr val="000000">
                <a:alpha val="5000"/>
              </a:srgbClr>
            </a:outerShdw>
          </a:effectLst>
        </p:spPr>
      </p:sp>
      <p:sp>
        <p:nvSpPr>
          <p:cNvPr id="28" name="Text 25"/>
          <p:cNvSpPr/>
          <p:nvPr/>
        </p:nvSpPr>
        <p:spPr>
          <a:xfrm>
            <a:off x="15039975" y="6305550"/>
            <a:ext cx="1352550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17171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TASK-2</a:t>
            </a:r>
            <a:endParaRPr lang="en-US" sz="1650" dirty="0"/>
          </a:p>
        </p:txBody>
      </p:sp>
      <p:sp>
        <p:nvSpPr>
          <p:cNvPr id="29" name="Shape 26"/>
          <p:cNvSpPr/>
          <p:nvPr/>
        </p:nvSpPr>
        <p:spPr>
          <a:xfrm>
            <a:off x="15059025" y="8096250"/>
            <a:ext cx="1314450" cy="533400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 w="19050">
            <a:solidFill>
              <a:srgbClr val="D9D0C4"/>
            </a:solidFill>
            <a:prstDash val="solid"/>
          </a:ln>
          <a:effectLst>
            <a:outerShdw sx="100000" sy="100000" kx="0" ky="0" algn="bl" rotWithShape="0" blurRad="95250" dist="28575" dir="5400000">
              <a:srgbClr val="000000">
                <a:alpha val="5000"/>
              </a:srgbClr>
            </a:outerShdw>
          </a:effectLst>
        </p:spPr>
      </p:sp>
      <p:sp>
        <p:nvSpPr>
          <p:cNvPr id="30" name="Text 27"/>
          <p:cNvSpPr/>
          <p:nvPr/>
        </p:nvSpPr>
        <p:spPr>
          <a:xfrm>
            <a:off x="15039975" y="8115300"/>
            <a:ext cx="1352550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17171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TASK-3</a:t>
            </a:r>
            <a:endParaRPr lang="en-US" sz="1650" dirty="0"/>
          </a:p>
        </p:txBody>
      </p:sp>
      <p:sp>
        <p:nvSpPr>
          <p:cNvPr id="31" name="Text 28"/>
          <p:cNvSpPr/>
          <p:nvPr/>
        </p:nvSpPr>
        <p:spPr>
          <a:xfrm>
            <a:off x="1143000" y="9601200"/>
            <a:ext cx="715764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-33" kern="0" dirty="0">
                <a:solidFill>
                  <a:srgbClr val="17171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buzzin</a:t>
            </a:r>
            <a:endParaRPr lang="en-US" sz="1650" dirty="0"/>
          </a:p>
        </p:txBody>
      </p:sp>
      <p:sp>
        <p:nvSpPr>
          <p:cNvPr id="32" name="Text 29"/>
          <p:cNvSpPr/>
          <p:nvPr/>
        </p:nvSpPr>
        <p:spPr>
          <a:xfrm>
            <a:off x="11411645" y="9632950"/>
            <a:ext cx="6306691" cy="241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72" kern="0" dirty="0">
                <a:solidFill>
                  <a:srgbClr val="A89E9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edges: derives_from · satisfies · constrains · implements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838200"/>
            <a:ext cx="17602200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96" kern="0" dirty="0">
                <a:solidFill>
                  <a:srgbClr val="C4122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ENGINE 1 · READINESS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43000" y="1327150"/>
            <a:ext cx="17602200" cy="7444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5400" dirty="0">
                <a:solidFill>
                  <a:srgbClr val="171717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You can't advance until it's actually ready.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1143000" y="3352800"/>
            <a:ext cx="8382000" cy="273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spc="86" kern="0" dirty="0">
                <a:solidFill>
                  <a:srgbClr val="A89E9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BUZZIN ASKS THE GAP-CLOSING QUESTION</a:t>
            </a:r>
            <a:endParaRPr lang="en-US" sz="1425" dirty="0"/>
          </a:p>
        </p:txBody>
      </p:sp>
      <p:sp>
        <p:nvSpPr>
          <p:cNvPr id="5" name="Shape 3"/>
          <p:cNvSpPr/>
          <p:nvPr/>
        </p:nvSpPr>
        <p:spPr>
          <a:xfrm>
            <a:off x="1143000" y="3778250"/>
            <a:ext cx="7620000" cy="2020392"/>
          </a:xfrm>
          <a:prstGeom prst="roundRect">
            <a:avLst>
              <a:gd name="adj" fmla="val 66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90500" dist="57150" dir="5400000">
              <a:srgbClr val="000000">
                <a:alpha val="4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143000" y="5792292"/>
            <a:ext cx="7620000" cy="9525"/>
          </a:xfrm>
          <a:prstGeom prst="rect">
            <a:avLst/>
          </a:prstGeom>
          <a:solidFill>
            <a:srgbClr val="E5DED4"/>
          </a:solidFill>
          <a:ln/>
        </p:spPr>
      </p:sp>
      <p:sp>
        <p:nvSpPr>
          <p:cNvPr id="7" name="Shape 5"/>
          <p:cNvSpPr/>
          <p:nvPr/>
        </p:nvSpPr>
        <p:spPr>
          <a:xfrm>
            <a:off x="1143000" y="3778250"/>
            <a:ext cx="7620000" cy="9525"/>
          </a:xfrm>
          <a:prstGeom prst="rect">
            <a:avLst/>
          </a:prstGeom>
          <a:solidFill>
            <a:srgbClr val="E5DED4"/>
          </a:solidFill>
          <a:ln/>
        </p:spPr>
      </p:sp>
      <p:sp>
        <p:nvSpPr>
          <p:cNvPr id="8" name="Shape 6"/>
          <p:cNvSpPr/>
          <p:nvPr/>
        </p:nvSpPr>
        <p:spPr>
          <a:xfrm>
            <a:off x="1143000" y="3778250"/>
            <a:ext cx="44450" cy="2020392"/>
          </a:xfrm>
          <a:prstGeom prst="rect">
            <a:avLst/>
          </a:prstGeom>
          <a:solidFill>
            <a:srgbClr val="C4122E"/>
          </a:solidFill>
          <a:ln/>
        </p:spPr>
      </p:sp>
      <p:sp>
        <p:nvSpPr>
          <p:cNvPr id="9" name="Shape 7"/>
          <p:cNvSpPr/>
          <p:nvPr/>
        </p:nvSpPr>
        <p:spPr>
          <a:xfrm>
            <a:off x="8756650" y="3778250"/>
            <a:ext cx="9525" cy="2020392"/>
          </a:xfrm>
          <a:prstGeom prst="rect">
            <a:avLst/>
          </a:prstGeom>
          <a:solidFill>
            <a:srgbClr val="E5DED4"/>
          </a:solidFill>
          <a:ln/>
        </p:spPr>
      </p:sp>
      <p:sp>
        <p:nvSpPr>
          <p:cNvPr id="10" name="Text 8"/>
          <p:cNvSpPr/>
          <p:nvPr/>
        </p:nvSpPr>
        <p:spPr>
          <a:xfrm>
            <a:off x="1530350" y="4108450"/>
            <a:ext cx="7089902" cy="13980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550" dirty="0">
                <a:solidFill>
                  <a:srgbClr val="171717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"You've told me </a:t>
            </a:r>
            <a:pPr algn="l" indent="0" marL="0">
              <a:lnSpc>
                <a:spcPct val="140000"/>
              </a:lnSpc>
              <a:buNone/>
            </a:pPr>
            <a:r>
              <a:rPr lang="en-US" sz="2550" i="1" dirty="0">
                <a:solidFill>
                  <a:srgbClr val="171717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what </a:t>
            </a:r>
            <a:pPr algn="l" indent="0" marL="0">
              <a:lnSpc>
                <a:spcPct val="140000"/>
              </a:lnSpc>
              <a:buNone/>
            </a:pPr>
            <a:r>
              <a:rPr lang="en-US" sz="2550" dirty="0">
                <a:solidFill>
                  <a:srgbClr val="171717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and </a:t>
            </a:r>
            <a:pPr algn="l" indent="0" marL="0">
              <a:lnSpc>
                <a:spcPct val="140000"/>
              </a:lnSpc>
              <a:buNone/>
            </a:pPr>
            <a:r>
              <a:rPr lang="en-US" sz="2550" i="1" dirty="0">
                <a:solidFill>
                  <a:srgbClr val="171717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for whom </a:t>
            </a:r>
            <a:pPr algn="l" indent="0" marL="0">
              <a:lnSpc>
                <a:spcPct val="140000"/>
              </a:lnSpc>
              <a:buNone/>
            </a:pPr>
            <a:r>
              <a:rPr lang="en-US" sz="2550" dirty="0">
                <a:solidFill>
                  <a:srgbClr val="171717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. To move on, how will we know it worked — what's the one measurable success metric?"</a:t>
            </a:r>
            <a:endParaRPr lang="en-US" sz="2550" dirty="0"/>
          </a:p>
        </p:txBody>
      </p:sp>
      <p:sp>
        <p:nvSpPr>
          <p:cNvPr id="11" name="Text 9"/>
          <p:cNvSpPr/>
          <p:nvPr/>
        </p:nvSpPr>
        <p:spPr>
          <a:xfrm>
            <a:off x="1143000" y="6122491"/>
            <a:ext cx="7848600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950" dirty="0">
                <a:solidFill>
                  <a:srgbClr val="4A443C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No blank "is this good enough?" — the rubric knows exactly which dimension is short, and asks for that.</a:t>
            </a:r>
            <a:endParaRPr lang="en-US" sz="1950" dirty="0"/>
          </a:p>
        </p:txBody>
      </p:sp>
      <p:sp>
        <p:nvSpPr>
          <p:cNvPr id="12" name="Shape 10"/>
          <p:cNvSpPr/>
          <p:nvPr/>
        </p:nvSpPr>
        <p:spPr>
          <a:xfrm>
            <a:off x="9906000" y="3352800"/>
            <a:ext cx="7239000" cy="5476875"/>
          </a:xfrm>
          <a:prstGeom prst="roundRect">
            <a:avLst>
              <a:gd name="adj" fmla="val 2783"/>
            </a:avLst>
          </a:prstGeom>
          <a:solidFill>
            <a:srgbClr val="FFFFFF"/>
          </a:solidFill>
          <a:ln w="6350">
            <a:solidFill>
              <a:srgbClr val="E5DED4"/>
            </a:solidFill>
            <a:prstDash val="solid"/>
          </a:ln>
          <a:effectLst>
            <a:outerShdw sx="100000" sy="100000" kx="0" ky="0" algn="bl" rotWithShape="0" blurRad="285750" dist="95250" dir="5400000">
              <a:srgbClr val="000000">
                <a:alpha val="6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10293351" y="3702050"/>
            <a:ext cx="3421231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71717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Requirements readiness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16186150" y="3740150"/>
            <a:ext cx="64770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8A827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 / 5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10293351" y="4140200"/>
            <a:ext cx="6464300" cy="9525"/>
          </a:xfrm>
          <a:prstGeom prst="rect">
            <a:avLst/>
          </a:prstGeom>
          <a:solidFill>
            <a:srgbClr val="EEE6DA"/>
          </a:solidFill>
          <a:ln/>
        </p:spPr>
      </p:sp>
      <p:sp>
        <p:nvSpPr>
          <p:cNvPr id="16" name="Shape 14"/>
          <p:cNvSpPr/>
          <p:nvPr/>
        </p:nvSpPr>
        <p:spPr>
          <a:xfrm>
            <a:off x="10293351" y="4873625"/>
            <a:ext cx="6464300" cy="9525"/>
          </a:xfrm>
          <a:prstGeom prst="rect">
            <a:avLst/>
          </a:prstGeom>
          <a:solidFill>
            <a:srgbClr val="F2ECE2"/>
          </a:solidFill>
          <a:ln/>
        </p:spPr>
      </p:sp>
      <p:sp>
        <p:nvSpPr>
          <p:cNvPr id="17" name="Shape 15"/>
          <p:cNvSpPr/>
          <p:nvPr/>
        </p:nvSpPr>
        <p:spPr>
          <a:xfrm>
            <a:off x="10293351" y="4473575"/>
            <a:ext cx="152400" cy="152400"/>
          </a:xfrm>
          <a:prstGeom prst="ellipse">
            <a:avLst/>
          </a:prstGeom>
          <a:solidFill>
            <a:srgbClr val="1E8E4E"/>
          </a:solidFill>
          <a:ln/>
        </p:spPr>
      </p:sp>
      <p:sp>
        <p:nvSpPr>
          <p:cNvPr id="18" name="Text 16"/>
          <p:cNvSpPr/>
          <p:nvPr/>
        </p:nvSpPr>
        <p:spPr>
          <a:xfrm>
            <a:off x="10617201" y="4406900"/>
            <a:ext cx="5968683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171717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Problem clarity</a:t>
            </a:r>
            <a:endParaRPr lang="en-US" sz="1875" dirty="0"/>
          </a:p>
        </p:txBody>
      </p:sp>
      <p:sp>
        <p:nvSpPr>
          <p:cNvPr id="19" name="Text 17"/>
          <p:cNvSpPr/>
          <p:nvPr/>
        </p:nvSpPr>
        <p:spPr>
          <a:xfrm>
            <a:off x="16214725" y="4432300"/>
            <a:ext cx="619125" cy="273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1E8E4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GREEN</a:t>
            </a:r>
            <a:endParaRPr lang="en-US" sz="1425" dirty="0"/>
          </a:p>
        </p:txBody>
      </p:sp>
      <p:sp>
        <p:nvSpPr>
          <p:cNvPr id="20" name="Shape 18"/>
          <p:cNvSpPr/>
          <p:nvPr/>
        </p:nvSpPr>
        <p:spPr>
          <a:xfrm>
            <a:off x="10293351" y="5527675"/>
            <a:ext cx="6464300" cy="9525"/>
          </a:xfrm>
          <a:prstGeom prst="rect">
            <a:avLst/>
          </a:prstGeom>
          <a:solidFill>
            <a:srgbClr val="F2ECE2"/>
          </a:solidFill>
          <a:ln/>
        </p:spPr>
      </p:sp>
      <p:sp>
        <p:nvSpPr>
          <p:cNvPr id="21" name="Shape 19"/>
          <p:cNvSpPr/>
          <p:nvPr/>
        </p:nvSpPr>
        <p:spPr>
          <a:xfrm>
            <a:off x="10293351" y="5127625"/>
            <a:ext cx="152400" cy="152400"/>
          </a:xfrm>
          <a:prstGeom prst="ellipse">
            <a:avLst/>
          </a:prstGeom>
          <a:solidFill>
            <a:srgbClr val="1E8E4E"/>
          </a:solidFill>
          <a:ln/>
        </p:spPr>
      </p:sp>
      <p:sp>
        <p:nvSpPr>
          <p:cNvPr id="22" name="Text 20"/>
          <p:cNvSpPr/>
          <p:nvPr/>
        </p:nvSpPr>
        <p:spPr>
          <a:xfrm>
            <a:off x="10617201" y="5060950"/>
            <a:ext cx="5968683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171717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Target users</a:t>
            </a:r>
            <a:endParaRPr lang="en-US" sz="1875" dirty="0"/>
          </a:p>
        </p:txBody>
      </p:sp>
      <p:sp>
        <p:nvSpPr>
          <p:cNvPr id="23" name="Text 21"/>
          <p:cNvSpPr/>
          <p:nvPr/>
        </p:nvSpPr>
        <p:spPr>
          <a:xfrm>
            <a:off x="16214725" y="5086350"/>
            <a:ext cx="619125" cy="273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1E8E4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GREEN</a:t>
            </a:r>
            <a:endParaRPr lang="en-US" sz="1425" dirty="0"/>
          </a:p>
        </p:txBody>
      </p:sp>
      <p:sp>
        <p:nvSpPr>
          <p:cNvPr id="24" name="Shape 22"/>
          <p:cNvSpPr/>
          <p:nvPr/>
        </p:nvSpPr>
        <p:spPr>
          <a:xfrm>
            <a:off x="10293351" y="6181725"/>
            <a:ext cx="6464300" cy="9525"/>
          </a:xfrm>
          <a:prstGeom prst="rect">
            <a:avLst/>
          </a:prstGeom>
          <a:solidFill>
            <a:srgbClr val="F2ECE2"/>
          </a:solidFill>
          <a:ln/>
        </p:spPr>
      </p:sp>
      <p:sp>
        <p:nvSpPr>
          <p:cNvPr id="25" name="Shape 23"/>
          <p:cNvSpPr/>
          <p:nvPr/>
        </p:nvSpPr>
        <p:spPr>
          <a:xfrm>
            <a:off x="10293351" y="5781675"/>
            <a:ext cx="152400" cy="152400"/>
          </a:xfrm>
          <a:prstGeom prst="ellipse">
            <a:avLst/>
          </a:prstGeom>
          <a:solidFill>
            <a:srgbClr val="E0A500"/>
          </a:solidFill>
          <a:ln/>
        </p:spPr>
      </p:sp>
      <p:sp>
        <p:nvSpPr>
          <p:cNvPr id="26" name="Text 24"/>
          <p:cNvSpPr/>
          <p:nvPr/>
        </p:nvSpPr>
        <p:spPr>
          <a:xfrm>
            <a:off x="10617201" y="5715000"/>
            <a:ext cx="5968683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171717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Success metric</a:t>
            </a:r>
            <a:endParaRPr lang="en-US" sz="1875" dirty="0"/>
          </a:p>
        </p:txBody>
      </p:sp>
      <p:sp>
        <p:nvSpPr>
          <p:cNvPr id="27" name="Text 25"/>
          <p:cNvSpPr/>
          <p:nvPr/>
        </p:nvSpPr>
        <p:spPr>
          <a:xfrm>
            <a:off x="16214725" y="5740400"/>
            <a:ext cx="619125" cy="273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E0A50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AMBER</a:t>
            </a:r>
            <a:endParaRPr lang="en-US" sz="1425" dirty="0"/>
          </a:p>
        </p:txBody>
      </p:sp>
      <p:sp>
        <p:nvSpPr>
          <p:cNvPr id="28" name="Shape 26"/>
          <p:cNvSpPr/>
          <p:nvPr/>
        </p:nvSpPr>
        <p:spPr>
          <a:xfrm>
            <a:off x="10293351" y="6835775"/>
            <a:ext cx="6464300" cy="9525"/>
          </a:xfrm>
          <a:prstGeom prst="rect">
            <a:avLst/>
          </a:prstGeom>
          <a:solidFill>
            <a:srgbClr val="F2ECE2"/>
          </a:solidFill>
          <a:ln/>
        </p:spPr>
      </p:sp>
      <p:sp>
        <p:nvSpPr>
          <p:cNvPr id="29" name="Shape 27"/>
          <p:cNvSpPr/>
          <p:nvPr/>
        </p:nvSpPr>
        <p:spPr>
          <a:xfrm>
            <a:off x="10293351" y="6435725"/>
            <a:ext cx="152400" cy="152400"/>
          </a:xfrm>
          <a:prstGeom prst="ellipse">
            <a:avLst/>
          </a:prstGeom>
          <a:solidFill>
            <a:srgbClr val="E0A500"/>
          </a:solidFill>
          <a:ln/>
        </p:spPr>
      </p:sp>
      <p:sp>
        <p:nvSpPr>
          <p:cNvPr id="30" name="Text 28"/>
          <p:cNvSpPr/>
          <p:nvPr/>
        </p:nvSpPr>
        <p:spPr>
          <a:xfrm>
            <a:off x="10617201" y="6369050"/>
            <a:ext cx="5968683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171717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Scope boundaries</a:t>
            </a:r>
            <a:endParaRPr lang="en-US" sz="1875" dirty="0"/>
          </a:p>
        </p:txBody>
      </p:sp>
      <p:sp>
        <p:nvSpPr>
          <p:cNvPr id="31" name="Text 29"/>
          <p:cNvSpPr/>
          <p:nvPr/>
        </p:nvSpPr>
        <p:spPr>
          <a:xfrm>
            <a:off x="16214725" y="6394450"/>
            <a:ext cx="619125" cy="273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E0A50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AMBER</a:t>
            </a:r>
            <a:endParaRPr lang="en-US" sz="1425" dirty="0"/>
          </a:p>
        </p:txBody>
      </p:sp>
      <p:sp>
        <p:nvSpPr>
          <p:cNvPr id="32" name="Shape 30"/>
          <p:cNvSpPr/>
          <p:nvPr/>
        </p:nvSpPr>
        <p:spPr>
          <a:xfrm>
            <a:off x="10293351" y="7089775"/>
            <a:ext cx="152400" cy="152400"/>
          </a:xfrm>
          <a:prstGeom prst="ellipse">
            <a:avLst/>
          </a:prstGeom>
          <a:solidFill>
            <a:srgbClr val="1E8E4E"/>
          </a:solidFill>
          <a:ln/>
        </p:spPr>
      </p:sp>
      <p:sp>
        <p:nvSpPr>
          <p:cNvPr id="33" name="Text 31"/>
          <p:cNvSpPr/>
          <p:nvPr/>
        </p:nvSpPr>
        <p:spPr>
          <a:xfrm>
            <a:off x="10617201" y="7023100"/>
            <a:ext cx="5968683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171717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Constraints</a:t>
            </a:r>
            <a:endParaRPr lang="en-US" sz="1875" dirty="0"/>
          </a:p>
        </p:txBody>
      </p:sp>
      <p:sp>
        <p:nvSpPr>
          <p:cNvPr id="34" name="Text 32"/>
          <p:cNvSpPr/>
          <p:nvPr/>
        </p:nvSpPr>
        <p:spPr>
          <a:xfrm>
            <a:off x="16214725" y="7048500"/>
            <a:ext cx="619125" cy="273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1E8E4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GREEN</a:t>
            </a:r>
            <a:endParaRPr lang="en-US" sz="1425" dirty="0"/>
          </a:p>
        </p:txBody>
      </p:sp>
      <p:sp>
        <p:nvSpPr>
          <p:cNvPr id="35" name="Shape 33"/>
          <p:cNvSpPr/>
          <p:nvPr/>
        </p:nvSpPr>
        <p:spPr>
          <a:xfrm>
            <a:off x="10293351" y="7737475"/>
            <a:ext cx="6464300" cy="742950"/>
          </a:xfrm>
          <a:prstGeom prst="roundRect">
            <a:avLst>
              <a:gd name="adj" fmla="val 15385"/>
            </a:avLst>
          </a:prstGeom>
          <a:solidFill>
            <a:srgbClr val="F4EEE4"/>
          </a:solidFill>
          <a:ln w="6350">
            <a:solidFill>
              <a:srgbClr val="CBBFAE"/>
            </a:solidFill>
            <a:prstDash val="dash"/>
          </a:ln>
        </p:spPr>
      </p:sp>
      <p:sp>
        <p:nvSpPr>
          <p:cNvPr id="36" name="Text 34"/>
          <p:cNvSpPr/>
          <p:nvPr/>
        </p:nvSpPr>
        <p:spPr>
          <a:xfrm>
            <a:off x="11399243" y="7953375"/>
            <a:ext cx="390128" cy="349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A89E9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🔒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11846521" y="7956550"/>
            <a:ext cx="4185761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A89E90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Advance — locked until all-green</a:t>
            </a:r>
            <a:endParaRPr lang="en-US" sz="1950" dirty="0"/>
          </a:p>
        </p:txBody>
      </p:sp>
      <p:sp>
        <p:nvSpPr>
          <p:cNvPr id="38" name="Text 36"/>
          <p:cNvSpPr/>
          <p:nvPr/>
        </p:nvSpPr>
        <p:spPr>
          <a:xfrm>
            <a:off x="1143000" y="9601200"/>
            <a:ext cx="715764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-33" kern="0" dirty="0">
                <a:solidFill>
                  <a:srgbClr val="17171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buzzin</a:t>
            </a:r>
            <a:endParaRPr lang="en-US" sz="1650" dirty="0"/>
          </a:p>
        </p:txBody>
      </p:sp>
      <p:sp>
        <p:nvSpPr>
          <p:cNvPr id="39" name="Text 37"/>
          <p:cNvSpPr/>
          <p:nvPr/>
        </p:nvSpPr>
        <p:spPr>
          <a:xfrm>
            <a:off x="14831517" y="9632950"/>
            <a:ext cx="2544832" cy="241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72" kern="0" dirty="0">
                <a:solidFill>
                  <a:srgbClr val="A89E9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CONFIDENTIAL · INTERNAL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717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838200"/>
            <a:ext cx="17602200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96" kern="0" dirty="0">
                <a:solidFill>
                  <a:srgbClr val="FFC72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ENGINE 2 · IMPACT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43000" y="1327150"/>
            <a:ext cx="17602200" cy="7444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5400" dirty="0">
                <a:solidFill>
                  <a:srgbClr val="F7F3EE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Change one thing. See everything it touches.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1143000" y="2262088"/>
            <a:ext cx="14225588" cy="8114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100" dirty="0">
                <a:solidFill>
                  <a:srgbClr val="BCB3A7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Edit a node and Buzzin walks the graph, flags every stale or contradicted neighbour, and suggests a fix — nothing silently rots.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1833364" y="3581400"/>
            <a:ext cx="1624449" cy="273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spc="114" kern="0" dirty="0">
                <a:solidFill>
                  <a:srgbClr val="6F665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REQUIREMENTS</a:t>
            </a:r>
            <a:endParaRPr lang="en-US" sz="1425" dirty="0"/>
          </a:p>
        </p:txBody>
      </p:sp>
      <p:sp>
        <p:nvSpPr>
          <p:cNvPr id="6" name="Text 4"/>
          <p:cNvSpPr/>
          <p:nvPr/>
        </p:nvSpPr>
        <p:spPr>
          <a:xfrm>
            <a:off x="5720904" y="3581400"/>
            <a:ext cx="445393" cy="273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spc="114" kern="0" dirty="0">
                <a:solidFill>
                  <a:srgbClr val="6F665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PRD</a:t>
            </a:r>
            <a:endParaRPr lang="en-US" sz="1425" dirty="0"/>
          </a:p>
        </p:txBody>
      </p:sp>
      <p:sp>
        <p:nvSpPr>
          <p:cNvPr id="7" name="Text 5"/>
          <p:cNvSpPr/>
          <p:nvPr/>
        </p:nvSpPr>
        <p:spPr>
          <a:xfrm>
            <a:off x="8562380" y="3581400"/>
            <a:ext cx="1489115" cy="273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spc="114" kern="0" dirty="0">
                <a:solidFill>
                  <a:srgbClr val="FFC72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STACK / ADR</a:t>
            </a:r>
            <a:endParaRPr lang="en-US" sz="1425" dirty="0"/>
          </a:p>
        </p:txBody>
      </p:sp>
      <p:sp>
        <p:nvSpPr>
          <p:cNvPr id="8" name="Text 6"/>
          <p:cNvSpPr/>
          <p:nvPr/>
        </p:nvSpPr>
        <p:spPr>
          <a:xfrm>
            <a:off x="11923961" y="3581400"/>
            <a:ext cx="1183779" cy="273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spc="114" kern="0" dirty="0">
                <a:solidFill>
                  <a:srgbClr val="6F665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TECH SPEC</a:t>
            </a:r>
            <a:endParaRPr lang="en-US" sz="1425" dirty="0"/>
          </a:p>
        </p:txBody>
      </p:sp>
      <p:sp>
        <p:nvSpPr>
          <p:cNvPr id="9" name="Text 7"/>
          <p:cNvSpPr/>
          <p:nvPr/>
        </p:nvSpPr>
        <p:spPr>
          <a:xfrm>
            <a:off x="15408573" y="3581400"/>
            <a:ext cx="691555" cy="273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spc="114" kern="0" dirty="0">
                <a:solidFill>
                  <a:srgbClr val="6F665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TASKS</a:t>
            </a:r>
            <a:endParaRPr lang="en-US" sz="1425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14500" y="4076700"/>
            <a:ext cx="14859000" cy="495300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1914525" y="4953000"/>
            <a:ext cx="1314450" cy="533400"/>
          </a:xfrm>
          <a:prstGeom prst="roundRect">
            <a:avLst>
              <a:gd name="adj" fmla="val 17857"/>
            </a:avLst>
          </a:prstGeom>
          <a:solidFill>
            <a:srgbClr val="221D19"/>
          </a:solidFill>
          <a:ln w="19050">
            <a:solidFill>
              <a:srgbClr val="3A332D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895475" y="4972050"/>
            <a:ext cx="1352550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8F857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REQ-1</a:t>
            </a:r>
            <a:endParaRPr lang="en-US" sz="1650" dirty="0"/>
          </a:p>
        </p:txBody>
      </p:sp>
      <p:sp>
        <p:nvSpPr>
          <p:cNvPr id="13" name="Shape 10"/>
          <p:cNvSpPr/>
          <p:nvPr/>
        </p:nvSpPr>
        <p:spPr>
          <a:xfrm>
            <a:off x="1914525" y="7620000"/>
            <a:ext cx="1314450" cy="533400"/>
          </a:xfrm>
          <a:prstGeom prst="roundRect">
            <a:avLst>
              <a:gd name="adj" fmla="val 17857"/>
            </a:avLst>
          </a:prstGeom>
          <a:solidFill>
            <a:srgbClr val="221D19"/>
          </a:solidFill>
          <a:ln w="19050">
            <a:solidFill>
              <a:srgbClr val="3A332D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895475" y="7639050"/>
            <a:ext cx="1352550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8F857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REQ-2</a:t>
            </a:r>
            <a:endParaRPr lang="en-US" sz="1650" dirty="0"/>
          </a:p>
        </p:txBody>
      </p:sp>
      <p:sp>
        <p:nvSpPr>
          <p:cNvPr id="15" name="Shape 12"/>
          <p:cNvSpPr/>
          <p:nvPr/>
        </p:nvSpPr>
        <p:spPr>
          <a:xfrm>
            <a:off x="5248275" y="4953000"/>
            <a:ext cx="1314450" cy="533400"/>
          </a:xfrm>
          <a:prstGeom prst="roundRect">
            <a:avLst>
              <a:gd name="adj" fmla="val 17857"/>
            </a:avLst>
          </a:prstGeom>
          <a:solidFill>
            <a:srgbClr val="221D19"/>
          </a:solidFill>
          <a:ln w="19050">
            <a:solidFill>
              <a:srgbClr val="3A332D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229225" y="4972050"/>
            <a:ext cx="1352550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8F857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PRD-1</a:t>
            </a:r>
            <a:endParaRPr lang="en-US" sz="1650" dirty="0"/>
          </a:p>
        </p:txBody>
      </p:sp>
      <p:sp>
        <p:nvSpPr>
          <p:cNvPr id="17" name="Shape 14"/>
          <p:cNvSpPr/>
          <p:nvPr/>
        </p:nvSpPr>
        <p:spPr>
          <a:xfrm>
            <a:off x="5248275" y="7620000"/>
            <a:ext cx="1314450" cy="533400"/>
          </a:xfrm>
          <a:prstGeom prst="roundRect">
            <a:avLst>
              <a:gd name="adj" fmla="val 17857"/>
            </a:avLst>
          </a:prstGeom>
          <a:solidFill>
            <a:srgbClr val="221D19"/>
          </a:solidFill>
          <a:ln w="19050">
            <a:solidFill>
              <a:srgbClr val="3A332D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229225" y="7639050"/>
            <a:ext cx="1352550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8F857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PRD-2</a:t>
            </a:r>
            <a:endParaRPr lang="en-US" sz="1650" dirty="0"/>
          </a:p>
        </p:txBody>
      </p:sp>
      <p:sp>
        <p:nvSpPr>
          <p:cNvPr id="19" name="Shape 16"/>
          <p:cNvSpPr/>
          <p:nvPr/>
        </p:nvSpPr>
        <p:spPr>
          <a:xfrm>
            <a:off x="8582025" y="6286500"/>
            <a:ext cx="1314450" cy="533400"/>
          </a:xfrm>
          <a:prstGeom prst="roundRect">
            <a:avLst>
              <a:gd name="adj" fmla="val 17857"/>
            </a:avLst>
          </a:prstGeom>
          <a:solidFill>
            <a:srgbClr val="C4122E"/>
          </a:solidFill>
          <a:ln w="19050">
            <a:solidFill>
              <a:srgbClr val="C4122E"/>
            </a:solidFill>
            <a:prstDash val="solid"/>
          </a:ln>
          <a:effectLst>
            <a:outerShdw sx="100000" sy="100000" kx="0" ky="0" algn="bl" rotWithShape="0" blurRad="101600" dist="50800" dir="16200000">
              <a:srgbClr val="C4122E">
                <a:alpha val="14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8562975" y="6305550"/>
            <a:ext cx="1352550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ADR-1</a:t>
            </a:r>
            <a:endParaRPr lang="en-US" sz="1650" dirty="0"/>
          </a:p>
        </p:txBody>
      </p:sp>
      <p:sp>
        <p:nvSpPr>
          <p:cNvPr id="21" name="Shape 18"/>
          <p:cNvSpPr/>
          <p:nvPr/>
        </p:nvSpPr>
        <p:spPr>
          <a:xfrm>
            <a:off x="11820525" y="4953000"/>
            <a:ext cx="1314450" cy="533400"/>
          </a:xfrm>
          <a:prstGeom prst="roundRect">
            <a:avLst>
              <a:gd name="adj" fmla="val 17857"/>
            </a:avLst>
          </a:prstGeom>
          <a:solidFill>
            <a:srgbClr val="FFF3D0"/>
          </a:solidFill>
          <a:ln w="19050">
            <a:solidFill>
              <a:srgbClr val="E0A500"/>
            </a:solidFill>
            <a:prstDash val="solid"/>
          </a:ln>
          <a:effectLst>
            <a:outerShdw sx="100000" sy="100000" kx="0" ky="0" algn="bl" rotWithShape="0" blurRad="101600" dist="50800" dir="16200000">
              <a:srgbClr val="E0A500">
                <a:alpha val="12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11801475" y="4972050"/>
            <a:ext cx="1352550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7A5B0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SPEC-1</a:t>
            </a:r>
            <a:endParaRPr lang="en-US" sz="1650" dirty="0"/>
          </a:p>
        </p:txBody>
      </p:sp>
      <p:sp>
        <p:nvSpPr>
          <p:cNvPr id="23" name="Shape 20"/>
          <p:cNvSpPr/>
          <p:nvPr/>
        </p:nvSpPr>
        <p:spPr>
          <a:xfrm>
            <a:off x="11820525" y="7620000"/>
            <a:ext cx="1314450" cy="533400"/>
          </a:xfrm>
          <a:prstGeom prst="roundRect">
            <a:avLst>
              <a:gd name="adj" fmla="val 17857"/>
            </a:avLst>
          </a:prstGeom>
          <a:solidFill>
            <a:srgbClr val="FFF3D0"/>
          </a:solidFill>
          <a:ln w="19050">
            <a:solidFill>
              <a:srgbClr val="E0A500"/>
            </a:solidFill>
            <a:prstDash val="solid"/>
          </a:ln>
          <a:effectLst>
            <a:outerShdw sx="100000" sy="100000" kx="0" ky="0" algn="bl" rotWithShape="0" blurRad="101600" dist="50800" dir="16200000">
              <a:srgbClr val="E0A500">
                <a:alpha val="12000"/>
              </a:srgbClr>
            </a:outerShdw>
          </a:effectLst>
        </p:spPr>
      </p:sp>
      <p:sp>
        <p:nvSpPr>
          <p:cNvPr id="24" name="Text 21"/>
          <p:cNvSpPr/>
          <p:nvPr/>
        </p:nvSpPr>
        <p:spPr>
          <a:xfrm>
            <a:off x="11801475" y="7639050"/>
            <a:ext cx="1352550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7A5B0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SPEC-2</a:t>
            </a:r>
            <a:endParaRPr lang="en-US" sz="1650" dirty="0"/>
          </a:p>
        </p:txBody>
      </p:sp>
      <p:sp>
        <p:nvSpPr>
          <p:cNvPr id="25" name="Shape 22"/>
          <p:cNvSpPr/>
          <p:nvPr/>
        </p:nvSpPr>
        <p:spPr>
          <a:xfrm>
            <a:off x="15059025" y="4476750"/>
            <a:ext cx="1314450" cy="533400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 w="19050">
            <a:solidFill>
              <a:srgbClr val="D9D0C4"/>
            </a:solidFill>
            <a:prstDash val="solid"/>
          </a:ln>
          <a:effectLst>
            <a:outerShdw sx="100000" sy="100000" kx="0" ky="0" algn="bl" rotWithShape="0" blurRad="101600" dist="50800" dir="16200000">
              <a:srgbClr val="E0A500">
                <a:alpha val="10000"/>
              </a:srgbClr>
            </a:outerShdw>
          </a:effectLst>
        </p:spPr>
      </p:sp>
      <p:sp>
        <p:nvSpPr>
          <p:cNvPr id="26" name="Text 23"/>
          <p:cNvSpPr/>
          <p:nvPr/>
        </p:nvSpPr>
        <p:spPr>
          <a:xfrm>
            <a:off x="15039975" y="4495800"/>
            <a:ext cx="1352550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17171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TASK-1</a:t>
            </a:r>
            <a:endParaRPr lang="en-US" sz="1650" dirty="0"/>
          </a:p>
        </p:txBody>
      </p:sp>
      <p:sp>
        <p:nvSpPr>
          <p:cNvPr id="27" name="Shape 24"/>
          <p:cNvSpPr/>
          <p:nvPr/>
        </p:nvSpPr>
        <p:spPr>
          <a:xfrm>
            <a:off x="15059025" y="6286500"/>
            <a:ext cx="1314450" cy="533400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 w="19050">
            <a:solidFill>
              <a:srgbClr val="D9D0C4"/>
            </a:solidFill>
            <a:prstDash val="solid"/>
          </a:ln>
          <a:effectLst>
            <a:outerShdw sx="100000" sy="100000" kx="0" ky="0" algn="bl" rotWithShape="0" blurRad="101600" dist="50800" dir="16200000">
              <a:srgbClr val="E0A500">
                <a:alpha val="10000"/>
              </a:srgbClr>
            </a:outerShdw>
          </a:effectLst>
        </p:spPr>
      </p:sp>
      <p:sp>
        <p:nvSpPr>
          <p:cNvPr id="28" name="Text 25"/>
          <p:cNvSpPr/>
          <p:nvPr/>
        </p:nvSpPr>
        <p:spPr>
          <a:xfrm>
            <a:off x="15039975" y="6305550"/>
            <a:ext cx="1352550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17171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TASK-2</a:t>
            </a:r>
            <a:endParaRPr lang="en-US" sz="1650" dirty="0"/>
          </a:p>
        </p:txBody>
      </p:sp>
      <p:sp>
        <p:nvSpPr>
          <p:cNvPr id="29" name="Shape 26"/>
          <p:cNvSpPr/>
          <p:nvPr/>
        </p:nvSpPr>
        <p:spPr>
          <a:xfrm>
            <a:off x="15059025" y="8096250"/>
            <a:ext cx="1314450" cy="533400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 w="19050">
            <a:solidFill>
              <a:srgbClr val="D9D0C4"/>
            </a:solidFill>
            <a:prstDash val="solid"/>
          </a:ln>
          <a:effectLst>
            <a:outerShdw sx="100000" sy="100000" kx="0" ky="0" algn="bl" rotWithShape="0" blurRad="101600" dist="50800" dir="16200000">
              <a:srgbClr val="E0A500">
                <a:alpha val="10000"/>
              </a:srgbClr>
            </a:outerShdw>
          </a:effectLst>
        </p:spPr>
      </p:sp>
      <p:sp>
        <p:nvSpPr>
          <p:cNvPr id="30" name="Text 27"/>
          <p:cNvSpPr/>
          <p:nvPr/>
        </p:nvSpPr>
        <p:spPr>
          <a:xfrm>
            <a:off x="15039975" y="8115300"/>
            <a:ext cx="1352550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17171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TASK-3</a:t>
            </a:r>
            <a:endParaRPr lang="en-US" sz="1650" dirty="0"/>
          </a:p>
        </p:txBody>
      </p:sp>
      <p:sp>
        <p:nvSpPr>
          <p:cNvPr id="31" name="Text 28"/>
          <p:cNvSpPr/>
          <p:nvPr/>
        </p:nvSpPr>
        <p:spPr>
          <a:xfrm>
            <a:off x="1143000" y="9601200"/>
            <a:ext cx="715764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-33" kern="0" dirty="0">
                <a:solidFill>
                  <a:srgbClr val="F7F3E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buzzin</a:t>
            </a:r>
            <a:endParaRPr lang="en-US" sz="1650" dirty="0"/>
          </a:p>
        </p:txBody>
      </p:sp>
      <p:sp>
        <p:nvSpPr>
          <p:cNvPr id="32" name="Text 29"/>
          <p:cNvSpPr/>
          <p:nvPr/>
        </p:nvSpPr>
        <p:spPr>
          <a:xfrm>
            <a:off x="14034492" y="9632950"/>
            <a:ext cx="3421559" cy="241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72" kern="0" dirty="0">
                <a:solidFill>
                  <a:srgbClr val="E0A50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● </a:t>
            </a:r>
            <a:pPr algn="l" indent="0" marL="0">
              <a:buNone/>
            </a:pPr>
            <a:r>
              <a:rPr lang="en-US" sz="1200" spc="72" kern="0" dirty="0">
                <a:solidFill>
                  <a:srgbClr val="6F665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flagged stale · fix suggested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838200"/>
            <a:ext cx="17602200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96" kern="0" dirty="0">
                <a:solidFill>
                  <a:srgbClr val="C4122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GROUNDED IN OUR RULES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43000" y="1327150"/>
            <a:ext cx="17602200" cy="7444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5400" dirty="0">
                <a:solidFill>
                  <a:srgbClr val="171717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It reasons inside our guardrails, not the internet's.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1143000" y="3429000"/>
            <a:ext cx="880110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spc="90" kern="0" dirty="0">
                <a:solidFill>
                  <a:srgbClr val="A89E9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TECH RADAR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1143000" y="3905250"/>
            <a:ext cx="8001000" cy="755650"/>
          </a:xfrm>
          <a:prstGeom prst="roundRect">
            <a:avLst>
              <a:gd name="adj" fmla="val 15126"/>
            </a:avLst>
          </a:prstGeom>
          <a:solidFill>
            <a:srgbClr val="FFFFFF"/>
          </a:solidFill>
          <a:ln w="6350">
            <a:solidFill>
              <a:srgbClr val="E5DED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416050" y="4146550"/>
            <a:ext cx="1123950" cy="311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1E8E4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ADOPT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2673350" y="4140200"/>
            <a:ext cx="681736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4A443C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Preferred — the advisor reaches for these first.</a:t>
            </a:r>
            <a:endParaRPr lang="en-US" sz="1875" dirty="0"/>
          </a:p>
        </p:txBody>
      </p:sp>
      <p:sp>
        <p:nvSpPr>
          <p:cNvPr id="8" name="Shape 6"/>
          <p:cNvSpPr/>
          <p:nvPr/>
        </p:nvSpPr>
        <p:spPr>
          <a:xfrm>
            <a:off x="1143000" y="4832350"/>
            <a:ext cx="8001000" cy="755650"/>
          </a:xfrm>
          <a:prstGeom prst="roundRect">
            <a:avLst>
              <a:gd name="adj" fmla="val 15126"/>
            </a:avLst>
          </a:prstGeom>
          <a:solidFill>
            <a:srgbClr val="FFFFFF"/>
          </a:solidFill>
          <a:ln w="6350">
            <a:solidFill>
              <a:srgbClr val="E5DED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416050" y="5073650"/>
            <a:ext cx="1123950" cy="311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E0A50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TRIAL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2673350" y="5067300"/>
            <a:ext cx="681736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4A443C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Allowed with a caveat and a named fallback.</a:t>
            </a:r>
            <a:endParaRPr lang="en-US" sz="1875" dirty="0"/>
          </a:p>
        </p:txBody>
      </p:sp>
      <p:sp>
        <p:nvSpPr>
          <p:cNvPr id="11" name="Shape 9"/>
          <p:cNvSpPr/>
          <p:nvPr/>
        </p:nvSpPr>
        <p:spPr>
          <a:xfrm>
            <a:off x="1143000" y="5759450"/>
            <a:ext cx="8001000" cy="755650"/>
          </a:xfrm>
          <a:prstGeom prst="roundRect">
            <a:avLst>
              <a:gd name="adj" fmla="val 15126"/>
            </a:avLst>
          </a:prstGeom>
          <a:solidFill>
            <a:srgbClr val="FFFFFF"/>
          </a:solidFill>
          <a:ln w="6350">
            <a:solidFill>
              <a:srgbClr val="E5DED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416050" y="6000750"/>
            <a:ext cx="1123950" cy="311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C4122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HOLD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2673350" y="5994400"/>
            <a:ext cx="681736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4A443C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Blocked — cannot be chosen, no exceptions.</a:t>
            </a:r>
            <a:endParaRPr lang="en-US" sz="1875" dirty="0"/>
          </a:p>
        </p:txBody>
      </p:sp>
      <p:sp>
        <p:nvSpPr>
          <p:cNvPr id="14" name="Text 12"/>
          <p:cNvSpPr/>
          <p:nvPr/>
        </p:nvSpPr>
        <p:spPr>
          <a:xfrm>
            <a:off x="9525000" y="3429000"/>
            <a:ext cx="838200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spc="90" kern="0" dirty="0">
                <a:solidFill>
                  <a:srgbClr val="A89E9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HARD COMPLIANCE CONSTRAINTS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9525000" y="3905250"/>
            <a:ext cx="2086273" cy="635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/>
        </p:spPr>
      </p:sp>
      <p:sp>
        <p:nvSpPr>
          <p:cNvPr id="16" name="Shape 14"/>
          <p:cNvSpPr/>
          <p:nvPr/>
        </p:nvSpPr>
        <p:spPr>
          <a:xfrm>
            <a:off x="9525000" y="4533900"/>
            <a:ext cx="2086273" cy="9525"/>
          </a:xfrm>
          <a:prstGeom prst="rect">
            <a:avLst/>
          </a:prstGeom>
          <a:solidFill>
            <a:srgbClr val="E5DED4"/>
          </a:solidFill>
          <a:ln/>
        </p:spPr>
      </p:sp>
      <p:sp>
        <p:nvSpPr>
          <p:cNvPr id="17" name="Shape 15"/>
          <p:cNvSpPr/>
          <p:nvPr/>
        </p:nvSpPr>
        <p:spPr>
          <a:xfrm>
            <a:off x="9525000" y="3905250"/>
            <a:ext cx="2086273" cy="9525"/>
          </a:xfrm>
          <a:prstGeom prst="rect">
            <a:avLst/>
          </a:prstGeom>
          <a:solidFill>
            <a:srgbClr val="E5DED4"/>
          </a:solidFill>
          <a:ln/>
        </p:spPr>
      </p:sp>
      <p:sp>
        <p:nvSpPr>
          <p:cNvPr id="18" name="Shape 16"/>
          <p:cNvSpPr/>
          <p:nvPr/>
        </p:nvSpPr>
        <p:spPr>
          <a:xfrm>
            <a:off x="9525000" y="3905250"/>
            <a:ext cx="38100" cy="635000"/>
          </a:xfrm>
          <a:prstGeom prst="rect">
            <a:avLst/>
          </a:prstGeom>
          <a:solidFill>
            <a:srgbClr val="C4122E"/>
          </a:solidFill>
          <a:ln/>
        </p:spPr>
      </p:sp>
      <p:sp>
        <p:nvSpPr>
          <p:cNvPr id="19" name="Shape 17"/>
          <p:cNvSpPr/>
          <p:nvPr/>
        </p:nvSpPr>
        <p:spPr>
          <a:xfrm>
            <a:off x="11604923" y="3905250"/>
            <a:ext cx="9525" cy="635000"/>
          </a:xfrm>
          <a:prstGeom prst="rect">
            <a:avLst/>
          </a:prstGeom>
          <a:solidFill>
            <a:srgbClr val="E5DED4"/>
          </a:solidFill>
          <a:ln/>
        </p:spPr>
      </p:sp>
      <p:sp>
        <p:nvSpPr>
          <p:cNvPr id="20" name="Text 18"/>
          <p:cNvSpPr/>
          <p:nvPr/>
        </p:nvSpPr>
        <p:spPr>
          <a:xfrm>
            <a:off x="9791700" y="4083050"/>
            <a:ext cx="1660823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71717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Data residency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11763673" y="3905250"/>
            <a:ext cx="2715717" cy="635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/>
        </p:spPr>
      </p:sp>
      <p:sp>
        <p:nvSpPr>
          <p:cNvPr id="22" name="Shape 20"/>
          <p:cNvSpPr/>
          <p:nvPr/>
        </p:nvSpPr>
        <p:spPr>
          <a:xfrm>
            <a:off x="11763673" y="4533900"/>
            <a:ext cx="2715717" cy="9525"/>
          </a:xfrm>
          <a:prstGeom prst="rect">
            <a:avLst/>
          </a:prstGeom>
          <a:solidFill>
            <a:srgbClr val="E5DED4"/>
          </a:solidFill>
          <a:ln/>
        </p:spPr>
      </p:sp>
      <p:sp>
        <p:nvSpPr>
          <p:cNvPr id="23" name="Shape 21"/>
          <p:cNvSpPr/>
          <p:nvPr/>
        </p:nvSpPr>
        <p:spPr>
          <a:xfrm>
            <a:off x="11763673" y="3905250"/>
            <a:ext cx="2715717" cy="9525"/>
          </a:xfrm>
          <a:prstGeom prst="rect">
            <a:avLst/>
          </a:prstGeom>
          <a:solidFill>
            <a:srgbClr val="E5DED4"/>
          </a:solidFill>
          <a:ln/>
        </p:spPr>
      </p:sp>
      <p:sp>
        <p:nvSpPr>
          <p:cNvPr id="24" name="Shape 22"/>
          <p:cNvSpPr/>
          <p:nvPr/>
        </p:nvSpPr>
        <p:spPr>
          <a:xfrm>
            <a:off x="11763673" y="3905250"/>
            <a:ext cx="38100" cy="635000"/>
          </a:xfrm>
          <a:prstGeom prst="rect">
            <a:avLst/>
          </a:prstGeom>
          <a:solidFill>
            <a:srgbClr val="C4122E"/>
          </a:solidFill>
          <a:ln/>
        </p:spPr>
      </p:sp>
      <p:sp>
        <p:nvSpPr>
          <p:cNvPr id="25" name="Shape 23"/>
          <p:cNvSpPr/>
          <p:nvPr/>
        </p:nvSpPr>
        <p:spPr>
          <a:xfrm>
            <a:off x="14473039" y="3905250"/>
            <a:ext cx="9525" cy="635000"/>
          </a:xfrm>
          <a:prstGeom prst="rect">
            <a:avLst/>
          </a:prstGeom>
          <a:solidFill>
            <a:srgbClr val="E5DED4"/>
          </a:solidFill>
          <a:ln/>
        </p:spPr>
      </p:sp>
      <p:sp>
        <p:nvSpPr>
          <p:cNvPr id="26" name="Text 24"/>
          <p:cNvSpPr/>
          <p:nvPr/>
        </p:nvSpPr>
        <p:spPr>
          <a:xfrm>
            <a:off x="12030373" y="4083050"/>
            <a:ext cx="2295538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71717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PII encryption at rest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14631789" y="3905250"/>
            <a:ext cx="1917402" cy="635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/>
        </p:spPr>
      </p:sp>
      <p:sp>
        <p:nvSpPr>
          <p:cNvPr id="28" name="Shape 26"/>
          <p:cNvSpPr/>
          <p:nvPr/>
        </p:nvSpPr>
        <p:spPr>
          <a:xfrm>
            <a:off x="14631789" y="4533900"/>
            <a:ext cx="1917402" cy="9525"/>
          </a:xfrm>
          <a:prstGeom prst="rect">
            <a:avLst/>
          </a:prstGeom>
          <a:solidFill>
            <a:srgbClr val="E5DED4"/>
          </a:solidFill>
          <a:ln/>
        </p:spPr>
      </p:sp>
      <p:sp>
        <p:nvSpPr>
          <p:cNvPr id="29" name="Shape 27"/>
          <p:cNvSpPr/>
          <p:nvPr/>
        </p:nvSpPr>
        <p:spPr>
          <a:xfrm>
            <a:off x="14631789" y="3905250"/>
            <a:ext cx="1917402" cy="9525"/>
          </a:xfrm>
          <a:prstGeom prst="rect">
            <a:avLst/>
          </a:prstGeom>
          <a:solidFill>
            <a:srgbClr val="E5DED4"/>
          </a:solidFill>
          <a:ln/>
        </p:spPr>
      </p:sp>
      <p:sp>
        <p:nvSpPr>
          <p:cNvPr id="30" name="Shape 28"/>
          <p:cNvSpPr/>
          <p:nvPr/>
        </p:nvSpPr>
        <p:spPr>
          <a:xfrm>
            <a:off x="14631789" y="3905250"/>
            <a:ext cx="38100" cy="635000"/>
          </a:xfrm>
          <a:prstGeom prst="rect">
            <a:avLst/>
          </a:prstGeom>
          <a:solidFill>
            <a:srgbClr val="C4122E"/>
          </a:solidFill>
          <a:ln/>
        </p:spPr>
      </p:sp>
      <p:sp>
        <p:nvSpPr>
          <p:cNvPr id="31" name="Shape 29"/>
          <p:cNvSpPr/>
          <p:nvPr/>
        </p:nvSpPr>
        <p:spPr>
          <a:xfrm>
            <a:off x="16542842" y="3905250"/>
            <a:ext cx="9525" cy="635000"/>
          </a:xfrm>
          <a:prstGeom prst="rect">
            <a:avLst/>
          </a:prstGeom>
          <a:solidFill>
            <a:srgbClr val="E5DED4"/>
          </a:solidFill>
          <a:ln/>
        </p:spPr>
      </p:sp>
      <p:sp>
        <p:nvSpPr>
          <p:cNvPr id="32" name="Text 30"/>
          <p:cNvSpPr/>
          <p:nvPr/>
        </p:nvSpPr>
        <p:spPr>
          <a:xfrm>
            <a:off x="14898489" y="4083050"/>
            <a:ext cx="1491952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71717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Full audit trail</a:t>
            </a:r>
            <a:endParaRPr lang="en-US" sz="1800" dirty="0"/>
          </a:p>
        </p:txBody>
      </p:sp>
      <p:sp>
        <p:nvSpPr>
          <p:cNvPr id="33" name="Shape 31"/>
          <p:cNvSpPr/>
          <p:nvPr/>
        </p:nvSpPr>
        <p:spPr>
          <a:xfrm>
            <a:off x="9525000" y="4692650"/>
            <a:ext cx="2124968" cy="635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/>
        </p:spPr>
      </p:sp>
      <p:sp>
        <p:nvSpPr>
          <p:cNvPr id="34" name="Shape 32"/>
          <p:cNvSpPr/>
          <p:nvPr/>
        </p:nvSpPr>
        <p:spPr>
          <a:xfrm>
            <a:off x="9525000" y="5321300"/>
            <a:ext cx="2124968" cy="9525"/>
          </a:xfrm>
          <a:prstGeom prst="rect">
            <a:avLst/>
          </a:prstGeom>
          <a:solidFill>
            <a:srgbClr val="E5DED4"/>
          </a:solidFill>
          <a:ln/>
        </p:spPr>
      </p:sp>
      <p:sp>
        <p:nvSpPr>
          <p:cNvPr id="35" name="Shape 33"/>
          <p:cNvSpPr/>
          <p:nvPr/>
        </p:nvSpPr>
        <p:spPr>
          <a:xfrm>
            <a:off x="9525000" y="4692650"/>
            <a:ext cx="2124968" cy="9525"/>
          </a:xfrm>
          <a:prstGeom prst="rect">
            <a:avLst/>
          </a:prstGeom>
          <a:solidFill>
            <a:srgbClr val="E5DED4"/>
          </a:solidFill>
          <a:ln/>
        </p:spPr>
      </p:sp>
      <p:sp>
        <p:nvSpPr>
          <p:cNvPr id="36" name="Shape 34"/>
          <p:cNvSpPr/>
          <p:nvPr/>
        </p:nvSpPr>
        <p:spPr>
          <a:xfrm>
            <a:off x="9525000" y="4692650"/>
            <a:ext cx="38100" cy="635000"/>
          </a:xfrm>
          <a:prstGeom prst="rect">
            <a:avLst/>
          </a:prstGeom>
          <a:solidFill>
            <a:srgbClr val="C4122E"/>
          </a:solidFill>
          <a:ln/>
        </p:spPr>
      </p:sp>
      <p:sp>
        <p:nvSpPr>
          <p:cNvPr id="37" name="Shape 35"/>
          <p:cNvSpPr/>
          <p:nvPr/>
        </p:nvSpPr>
        <p:spPr>
          <a:xfrm>
            <a:off x="11643618" y="4692650"/>
            <a:ext cx="9525" cy="635000"/>
          </a:xfrm>
          <a:prstGeom prst="rect">
            <a:avLst/>
          </a:prstGeom>
          <a:solidFill>
            <a:srgbClr val="E5DED4"/>
          </a:solidFill>
          <a:ln/>
        </p:spPr>
      </p:sp>
      <p:sp>
        <p:nvSpPr>
          <p:cNvPr id="38" name="Text 36"/>
          <p:cNvSpPr/>
          <p:nvPr/>
        </p:nvSpPr>
        <p:spPr>
          <a:xfrm>
            <a:off x="9791700" y="4870450"/>
            <a:ext cx="1699518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71717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Vendor risk tier</a:t>
            </a:r>
            <a:endParaRPr lang="en-US" sz="1800" dirty="0"/>
          </a:p>
        </p:txBody>
      </p:sp>
      <p:sp>
        <p:nvSpPr>
          <p:cNvPr id="39" name="Shape 37"/>
          <p:cNvSpPr/>
          <p:nvPr/>
        </p:nvSpPr>
        <p:spPr>
          <a:xfrm>
            <a:off x="11802368" y="4692650"/>
            <a:ext cx="2438102" cy="635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/>
        </p:spPr>
      </p:sp>
      <p:sp>
        <p:nvSpPr>
          <p:cNvPr id="40" name="Shape 38"/>
          <p:cNvSpPr/>
          <p:nvPr/>
        </p:nvSpPr>
        <p:spPr>
          <a:xfrm>
            <a:off x="11802368" y="5321300"/>
            <a:ext cx="2438102" cy="9525"/>
          </a:xfrm>
          <a:prstGeom prst="rect">
            <a:avLst/>
          </a:prstGeom>
          <a:solidFill>
            <a:srgbClr val="E5DED4"/>
          </a:solidFill>
          <a:ln/>
        </p:spPr>
      </p:sp>
      <p:sp>
        <p:nvSpPr>
          <p:cNvPr id="41" name="Shape 39"/>
          <p:cNvSpPr/>
          <p:nvPr/>
        </p:nvSpPr>
        <p:spPr>
          <a:xfrm>
            <a:off x="11802368" y="4692650"/>
            <a:ext cx="2438102" cy="9525"/>
          </a:xfrm>
          <a:prstGeom prst="rect">
            <a:avLst/>
          </a:prstGeom>
          <a:solidFill>
            <a:srgbClr val="E5DED4"/>
          </a:solidFill>
          <a:ln/>
        </p:spPr>
      </p:sp>
      <p:sp>
        <p:nvSpPr>
          <p:cNvPr id="42" name="Shape 40"/>
          <p:cNvSpPr/>
          <p:nvPr/>
        </p:nvSpPr>
        <p:spPr>
          <a:xfrm>
            <a:off x="11802368" y="4692650"/>
            <a:ext cx="38100" cy="635000"/>
          </a:xfrm>
          <a:prstGeom prst="rect">
            <a:avLst/>
          </a:prstGeom>
          <a:solidFill>
            <a:srgbClr val="C4122E"/>
          </a:solidFill>
          <a:ln/>
        </p:spPr>
      </p:sp>
      <p:sp>
        <p:nvSpPr>
          <p:cNvPr id="43" name="Shape 41"/>
          <p:cNvSpPr/>
          <p:nvPr/>
        </p:nvSpPr>
        <p:spPr>
          <a:xfrm>
            <a:off x="14234120" y="4692650"/>
            <a:ext cx="9525" cy="635000"/>
          </a:xfrm>
          <a:prstGeom prst="rect">
            <a:avLst/>
          </a:prstGeom>
          <a:solidFill>
            <a:srgbClr val="E5DED4"/>
          </a:solidFill>
          <a:ln/>
        </p:spPr>
      </p:sp>
      <p:sp>
        <p:nvSpPr>
          <p:cNvPr id="44" name="Text 42"/>
          <p:cNvSpPr/>
          <p:nvPr/>
        </p:nvSpPr>
        <p:spPr>
          <a:xfrm>
            <a:off x="12069068" y="4870450"/>
            <a:ext cx="2012652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71717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SOC 2 / regulatory</a:t>
            </a:r>
            <a:endParaRPr lang="en-US" sz="1800" dirty="0"/>
          </a:p>
        </p:txBody>
      </p:sp>
      <p:sp>
        <p:nvSpPr>
          <p:cNvPr id="45" name="Shape 43"/>
          <p:cNvSpPr/>
          <p:nvPr/>
        </p:nvSpPr>
        <p:spPr>
          <a:xfrm>
            <a:off x="9525000" y="5670550"/>
            <a:ext cx="7620000" cy="1409700"/>
          </a:xfrm>
          <a:prstGeom prst="roundRect">
            <a:avLst>
              <a:gd name="adj" fmla="val 9459"/>
            </a:avLst>
          </a:prstGeom>
          <a:solidFill>
            <a:srgbClr val="171717"/>
          </a:solidFill>
          <a:ln/>
        </p:spPr>
      </p:sp>
      <p:sp>
        <p:nvSpPr>
          <p:cNvPr id="46" name="Text 44"/>
          <p:cNvSpPr/>
          <p:nvPr/>
        </p:nvSpPr>
        <p:spPr>
          <a:xfrm>
            <a:off x="9848850" y="5975350"/>
            <a:ext cx="7181469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250" i="1" dirty="0">
                <a:solidFill>
                  <a:srgbClr val="F7F3EE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Violate a hard rule and the advisor </a:t>
            </a:r>
            <a:pPr algn="l" indent="0" marL="0">
              <a:lnSpc>
                <a:spcPct val="140000"/>
              </a:lnSpc>
              <a:buNone/>
            </a:pPr>
            <a:r>
              <a:rPr lang="en-US" sz="2250" i="1" dirty="0">
                <a:solidFill>
                  <a:srgbClr val="FFC72C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escalates the conflict </a:t>
            </a:r>
            <a:pPr algn="l" indent="0" marL="0">
              <a:lnSpc>
                <a:spcPct val="140000"/>
              </a:lnSpc>
              <a:buNone/>
            </a:pPr>
            <a:r>
              <a:rPr lang="en-US" sz="2250" i="1" dirty="0">
                <a:solidFill>
                  <a:srgbClr val="F7F3EE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— it never quietly breaks it.</a:t>
            </a:r>
            <a:endParaRPr lang="en-US" sz="2250" dirty="0"/>
          </a:p>
        </p:txBody>
      </p:sp>
      <p:sp>
        <p:nvSpPr>
          <p:cNvPr id="47" name="Text 45"/>
          <p:cNvSpPr/>
          <p:nvPr/>
        </p:nvSpPr>
        <p:spPr>
          <a:xfrm>
            <a:off x="1143000" y="9601200"/>
            <a:ext cx="715764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-33" kern="0" dirty="0">
                <a:solidFill>
                  <a:srgbClr val="17171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buzzin</a:t>
            </a:r>
            <a:endParaRPr lang="en-US" sz="1650" dirty="0"/>
          </a:p>
        </p:txBody>
      </p:sp>
      <p:sp>
        <p:nvSpPr>
          <p:cNvPr id="48" name="Text 46"/>
          <p:cNvSpPr/>
          <p:nvPr/>
        </p:nvSpPr>
        <p:spPr>
          <a:xfrm>
            <a:off x="14831517" y="9632950"/>
            <a:ext cx="2544832" cy="241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72" kern="0" dirty="0">
                <a:solidFill>
                  <a:srgbClr val="A89E9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CONFIDENTIAL · INTERNAL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717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838200"/>
            <a:ext cx="17602200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96" kern="0" dirty="0">
                <a:solidFill>
                  <a:srgbClr val="FFC72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THE VALUE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43000" y="1327150"/>
            <a:ext cx="17602200" cy="7444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5400" dirty="0">
                <a:solidFill>
                  <a:srgbClr val="F7F3EE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Reclaimed capacity worth </a:t>
            </a:r>
            <a:pPr algn="l" indent="0" marL="0">
              <a:lnSpc>
                <a:spcPct val="103000"/>
              </a:lnSpc>
              <a:buNone/>
            </a:pPr>
            <a:r>
              <a:rPr lang="en-US" sz="5400" dirty="0">
                <a:solidFill>
                  <a:srgbClr val="FFC72C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~$110M a year.</a:t>
            </a:r>
            <a:endParaRPr lang="en-US" sz="5400" dirty="0"/>
          </a:p>
        </p:txBody>
      </p:sp>
      <p:sp>
        <p:nvSpPr>
          <p:cNvPr id="4" name="Shape 2"/>
          <p:cNvSpPr/>
          <p:nvPr/>
        </p:nvSpPr>
        <p:spPr>
          <a:xfrm>
            <a:off x="1143000" y="3543300"/>
            <a:ext cx="3582492" cy="2161381"/>
          </a:xfrm>
          <a:prstGeom prst="roundRect">
            <a:avLst>
              <a:gd name="adj" fmla="val 6170"/>
            </a:avLst>
          </a:prstGeom>
          <a:solidFill>
            <a:srgbClr val="1E1A16"/>
          </a:solidFill>
          <a:ln w="6350">
            <a:solidFill>
              <a:srgbClr val="2F292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435100" y="3873500"/>
            <a:ext cx="3298121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000" dirty="0">
                <a:solidFill>
                  <a:srgbClr val="F7F3EE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5,500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1435100" y="4787900"/>
            <a:ext cx="3088240" cy="6246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50" dirty="0">
                <a:solidFill>
                  <a:srgbClr val="BCB3A7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architects + PMs in scope, junior through Principal / Lead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4896942" y="3543300"/>
            <a:ext cx="290612" cy="21994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3300" dirty="0">
                <a:solidFill>
                  <a:srgbClr val="6F665D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×</a:t>
            </a:r>
            <a:endParaRPr lang="en-US" sz="3300" dirty="0"/>
          </a:p>
        </p:txBody>
      </p:sp>
      <p:sp>
        <p:nvSpPr>
          <p:cNvPr id="8" name="Shape 6"/>
          <p:cNvSpPr/>
          <p:nvPr/>
        </p:nvSpPr>
        <p:spPr>
          <a:xfrm>
            <a:off x="5282803" y="3543300"/>
            <a:ext cx="3582591" cy="2161381"/>
          </a:xfrm>
          <a:prstGeom prst="roundRect">
            <a:avLst>
              <a:gd name="adj" fmla="val 6170"/>
            </a:avLst>
          </a:prstGeom>
          <a:solidFill>
            <a:srgbClr val="1E1A16"/>
          </a:solidFill>
          <a:ln w="6350">
            <a:solidFill>
              <a:srgbClr val="2F292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574903" y="3873500"/>
            <a:ext cx="3298230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000" dirty="0">
                <a:solidFill>
                  <a:srgbClr val="F7F3EE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$225K</a:t>
            </a:r>
            <a:endParaRPr lang="en-US" sz="6000" dirty="0"/>
          </a:p>
        </p:txBody>
      </p:sp>
      <p:sp>
        <p:nvSpPr>
          <p:cNvPr id="10" name="Text 8"/>
          <p:cNvSpPr/>
          <p:nvPr/>
        </p:nvSpPr>
        <p:spPr>
          <a:xfrm>
            <a:off x="5574903" y="4787900"/>
            <a:ext cx="3088343" cy="6246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50" dirty="0">
                <a:solidFill>
                  <a:srgbClr val="BCB3A7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avg total comp, US-anchored estimate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9036844" y="3543300"/>
            <a:ext cx="290612" cy="21994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3300" dirty="0">
                <a:solidFill>
                  <a:srgbClr val="6F665D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×</a:t>
            </a:r>
            <a:endParaRPr lang="en-US" sz="3300" dirty="0"/>
          </a:p>
        </p:txBody>
      </p:sp>
      <p:sp>
        <p:nvSpPr>
          <p:cNvPr id="12" name="Shape 10"/>
          <p:cNvSpPr/>
          <p:nvPr/>
        </p:nvSpPr>
        <p:spPr>
          <a:xfrm>
            <a:off x="9422706" y="3543300"/>
            <a:ext cx="3582492" cy="2161381"/>
          </a:xfrm>
          <a:prstGeom prst="roundRect">
            <a:avLst>
              <a:gd name="adj" fmla="val 6170"/>
            </a:avLst>
          </a:prstGeom>
          <a:solidFill>
            <a:srgbClr val="1E1A16"/>
          </a:solidFill>
          <a:ln w="6350">
            <a:solidFill>
              <a:srgbClr val="2F292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714806" y="3873500"/>
            <a:ext cx="3298121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000" dirty="0">
                <a:solidFill>
                  <a:srgbClr val="F7F3EE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30%</a:t>
            </a:r>
            <a:endParaRPr lang="en-US" sz="6000" dirty="0"/>
          </a:p>
        </p:txBody>
      </p:sp>
      <p:sp>
        <p:nvSpPr>
          <p:cNvPr id="14" name="Text 12"/>
          <p:cNvSpPr/>
          <p:nvPr/>
        </p:nvSpPr>
        <p:spPr>
          <a:xfrm>
            <a:off x="9714806" y="4787900"/>
            <a:ext cx="3088240" cy="6246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50" dirty="0">
                <a:solidFill>
                  <a:srgbClr val="BCB3A7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of their time in the idea → plan → spec cycle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13176647" y="3543300"/>
            <a:ext cx="290612" cy="21994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3300" dirty="0">
                <a:solidFill>
                  <a:srgbClr val="6F665D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×</a:t>
            </a:r>
            <a:endParaRPr lang="en-US" sz="3300" dirty="0"/>
          </a:p>
        </p:txBody>
      </p:sp>
      <p:sp>
        <p:nvSpPr>
          <p:cNvPr id="16" name="Shape 14"/>
          <p:cNvSpPr/>
          <p:nvPr/>
        </p:nvSpPr>
        <p:spPr>
          <a:xfrm>
            <a:off x="13562509" y="3543300"/>
            <a:ext cx="3582492" cy="2161381"/>
          </a:xfrm>
          <a:prstGeom prst="roundRect">
            <a:avLst>
              <a:gd name="adj" fmla="val 6170"/>
            </a:avLst>
          </a:prstGeom>
          <a:solidFill>
            <a:srgbClr val="1E1A16"/>
          </a:solidFill>
          <a:ln w="6350">
            <a:solidFill>
              <a:srgbClr val="2F292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3854609" y="3873500"/>
            <a:ext cx="3298121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000" dirty="0">
                <a:solidFill>
                  <a:srgbClr val="FFC72C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30%</a:t>
            </a:r>
            <a:endParaRPr lang="en-US" sz="6000" dirty="0"/>
          </a:p>
        </p:txBody>
      </p:sp>
      <p:sp>
        <p:nvSpPr>
          <p:cNvPr id="18" name="Text 16"/>
          <p:cNvSpPr/>
          <p:nvPr/>
        </p:nvSpPr>
        <p:spPr>
          <a:xfrm>
            <a:off x="13854609" y="4787900"/>
            <a:ext cx="3298121" cy="3313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50" dirty="0">
                <a:solidFill>
                  <a:srgbClr val="BCB3A7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of that time Buzzin gives back</a:t>
            </a:r>
            <a:endParaRPr lang="en-US" sz="1650" dirty="0"/>
          </a:p>
        </p:txBody>
      </p:sp>
      <p:sp>
        <p:nvSpPr>
          <p:cNvPr id="19" name="Shape 17"/>
          <p:cNvSpPr/>
          <p:nvPr/>
        </p:nvSpPr>
        <p:spPr>
          <a:xfrm>
            <a:off x="1143000" y="6953250"/>
            <a:ext cx="16002000" cy="1850331"/>
          </a:xfrm>
          <a:prstGeom prst="roundRect">
            <a:avLst>
              <a:gd name="adj" fmla="val 9266"/>
            </a:avLst>
          </a:prstGeom>
          <a:solidFill>
            <a:srgbClr val="C4122E"/>
          </a:solidFill>
          <a:ln/>
        </p:spPr>
      </p:sp>
      <p:sp>
        <p:nvSpPr>
          <p:cNvPr id="20" name="Text 18"/>
          <p:cNvSpPr/>
          <p:nvPr/>
        </p:nvSpPr>
        <p:spPr>
          <a:xfrm>
            <a:off x="1638300" y="7315200"/>
            <a:ext cx="6244699" cy="273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spc="171" kern="0" dirty="0">
                <a:solidFill>
                  <a:srgbClr val="FFD9D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= RECLAIMED PLANNING CAPACITY</a:t>
            </a:r>
            <a:endParaRPr lang="en-US" sz="1425" dirty="0"/>
          </a:p>
        </p:txBody>
      </p:sp>
      <p:sp>
        <p:nvSpPr>
          <p:cNvPr id="21" name="Text 19"/>
          <p:cNvSpPr/>
          <p:nvPr/>
        </p:nvSpPr>
        <p:spPr>
          <a:xfrm>
            <a:off x="1638300" y="7645400"/>
            <a:ext cx="6244699" cy="8343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6600" dirty="0">
                <a:solidFill>
                  <a:srgbClr val="FFFFFF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≈ $111M / year</a:t>
            </a:r>
            <a:endParaRPr lang="en-US" sz="6600" dirty="0"/>
          </a:p>
        </p:txBody>
      </p:sp>
      <p:sp>
        <p:nvSpPr>
          <p:cNvPr id="22" name="Text 20"/>
          <p:cNvSpPr/>
          <p:nvPr/>
        </p:nvSpPr>
        <p:spPr>
          <a:xfrm>
            <a:off x="10370820" y="7342584"/>
            <a:ext cx="6278880" cy="1109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50000"/>
              </a:lnSpc>
              <a:buNone/>
            </a:pPr>
            <a:r>
              <a:rPr lang="en-US" sz="1875" dirty="0">
                <a:solidFill>
                  <a:srgbClr val="FFE3E6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Conservative point estimate. Range ≈ </a:t>
            </a:r>
            <a:pPr algn="r" indent="0" marL="0">
              <a:lnSpc>
                <a:spcPct val="150000"/>
              </a:lnSpc>
              <a:buNone/>
            </a:pPr>
            <a:r>
              <a:rPr lang="en-US" sz="1875" b="1" dirty="0">
                <a:solidFill>
                  <a:srgbClr val="FFFFFF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$74M </a:t>
            </a:r>
            <a:pPr algn="r" indent="0" marL="0">
              <a:lnSpc>
                <a:spcPct val="150000"/>
              </a:lnSpc>
              <a:buNone/>
            </a:pPr>
            <a:r>
              <a:rPr lang="en-US" sz="1875" dirty="0">
                <a:solidFill>
                  <a:srgbClr val="FFE3E6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on global-blended comp to </a:t>
            </a:r>
            <a:pPr algn="r" indent="0" marL="0">
              <a:lnSpc>
                <a:spcPct val="150000"/>
              </a:lnSpc>
              <a:buNone/>
            </a:pPr>
            <a:r>
              <a:rPr lang="en-US" sz="1875" b="1" dirty="0">
                <a:solidFill>
                  <a:srgbClr val="FFFFFF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$130M </a:t>
            </a:r>
            <a:pPr algn="r" indent="0" marL="0">
              <a:lnSpc>
                <a:spcPct val="150000"/>
              </a:lnSpc>
              <a:buNone/>
            </a:pPr>
            <a:r>
              <a:rPr lang="en-US" sz="1875" dirty="0">
                <a:solidFill>
                  <a:srgbClr val="FFE3E6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at 35% efficiency — and this is planning only, before faster delivery downstream.</a:t>
            </a:r>
            <a:endParaRPr lang="en-US" sz="1875" dirty="0"/>
          </a:p>
        </p:txBody>
      </p:sp>
      <p:sp>
        <p:nvSpPr>
          <p:cNvPr id="23" name="Text 21"/>
          <p:cNvSpPr/>
          <p:nvPr/>
        </p:nvSpPr>
        <p:spPr>
          <a:xfrm>
            <a:off x="1143000" y="9601200"/>
            <a:ext cx="715764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-33" kern="0" dirty="0">
                <a:solidFill>
                  <a:srgbClr val="F7F3E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buzzin</a:t>
            </a:r>
            <a:endParaRPr lang="en-US" sz="1650" dirty="0"/>
          </a:p>
        </p:txBody>
      </p:sp>
      <p:sp>
        <p:nvSpPr>
          <p:cNvPr id="24" name="Text 22"/>
          <p:cNvSpPr/>
          <p:nvPr/>
        </p:nvSpPr>
        <p:spPr>
          <a:xfrm>
            <a:off x="10606980" y="9632950"/>
            <a:ext cx="7191821" cy="241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72" kern="0" dirty="0">
                <a:solidFill>
                  <a:srgbClr val="6F665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ILLUSTRATIVE · HEADCOUNT &amp; COMP ESTIMATED · VALIDATE WITH FINANCE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3350" cy="10287000"/>
          </a:xfrm>
          <a:prstGeom prst="rect">
            <a:avLst/>
          </a:prstGeom>
          <a:solidFill>
            <a:srgbClr val="C4122E"/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914400"/>
            <a:ext cx="17602200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96" kern="0" dirty="0">
                <a:solidFill>
                  <a:srgbClr val="C4122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WHERE WE ARE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143000" y="1403350"/>
            <a:ext cx="17602200" cy="7836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5700" dirty="0">
                <a:solidFill>
                  <a:srgbClr val="171717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Not a mockup. It runs today.</a:t>
            </a:r>
            <a:endParaRPr lang="en-US" sz="5700" dirty="0"/>
          </a:p>
        </p:txBody>
      </p:sp>
      <p:sp>
        <p:nvSpPr>
          <p:cNvPr id="5" name="Text 3"/>
          <p:cNvSpPr/>
          <p:nvPr/>
        </p:nvSpPr>
        <p:spPr>
          <a:xfrm>
            <a:off x="1143000" y="3600450"/>
            <a:ext cx="304502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1E8E4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✓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580852" y="3600450"/>
            <a:ext cx="7496979" cy="4247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175" dirty="0">
                <a:solidFill>
                  <a:srgbClr val="171717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Five Claude-backed specialist agents, live end-to-end</a:t>
            </a:r>
            <a:endParaRPr lang="en-US" sz="2175" dirty="0"/>
          </a:p>
        </p:txBody>
      </p:sp>
      <p:sp>
        <p:nvSpPr>
          <p:cNvPr id="7" name="Text 5"/>
          <p:cNvSpPr/>
          <p:nvPr/>
        </p:nvSpPr>
        <p:spPr>
          <a:xfrm>
            <a:off x="9572625" y="3600450"/>
            <a:ext cx="304502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1E8E4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✓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0010477" y="3600450"/>
            <a:ext cx="6909038" cy="4247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175" dirty="0">
                <a:solidFill>
                  <a:srgbClr val="171717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Artifact graph with typed edges &amp; version history</a:t>
            </a:r>
            <a:endParaRPr lang="en-US" sz="2175" dirty="0"/>
          </a:p>
        </p:txBody>
      </p:sp>
      <p:sp>
        <p:nvSpPr>
          <p:cNvPr id="9" name="Text 7"/>
          <p:cNvSpPr/>
          <p:nvPr/>
        </p:nvSpPr>
        <p:spPr>
          <a:xfrm>
            <a:off x="1143000" y="4253805"/>
            <a:ext cx="304502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1E8E4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✓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580852" y="4253805"/>
            <a:ext cx="7348558" cy="8114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175" dirty="0">
                <a:solidFill>
                  <a:srgbClr val="171717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Readiness &amp; Impact engines on one consistency checker</a:t>
            </a:r>
            <a:endParaRPr lang="en-US" sz="2175" dirty="0"/>
          </a:p>
        </p:txBody>
      </p:sp>
      <p:sp>
        <p:nvSpPr>
          <p:cNvPr id="11" name="Text 9"/>
          <p:cNvSpPr/>
          <p:nvPr/>
        </p:nvSpPr>
        <p:spPr>
          <a:xfrm>
            <a:off x="9572625" y="4253805"/>
            <a:ext cx="304502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1E8E4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✓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10010477" y="4253805"/>
            <a:ext cx="7021562" cy="4247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175" dirty="0">
                <a:solidFill>
                  <a:srgbClr val="171717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Constrained ADRs — radar + compliance enforced</a:t>
            </a:r>
            <a:endParaRPr lang="en-US" sz="2175" dirty="0"/>
          </a:p>
        </p:txBody>
      </p:sp>
      <p:sp>
        <p:nvSpPr>
          <p:cNvPr id="13" name="Text 11"/>
          <p:cNvSpPr/>
          <p:nvPr/>
        </p:nvSpPr>
        <p:spPr>
          <a:xfrm>
            <a:off x="1143000" y="5293816"/>
            <a:ext cx="304502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1E8E4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✓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1580852" y="5293816"/>
            <a:ext cx="5973049" cy="4247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175" dirty="0">
                <a:solidFill>
                  <a:srgbClr val="171717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FastAPI + SQLite backend, React front end</a:t>
            </a:r>
            <a:endParaRPr lang="en-US" sz="2175" dirty="0"/>
          </a:p>
        </p:txBody>
      </p:sp>
      <p:sp>
        <p:nvSpPr>
          <p:cNvPr id="15" name="Text 13"/>
          <p:cNvSpPr/>
          <p:nvPr/>
        </p:nvSpPr>
        <p:spPr>
          <a:xfrm>
            <a:off x="9572625" y="5293816"/>
            <a:ext cx="304502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1E8E4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✓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10010477" y="5293816"/>
            <a:ext cx="7348558" cy="8114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175" dirty="0">
                <a:solidFill>
                  <a:srgbClr val="171717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Offline test suite green: gate · impact · constraint · traceability</a:t>
            </a:r>
            <a:endParaRPr lang="en-US" sz="2175" dirty="0"/>
          </a:p>
        </p:txBody>
      </p:sp>
      <p:sp>
        <p:nvSpPr>
          <p:cNvPr id="17" name="Text 15"/>
          <p:cNvSpPr/>
          <p:nvPr/>
        </p:nvSpPr>
        <p:spPr>
          <a:xfrm>
            <a:off x="1143000" y="8210550"/>
            <a:ext cx="16482060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i="1" dirty="0">
                <a:solidFill>
                  <a:srgbClr val="4A443C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The hard part — making the intelligence legible and safe — is already proven. What's left is turning a proof-of-concept into a product.</a:t>
            </a:r>
            <a:endParaRPr lang="en-US" sz="2550" dirty="0"/>
          </a:p>
        </p:txBody>
      </p:sp>
      <p:sp>
        <p:nvSpPr>
          <p:cNvPr id="18" name="Text 16"/>
          <p:cNvSpPr/>
          <p:nvPr/>
        </p:nvSpPr>
        <p:spPr>
          <a:xfrm>
            <a:off x="1143000" y="9601200"/>
            <a:ext cx="715764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-33" kern="0" dirty="0">
                <a:solidFill>
                  <a:srgbClr val="17171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buzzin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14831517" y="9632950"/>
            <a:ext cx="2544832" cy="241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72" kern="0" dirty="0">
                <a:solidFill>
                  <a:srgbClr val="A89E9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CONFIDENTIAL · INTERNAL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838200"/>
            <a:ext cx="17602200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96" kern="0" dirty="0">
                <a:solidFill>
                  <a:srgbClr val="C4122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THE PATH FORWARD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43000" y="1327150"/>
            <a:ext cx="17602200" cy="7444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5400" dirty="0">
                <a:solidFill>
                  <a:srgbClr val="171717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From proof-of-concept to platform.</a:t>
            </a:r>
            <a:endParaRPr lang="en-US" sz="5400" dirty="0"/>
          </a:p>
        </p:txBody>
      </p:sp>
      <p:sp>
        <p:nvSpPr>
          <p:cNvPr id="4" name="Shape 2"/>
          <p:cNvSpPr/>
          <p:nvPr/>
        </p:nvSpPr>
        <p:spPr>
          <a:xfrm>
            <a:off x="1143000" y="3543300"/>
            <a:ext cx="3810000" cy="38100"/>
          </a:xfrm>
          <a:prstGeom prst="rect">
            <a:avLst/>
          </a:prstGeom>
          <a:solidFill>
            <a:srgbClr val="C4122E"/>
          </a:solidFill>
          <a:ln/>
        </p:spPr>
      </p:sp>
      <p:sp>
        <p:nvSpPr>
          <p:cNvPr id="5" name="Text 3"/>
          <p:cNvSpPr/>
          <p:nvPr/>
        </p:nvSpPr>
        <p:spPr>
          <a:xfrm>
            <a:off x="1143000" y="3867150"/>
            <a:ext cx="3771900" cy="273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spc="86" kern="0" dirty="0">
                <a:solidFill>
                  <a:srgbClr val="C4122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NOW</a:t>
            </a:r>
            <a:endParaRPr lang="en-US" sz="1425" dirty="0"/>
          </a:p>
        </p:txBody>
      </p:sp>
      <p:sp>
        <p:nvSpPr>
          <p:cNvPr id="6" name="Text 4"/>
          <p:cNvSpPr/>
          <p:nvPr/>
        </p:nvSpPr>
        <p:spPr>
          <a:xfrm>
            <a:off x="1143000" y="4254500"/>
            <a:ext cx="377190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71717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Proven core</a:t>
            </a:r>
            <a:endParaRPr lang="en-US" sz="2250" dirty="0"/>
          </a:p>
        </p:txBody>
      </p:sp>
      <p:sp>
        <p:nvSpPr>
          <p:cNvPr id="7" name="Text 5"/>
          <p:cNvSpPr/>
          <p:nvPr/>
        </p:nvSpPr>
        <p:spPr>
          <a:xfrm>
            <a:off x="1143000" y="4749800"/>
            <a:ext cx="3531870" cy="10239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725" dirty="0">
                <a:solidFill>
                  <a:srgbClr val="4A443C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Single operator, sequential, seeded company profile. The full pipeline works.</a:t>
            </a:r>
            <a:endParaRPr lang="en-US" sz="1725" dirty="0"/>
          </a:p>
        </p:txBody>
      </p:sp>
      <p:sp>
        <p:nvSpPr>
          <p:cNvPr id="8" name="Shape 6"/>
          <p:cNvSpPr/>
          <p:nvPr/>
        </p:nvSpPr>
        <p:spPr>
          <a:xfrm>
            <a:off x="4953000" y="3543300"/>
            <a:ext cx="4191000" cy="38100"/>
          </a:xfrm>
          <a:prstGeom prst="rect">
            <a:avLst/>
          </a:prstGeom>
          <a:solidFill>
            <a:srgbClr val="E0CF9A"/>
          </a:solidFill>
          <a:ln/>
        </p:spPr>
      </p:sp>
      <p:sp>
        <p:nvSpPr>
          <p:cNvPr id="9" name="Text 7"/>
          <p:cNvSpPr/>
          <p:nvPr/>
        </p:nvSpPr>
        <p:spPr>
          <a:xfrm>
            <a:off x="5334000" y="3867150"/>
            <a:ext cx="3771900" cy="273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spc="86" kern="0" dirty="0">
                <a:solidFill>
                  <a:srgbClr val="8A6D0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NEXT</a:t>
            </a:r>
            <a:endParaRPr lang="en-US" sz="1425" dirty="0"/>
          </a:p>
        </p:txBody>
      </p:sp>
      <p:sp>
        <p:nvSpPr>
          <p:cNvPr id="10" name="Text 8"/>
          <p:cNvSpPr/>
          <p:nvPr/>
        </p:nvSpPr>
        <p:spPr>
          <a:xfrm>
            <a:off x="5334000" y="4254500"/>
            <a:ext cx="377190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71717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Workday-aware</a:t>
            </a:r>
            <a:endParaRPr lang="en-US" sz="2250" dirty="0"/>
          </a:p>
        </p:txBody>
      </p:sp>
      <p:sp>
        <p:nvSpPr>
          <p:cNvPr id="11" name="Text 9"/>
          <p:cNvSpPr/>
          <p:nvPr/>
        </p:nvSpPr>
        <p:spPr>
          <a:xfrm>
            <a:off x="5334000" y="4749800"/>
            <a:ext cx="3531870" cy="10239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725" dirty="0">
                <a:solidFill>
                  <a:srgbClr val="4A443C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Detect the operator's role from Workday, auto-applying the right persona and entitlements.</a:t>
            </a:r>
            <a:endParaRPr lang="en-US" sz="1725" dirty="0"/>
          </a:p>
        </p:txBody>
      </p:sp>
      <p:sp>
        <p:nvSpPr>
          <p:cNvPr id="12" name="Shape 10"/>
          <p:cNvSpPr/>
          <p:nvPr/>
        </p:nvSpPr>
        <p:spPr>
          <a:xfrm>
            <a:off x="9144000" y="3543300"/>
            <a:ext cx="4191000" cy="38100"/>
          </a:xfrm>
          <a:prstGeom prst="rect">
            <a:avLst/>
          </a:prstGeom>
          <a:solidFill>
            <a:srgbClr val="E0CF9A"/>
          </a:solidFill>
          <a:ln/>
        </p:spPr>
      </p:sp>
      <p:sp>
        <p:nvSpPr>
          <p:cNvPr id="13" name="Text 11"/>
          <p:cNvSpPr/>
          <p:nvPr/>
        </p:nvSpPr>
        <p:spPr>
          <a:xfrm>
            <a:off x="9525000" y="3867150"/>
            <a:ext cx="3771900" cy="273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spc="86" kern="0" dirty="0">
                <a:solidFill>
                  <a:srgbClr val="8A6D0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THEN</a:t>
            </a:r>
            <a:endParaRPr lang="en-US" sz="1425" dirty="0"/>
          </a:p>
        </p:txBody>
      </p:sp>
      <p:sp>
        <p:nvSpPr>
          <p:cNvPr id="14" name="Text 12"/>
          <p:cNvSpPr/>
          <p:nvPr/>
        </p:nvSpPr>
        <p:spPr>
          <a:xfrm>
            <a:off x="9525000" y="4254500"/>
            <a:ext cx="377190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71717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Connected</a:t>
            </a:r>
            <a:endParaRPr lang="en-US" sz="2250" dirty="0"/>
          </a:p>
        </p:txBody>
      </p:sp>
      <p:sp>
        <p:nvSpPr>
          <p:cNvPr id="15" name="Text 13"/>
          <p:cNvSpPr/>
          <p:nvPr/>
        </p:nvSpPr>
        <p:spPr>
          <a:xfrm>
            <a:off x="9525000" y="4749800"/>
            <a:ext cx="3531870" cy="10239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725" dirty="0">
                <a:solidFill>
                  <a:srgbClr val="4A443C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Multi-user, SSO, and live integrations — Jira, Confluence, ServiceNow.</a:t>
            </a:r>
            <a:endParaRPr lang="en-US" sz="1725" dirty="0"/>
          </a:p>
        </p:txBody>
      </p:sp>
      <p:sp>
        <p:nvSpPr>
          <p:cNvPr id="16" name="Shape 14"/>
          <p:cNvSpPr/>
          <p:nvPr/>
        </p:nvSpPr>
        <p:spPr>
          <a:xfrm>
            <a:off x="13335000" y="3543300"/>
            <a:ext cx="3810000" cy="38100"/>
          </a:xfrm>
          <a:prstGeom prst="rect">
            <a:avLst/>
          </a:prstGeom>
          <a:solidFill>
            <a:srgbClr val="E0CF9A"/>
          </a:solidFill>
          <a:ln/>
        </p:spPr>
      </p:sp>
      <p:sp>
        <p:nvSpPr>
          <p:cNvPr id="17" name="Text 15"/>
          <p:cNvSpPr/>
          <p:nvPr/>
        </p:nvSpPr>
        <p:spPr>
          <a:xfrm>
            <a:off x="13716000" y="3867150"/>
            <a:ext cx="3771900" cy="273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spc="86" kern="0" dirty="0">
                <a:solidFill>
                  <a:srgbClr val="8A6D0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LATER</a:t>
            </a:r>
            <a:endParaRPr lang="en-US" sz="1425" dirty="0"/>
          </a:p>
        </p:txBody>
      </p:sp>
      <p:sp>
        <p:nvSpPr>
          <p:cNvPr id="18" name="Text 16"/>
          <p:cNvSpPr/>
          <p:nvPr/>
        </p:nvSpPr>
        <p:spPr>
          <a:xfrm>
            <a:off x="13716000" y="4254500"/>
            <a:ext cx="377190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71717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Portfolio-scale</a:t>
            </a:r>
            <a:endParaRPr lang="en-US" sz="2250" dirty="0"/>
          </a:p>
        </p:txBody>
      </p:sp>
      <p:sp>
        <p:nvSpPr>
          <p:cNvPr id="19" name="Text 17"/>
          <p:cNvSpPr/>
          <p:nvPr/>
        </p:nvSpPr>
        <p:spPr>
          <a:xfrm>
            <a:off x="13716000" y="4749800"/>
            <a:ext cx="3531870" cy="10239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725" dirty="0">
                <a:solidFill>
                  <a:srgbClr val="4A443C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Impact analysis across many projects — see a change ripple through the whole book of work.</a:t>
            </a:r>
            <a:endParaRPr lang="en-US" sz="1725" dirty="0"/>
          </a:p>
        </p:txBody>
      </p:sp>
      <p:sp>
        <p:nvSpPr>
          <p:cNvPr id="20" name="Text 18"/>
          <p:cNvSpPr/>
          <p:nvPr/>
        </p:nvSpPr>
        <p:spPr>
          <a:xfrm>
            <a:off x="1143000" y="9601200"/>
            <a:ext cx="715764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-33" kern="0" dirty="0">
                <a:solidFill>
                  <a:srgbClr val="17171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buzzin</a:t>
            </a:r>
            <a:endParaRPr lang="en-US" sz="1650" dirty="0"/>
          </a:p>
        </p:txBody>
      </p:sp>
      <p:sp>
        <p:nvSpPr>
          <p:cNvPr id="21" name="Text 19"/>
          <p:cNvSpPr/>
          <p:nvPr/>
        </p:nvSpPr>
        <p:spPr>
          <a:xfrm>
            <a:off x="14831517" y="9632950"/>
            <a:ext cx="2544832" cy="241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72" kern="0" dirty="0">
                <a:solidFill>
                  <a:srgbClr val="A89E9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CONFIDENTIAL · INTERNAL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717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3350" cy="10287000"/>
          </a:xfrm>
          <a:prstGeom prst="rect">
            <a:avLst/>
          </a:prstGeom>
          <a:solidFill>
            <a:srgbClr val="C4122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FFFF">
                  <a:alpha val="3000"/>
                </a:srgbClr>
              </a:gs>
              <a:gs pos="100000">
                <a:srgbClr val="FFFFFF">
                  <a:alpha val="0"/>
                </a:srgbClr>
              </a:gs>
            </a:gsLst>
            <a:lin ang="5400000" scaled="0"/>
          </a:gradFill>
          <a:ln/>
        </p:spPr>
      </p:sp>
      <p:sp>
        <p:nvSpPr>
          <p:cNvPr id="4" name="Text 2"/>
          <p:cNvSpPr/>
          <p:nvPr/>
        </p:nvSpPr>
        <p:spPr>
          <a:xfrm>
            <a:off x="1143000" y="2190750"/>
            <a:ext cx="2257137" cy="914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5400" b="1" spc="-162" kern="0" dirty="0">
                <a:solidFill>
                  <a:srgbClr val="F7F3E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buzzin</a:t>
            </a:r>
            <a:endParaRPr lang="en-US" sz="5400" dirty="0"/>
          </a:p>
        </p:txBody>
      </p:sp>
      <p:sp>
        <p:nvSpPr>
          <p:cNvPr id="5" name="Shape 3"/>
          <p:cNvSpPr/>
          <p:nvPr/>
        </p:nvSpPr>
        <p:spPr>
          <a:xfrm>
            <a:off x="3290193" y="2311400"/>
            <a:ext cx="171450" cy="552450"/>
          </a:xfrm>
          <a:prstGeom prst="rect">
            <a:avLst/>
          </a:prstGeom>
          <a:solidFill>
            <a:srgbClr val="FFC72C"/>
          </a:solidFill>
          <a:ln/>
        </p:spPr>
      </p:sp>
      <p:sp>
        <p:nvSpPr>
          <p:cNvPr id="6" name="Text 4"/>
          <p:cNvSpPr/>
          <p:nvPr/>
        </p:nvSpPr>
        <p:spPr>
          <a:xfrm>
            <a:off x="1143000" y="3409950"/>
            <a:ext cx="16187738" cy="1866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200" dirty="0">
                <a:solidFill>
                  <a:srgbClr val="F7F3EE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The risky part is done. </a:t>
            </a:r>
            <a:pPr algn="l" indent="0" marL="0">
              <a:lnSpc>
                <a:spcPct val="100000"/>
              </a:lnSpc>
              <a:buNone/>
            </a:pPr>
            <a:r>
              <a:rPr lang="en-US" sz="7200" dirty="0">
                <a:solidFill>
                  <a:srgbClr val="FFC72C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Let's build it.</a:t>
            </a:r>
            <a:endParaRPr lang="en-US" sz="7200" dirty="0"/>
          </a:p>
        </p:txBody>
      </p:sp>
      <p:sp>
        <p:nvSpPr>
          <p:cNvPr id="7" name="Text 5"/>
          <p:cNvSpPr/>
          <p:nvPr/>
        </p:nvSpPr>
        <p:spPr>
          <a:xfrm>
            <a:off x="1143000" y="5619750"/>
            <a:ext cx="12263438" cy="1495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550" dirty="0">
                <a:solidFill>
                  <a:srgbClr val="BCB3A7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Give us a focused pilot on one real initiative — a small team and access to our radar + compliance data — and we'll show Buzzin carry it from a sentence to a shippable plan.</a:t>
            </a:r>
            <a:endParaRPr lang="en-US" sz="2550" dirty="0"/>
          </a:p>
        </p:txBody>
      </p:sp>
      <p:sp>
        <p:nvSpPr>
          <p:cNvPr id="8" name="Shape 6"/>
          <p:cNvSpPr/>
          <p:nvPr/>
        </p:nvSpPr>
        <p:spPr>
          <a:xfrm>
            <a:off x="1143000" y="8293100"/>
            <a:ext cx="1594048" cy="755650"/>
          </a:xfrm>
          <a:prstGeom prst="roundRect">
            <a:avLst>
              <a:gd name="adj" fmla="val 15126"/>
            </a:avLst>
          </a:prstGeom>
          <a:solidFill>
            <a:srgbClr val="1E1A16"/>
          </a:solidFill>
          <a:ln w="6350">
            <a:solidFill>
              <a:srgbClr val="2F292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435100" y="8528050"/>
            <a:ext cx="1086048" cy="260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81" kern="0" dirty="0">
                <a:solidFill>
                  <a:srgbClr val="FFC72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THE ASK →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2927549" y="8293100"/>
            <a:ext cx="4612084" cy="755650"/>
          </a:xfrm>
          <a:prstGeom prst="roundRect">
            <a:avLst>
              <a:gd name="adj" fmla="val 15126"/>
            </a:avLst>
          </a:prstGeom>
          <a:solidFill>
            <a:srgbClr val="1E1A16"/>
          </a:solidFill>
          <a:ln w="6350">
            <a:solidFill>
              <a:srgbClr val="2F292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19649" y="8528050"/>
            <a:ext cx="4166247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E7DED3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One real initiative</a:t>
            </a:r>
            <a:endParaRPr lang="en-US" sz="1875" dirty="0"/>
          </a:p>
        </p:txBody>
      </p:sp>
      <p:sp>
        <p:nvSpPr>
          <p:cNvPr id="12" name="Shape 10"/>
          <p:cNvSpPr/>
          <p:nvPr/>
        </p:nvSpPr>
        <p:spPr>
          <a:xfrm>
            <a:off x="7730133" y="8293100"/>
            <a:ext cx="4612184" cy="755650"/>
          </a:xfrm>
          <a:prstGeom prst="roundRect">
            <a:avLst>
              <a:gd name="adj" fmla="val 15126"/>
            </a:avLst>
          </a:prstGeom>
          <a:solidFill>
            <a:srgbClr val="1E1A16"/>
          </a:solidFill>
          <a:ln w="6350">
            <a:solidFill>
              <a:srgbClr val="2F292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022233" y="8528050"/>
            <a:ext cx="4166349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E7DED3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A small build team</a:t>
            </a:r>
            <a:endParaRPr lang="en-US" sz="1875" dirty="0"/>
          </a:p>
        </p:txBody>
      </p:sp>
      <p:sp>
        <p:nvSpPr>
          <p:cNvPr id="14" name="Shape 12"/>
          <p:cNvSpPr/>
          <p:nvPr/>
        </p:nvSpPr>
        <p:spPr>
          <a:xfrm>
            <a:off x="12532816" y="8293100"/>
            <a:ext cx="4612184" cy="755650"/>
          </a:xfrm>
          <a:prstGeom prst="roundRect">
            <a:avLst>
              <a:gd name="adj" fmla="val 15126"/>
            </a:avLst>
          </a:prstGeom>
          <a:solidFill>
            <a:srgbClr val="1E1A16"/>
          </a:solidFill>
          <a:ln w="6350">
            <a:solidFill>
              <a:srgbClr val="2F292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2824916" y="8528050"/>
            <a:ext cx="4166349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E7DED3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Radar + compliance access</a:t>
            </a:r>
            <a:endParaRPr lang="en-US" sz="1875" dirty="0"/>
          </a:p>
        </p:txBody>
      </p:sp>
      <p:sp>
        <p:nvSpPr>
          <p:cNvPr id="16" name="Shape 14"/>
          <p:cNvSpPr/>
          <p:nvPr/>
        </p:nvSpPr>
        <p:spPr>
          <a:xfrm>
            <a:off x="1143000" y="9359900"/>
            <a:ext cx="16002000" cy="9525"/>
          </a:xfrm>
          <a:prstGeom prst="rect">
            <a:avLst/>
          </a:prstGeom>
          <a:solidFill>
            <a:srgbClr val="2F2924"/>
          </a:solidFill>
          <a:ln/>
        </p:spPr>
      </p:sp>
      <p:sp>
        <p:nvSpPr>
          <p:cNvPr id="17" name="Text 15"/>
          <p:cNvSpPr/>
          <p:nvPr/>
        </p:nvSpPr>
        <p:spPr>
          <a:xfrm>
            <a:off x="1143000" y="9613900"/>
            <a:ext cx="5272802" cy="29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BCB3A7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Devin is for developers. </a:t>
            </a:r>
            <a:pPr algn="l" indent="0" marL="0">
              <a:buNone/>
            </a:pPr>
            <a:r>
              <a:rPr lang="en-US" sz="1650" dirty="0">
                <a:solidFill>
                  <a:srgbClr val="FFC72C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Buzzin is for the business.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14761369" y="9639300"/>
            <a:ext cx="2621994" cy="241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96" kern="0" dirty="0">
                <a:solidFill>
                  <a:srgbClr val="6F665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CONFIDENTIAL · INTERNAL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2026-07-01T16:17:16Z</dcterms:created>
  <dcterms:modified xsi:type="dcterms:W3CDTF">2026-07-01T16:17:16Z</dcterms:modified>
</cp:coreProperties>
</file>