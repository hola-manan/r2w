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confidently. This is a proposal to build Buzzin for real. One line: Devin gave engineers an AI teammate; Buzzin gives the business one — it carries an idea from a sentence to a shippable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product starts as a sentence from a business stakeholder. Then it gets handed off — BA to PM to architect to engineering — and at every handoff, context leaks. What ships is rarely what was meant.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lost context is expensive. Industry ranges: rework eats a big share of build effort, and most failed projects trace back to requirements problems. Frame these as directional, not precise — the mechanism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turn. Devin gave every engineer an AI teammate. Buzzin gives the business one. One operator chats their idea in; a team of AI specialists turns it into a plan the way a great cross-functional team would — but nothing gets lost between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workflow. One idea moves through five stages — Requirements, PRD, Stack, Spec, Tasks. The operator switches persona from Business User to Tech Architect as it deepens. Each stage has a gate; you can't advance until the work is actually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 the hood, Buzzin is a team of five AI specialists, each expert at one stage. The key discipline: single-writer. Each specialist can only write its own artifact type, so they collaborate without trampling each other's work — like a well-run team with clear ownership.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Here's the spine that makes it all hold together: the artifact graph. Every node — a requirement, a PRD item, an ADR, a spec component, a task — is linked to the upstream node it came from. Nothing floats free. If a node can't cite where it came from, Buzzin flags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of two signature engines. The Readiness Engine scores the work against an anchored rubric and gates progression — you literally cannot advance until the hard dimensions go green. Instead of a blank 'is this good enough?', Buzzin asks the one question that closes the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second engine, and the one that earns its keep over time. When the architect changes one node — say, supersedes an ADR — Buzzin walks the graph and flags everything downstream that just went stale, with a suggested fix for each. Watch it propagate: the change ripples from the ADR to the specs to the tasks.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is safe for us specifically. Every stack decision is an ADR, constrained to our tech radar and blocked outright if it violates a hard compliance rule. The advisor escalates a conflict instead of silently breaking a rule. It reasons inside our guardrails, not a generic internet's.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it's worth at Wells Fargo scale. Around 5,500 people sit in the architect and product-management ladders, junior through Principal, at roughly 225K average total comp. These roles spend a large share of their week on the idea-to-plan-to-spec cycle — 30% is conservative — and Buzzin gives back about a third of it. Multiply it out: roughly 110 million dollars a year in reclaimed capacity, before any downstream delivery speedup. Illustrative; validate the headcount and comp with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Crucially, this is not a mockup. The full pipeline runs today — five agents, the graph, both engines, constrained ADRs, on a real backend and frontend. The offline test suite is green on the hard acceptance checks: gating, impact, constraint enforcement, and traceability.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goes from here. Today it's a single operator on a seeded profile. Next, we detect the operator's role from Workday and auto-apply the right persona and entitlements. Then multi-user and live integrations — Jira, Confluence, ServiceNow. Then portfolio-level impact across many projects.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ask. The risky part is proven. Give us a focused pilot — one real initiative, a small team, and access to our radar and compliance data — and we'll show Buzzin carrying it from a sentence to a task plan. Let's build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3350" cy="10287000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85825"/>
            <a:ext cx="1237506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spc="-66" kern="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4573250" y="762000"/>
            <a:ext cx="2286000" cy="1524000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-7480" b="-7480"/>
          <a:stretch/>
        </p:blipFill>
        <p:spPr>
          <a:xfrm>
            <a:off x="14573250" y="762000"/>
            <a:ext cx="2286000" cy="1524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3067050"/>
            <a:ext cx="1728787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432" kern="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INTERNAL PROPOSAL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143000" y="3733800"/>
            <a:ext cx="16187738" cy="20565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7350" spc="-73" kern="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 teammate for the people who </a:t>
            </a:r>
            <a:pPr algn="l" indent="0" marL="0">
              <a:lnSpc>
                <a:spcPct val="102000"/>
              </a:lnSpc>
              <a:buNone/>
            </a:pPr>
            <a:r>
              <a:rPr lang="en-US" sz="7350" i="1" spc="-73" kern="0" dirty="0">
                <a:solidFill>
                  <a:srgbClr val="C41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</a:t>
            </a:r>
            <a:pPr algn="l" indent="0" marL="0">
              <a:lnSpc>
                <a:spcPct val="102000"/>
              </a:lnSpc>
              <a:buNone/>
            </a:pPr>
            <a:r>
              <a:rPr lang="en-US" sz="7350" spc="-73" kern="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work.</a:t>
            </a:r>
            <a:endParaRPr lang="en-US" sz="7350" dirty="0"/>
          </a:p>
        </p:txBody>
      </p:sp>
      <p:sp>
        <p:nvSpPr>
          <p:cNvPr id="8" name="Text 5"/>
          <p:cNvSpPr/>
          <p:nvPr/>
        </p:nvSpPr>
        <p:spPr>
          <a:xfrm>
            <a:off x="1143000" y="6171307"/>
            <a:ext cx="11772900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AI-mediated SDLC companion that takes a stakeholder's idea from a single sentence to a shippable, traceable plan — without losing a thing in translation.</a:t>
            </a:r>
            <a:endParaRPr lang="en-US" sz="2550" dirty="0"/>
          </a:p>
        </p:txBody>
      </p:sp>
      <p:sp>
        <p:nvSpPr>
          <p:cNvPr id="9" name="Shape 6"/>
          <p:cNvSpPr/>
          <p:nvPr/>
        </p:nvSpPr>
        <p:spPr>
          <a:xfrm>
            <a:off x="1143000" y="8991600"/>
            <a:ext cx="16097250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10" name="Text 7"/>
          <p:cNvSpPr/>
          <p:nvPr/>
        </p:nvSpPr>
        <p:spPr>
          <a:xfrm>
            <a:off x="1143000" y="9286875"/>
            <a:ext cx="6321043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Devin is for developers. </a:t>
            </a:r>
            <a:pPr algn="l" indent="0" marL="0">
              <a:buNone/>
            </a:pPr>
            <a:r>
              <a:rPr lang="en-US" sz="2025" b="1" dirty="0">
                <a:solidFill>
                  <a:srgbClr val="C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 is for the business.</a:t>
            </a:r>
            <a:endParaRPr lang="en-US" sz="2025" dirty="0"/>
          </a:p>
        </p:txBody>
      </p:sp>
      <p:sp>
        <p:nvSpPr>
          <p:cNvPr id="11" name="Text 8"/>
          <p:cNvSpPr/>
          <p:nvPr/>
        </p:nvSpPr>
        <p:spPr>
          <a:xfrm>
            <a:off x="15841117" y="9324975"/>
            <a:ext cx="1539047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108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CONFIDENTIAL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428750"/>
            <a:ext cx="14716125" cy="1543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570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product starts as a sentence. Then the handoffs begin.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1009650" y="4095750"/>
            <a:ext cx="29337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143000" y="4724400"/>
            <a:ext cx="2667000" cy="95250"/>
          </a:xfrm>
          <a:prstGeom prst="roundRect">
            <a:avLst>
              <a:gd name="adj" fmla="val 50000"/>
            </a:avLst>
          </a:prstGeom>
          <a:solidFill>
            <a:srgbClr val="171717"/>
          </a:solidFill>
          <a:ln/>
        </p:spPr>
      </p:sp>
      <p:sp>
        <p:nvSpPr>
          <p:cNvPr id="6" name="Text 4"/>
          <p:cNvSpPr/>
          <p:nvPr/>
        </p:nvSpPr>
        <p:spPr>
          <a:xfrm>
            <a:off x="1009650" y="5010150"/>
            <a:ext cx="29337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8A8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intent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771900" y="4452938"/>
            <a:ext cx="74295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dirty="0">
                <a:solidFill>
                  <a:srgbClr val="C9B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343400" y="4095750"/>
            <a:ext cx="29337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476750" y="4724400"/>
            <a:ext cx="2667000" cy="95250"/>
          </a:xfrm>
          <a:prstGeom prst="roundRect">
            <a:avLst>
              <a:gd name="adj" fmla="val 50000"/>
            </a:avLst>
          </a:prstGeom>
          <a:solidFill>
            <a:srgbClr val="171717">
              <a:alpha val="78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5010150"/>
            <a:ext cx="29337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8A8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reworded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105650" y="4452938"/>
            <a:ext cx="74295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dirty="0">
                <a:solidFill>
                  <a:srgbClr val="C9B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677150" y="4095750"/>
            <a:ext cx="29337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PM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7810500" y="4724400"/>
            <a:ext cx="2667000" cy="95250"/>
          </a:xfrm>
          <a:prstGeom prst="roundRect">
            <a:avLst>
              <a:gd name="adj" fmla="val 50000"/>
            </a:avLst>
          </a:prstGeom>
          <a:solidFill>
            <a:srgbClr val="C4122E">
              <a:alpha val="58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7677150" y="5010150"/>
            <a:ext cx="29337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8A8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re-scoped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439400" y="4452938"/>
            <a:ext cx="74295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dirty="0">
                <a:solidFill>
                  <a:srgbClr val="C9B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1010900" y="4095750"/>
            <a:ext cx="29337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1144250" y="4724400"/>
            <a:ext cx="2667000" cy="95250"/>
          </a:xfrm>
          <a:prstGeom prst="roundRect">
            <a:avLst>
              <a:gd name="adj" fmla="val 50000"/>
            </a:avLst>
          </a:prstGeom>
          <a:solidFill>
            <a:srgbClr val="C4122E">
              <a:alpha val="4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11010900" y="5010150"/>
            <a:ext cx="29337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8A8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reinterpreted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73150" y="4452938"/>
            <a:ext cx="742950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dirty="0">
                <a:solidFill>
                  <a:srgbClr val="C9BFB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4344650" y="4095750"/>
            <a:ext cx="2933700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14478000" y="4724400"/>
            <a:ext cx="2667000" cy="95250"/>
          </a:xfrm>
          <a:prstGeom prst="roundRect">
            <a:avLst>
              <a:gd name="adj" fmla="val 50000"/>
            </a:avLst>
          </a:prstGeom>
          <a:solidFill>
            <a:srgbClr val="C4122E">
              <a:alpha val="24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14344650" y="5010150"/>
            <a:ext cx="29337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≈ what was meant?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43000" y="8039100"/>
            <a:ext cx="13735050" cy="857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850" i="1" dirty="0">
                <a:solidFill>
                  <a:srgbClr val="4A4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handoff is a re-typing of intent into a new document — with no thread back to what was actually meant.</a:t>
            </a:r>
            <a:endParaRPr lang="en-US" sz="2850" dirty="0"/>
          </a:p>
        </p:txBody>
      </p:sp>
      <p:sp>
        <p:nvSpPr>
          <p:cNvPr id="24" name="Text 22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4831467" y="9648825"/>
            <a:ext cx="254488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CONFIDENTIAL · INTERNAL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914400"/>
            <a:ext cx="17602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FFC7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428750"/>
            <a:ext cx="13735050" cy="154364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5700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Lost context isn't free. It's most of the bill.</a:t>
            </a:r>
            <a:endParaRPr lang="en-US" sz="5700" dirty="0"/>
          </a:p>
        </p:txBody>
      </p:sp>
      <p:sp>
        <p:nvSpPr>
          <p:cNvPr id="4" name="Shape 2"/>
          <p:cNvSpPr/>
          <p:nvPr/>
        </p:nvSpPr>
        <p:spPr>
          <a:xfrm>
            <a:off x="1143000" y="3924300"/>
            <a:ext cx="4978301" cy="28575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4257675"/>
            <a:ext cx="5476131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0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~40%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1143000" y="5610225"/>
            <a:ext cx="5127650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engineering effort is spent on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rework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building the wrong thing, then fixing it.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6654701" y="3924300"/>
            <a:ext cx="4978450" cy="28575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8" name="Text 6"/>
          <p:cNvSpPr/>
          <p:nvPr/>
        </p:nvSpPr>
        <p:spPr>
          <a:xfrm>
            <a:off x="6654701" y="4257675"/>
            <a:ext cx="5476295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0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~70%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6654701" y="5610225"/>
            <a:ext cx="5127803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troubled projects trace back to </a:t>
            </a:r>
            <a:pPr algn="l" indent="0" marL="0">
              <a:lnSpc>
                <a:spcPct val="145000"/>
              </a:lnSpc>
              <a:buNone/>
            </a:pPr>
            <a:r>
              <a:rPr lang="en-US" sz="2250" b="1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</a:t>
            </a:r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vague, missing, or misread.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2166550" y="3924300"/>
            <a:ext cx="4978450" cy="28575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11" name="Text 9"/>
          <p:cNvSpPr/>
          <p:nvPr/>
        </p:nvSpPr>
        <p:spPr>
          <a:xfrm>
            <a:off x="12166550" y="4257675"/>
            <a:ext cx="5476295" cy="1181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0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6+ wks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12166550" y="5610225"/>
            <a:ext cx="5127803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25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idea to an agreed, buildable plan — much of it re-aligning what was already said.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4227969" y="9648825"/>
            <a:ext cx="320873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6F6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DIRECTIONAL · INDUSTRY RANGES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3350" cy="10287000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1905000"/>
            <a:ext cx="17287875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MEET BUZZIN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2628900"/>
            <a:ext cx="2726606" cy="1085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7200" b="1" spc="-216" kern="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7200" dirty="0"/>
          </a:p>
        </p:txBody>
      </p:sp>
      <p:sp>
        <p:nvSpPr>
          <p:cNvPr id="5" name="Shape 3"/>
          <p:cNvSpPr/>
          <p:nvPr/>
        </p:nvSpPr>
        <p:spPr>
          <a:xfrm>
            <a:off x="3736032" y="2743200"/>
            <a:ext cx="209550" cy="723900"/>
          </a:xfrm>
          <a:prstGeom prst="rect">
            <a:avLst/>
          </a:prstGeom>
          <a:solidFill>
            <a:srgbClr val="FFC72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943350"/>
            <a:ext cx="14225588" cy="13546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80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Devin gave every engineer an AI teammate. </a:t>
            </a:r>
            <a:pPr algn="l" indent="0" marL="0">
              <a:lnSpc>
                <a:spcPct val="108000"/>
              </a:lnSpc>
              <a:buNone/>
            </a:pPr>
            <a:r>
              <a:rPr lang="en-US" sz="4800" dirty="0">
                <a:solidFill>
                  <a:srgbClr val="C41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Buzzin gives the business one.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1143000" y="5640884"/>
            <a:ext cx="13244513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chat your idea in as a Business User. A team of AI specialists turns it into requirements, a PRD, an architecture, a spec, and a task plan — the way a great cross-functional team would, with nothing lost between them.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4831467" y="9648825"/>
            <a:ext cx="254488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CONFIDENTIAL · INTERNAL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38200"/>
            <a:ext cx="17602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WORKFLOW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333500"/>
            <a:ext cx="17602200" cy="744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540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idea, five stages, zero handoff loss.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1143000" y="3429000"/>
            <a:ext cx="3006030" cy="38100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3752850"/>
            <a:ext cx="295039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4124325"/>
            <a:ext cx="295039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143000" y="4610100"/>
            <a:ext cx="1575941" cy="323850"/>
          </a:xfrm>
          <a:prstGeom prst="roundRect">
            <a:avLst>
              <a:gd name="adj" fmla="val 14706"/>
            </a:avLst>
          </a:prstGeom>
          <a:solidFill>
            <a:srgbClr val="FFF3D0"/>
          </a:solidFill>
          <a:ln/>
        </p:spPr>
      </p:sp>
      <p:sp>
        <p:nvSpPr>
          <p:cNvPr id="8" name="Text 6"/>
          <p:cNvSpPr/>
          <p:nvPr/>
        </p:nvSpPr>
        <p:spPr>
          <a:xfrm>
            <a:off x="1257300" y="4667250"/>
            <a:ext cx="142354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75" spc="51" kern="0" dirty="0">
                <a:solidFill>
                  <a:srgbClr val="8A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USER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1143000" y="5143500"/>
            <a:ext cx="276264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your idea in. A live scorecard blocks Advance until it's clear.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4149030" y="3429000"/>
            <a:ext cx="3330029" cy="38100"/>
          </a:xfrm>
          <a:prstGeom prst="rect">
            <a:avLst/>
          </a:prstGeom>
          <a:solidFill>
            <a:srgbClr val="E0CF9A"/>
          </a:solidFill>
          <a:ln/>
        </p:spPr>
      </p:sp>
      <p:sp>
        <p:nvSpPr>
          <p:cNvPr id="11" name="Text 9"/>
          <p:cNvSpPr/>
          <p:nvPr/>
        </p:nvSpPr>
        <p:spPr>
          <a:xfrm>
            <a:off x="4472880" y="3752850"/>
            <a:ext cx="295056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72880" y="4124325"/>
            <a:ext cx="2950562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4472880" y="4610100"/>
            <a:ext cx="1575941" cy="323850"/>
          </a:xfrm>
          <a:prstGeom prst="roundRect">
            <a:avLst>
              <a:gd name="adj" fmla="val 14706"/>
            </a:avLst>
          </a:prstGeom>
          <a:solidFill>
            <a:srgbClr val="FFF3D0"/>
          </a:solidFill>
          <a:ln/>
        </p:spPr>
      </p:sp>
      <p:sp>
        <p:nvSpPr>
          <p:cNvPr id="14" name="Text 12"/>
          <p:cNvSpPr/>
          <p:nvPr/>
        </p:nvSpPr>
        <p:spPr>
          <a:xfrm>
            <a:off x="4587180" y="4667250"/>
            <a:ext cx="1423541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75" spc="51" kern="0" dirty="0">
                <a:solidFill>
                  <a:srgbClr val="8A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BUSINESS USER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4472880" y="5143500"/>
            <a:ext cx="2762799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 product items, each traced back to a requirement.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7479060" y="3429000"/>
            <a:ext cx="3329880" cy="38100"/>
          </a:xfrm>
          <a:prstGeom prst="rect">
            <a:avLst/>
          </a:prstGeom>
          <a:solidFill>
            <a:srgbClr val="E0CF9A"/>
          </a:solidFill>
          <a:ln/>
        </p:spPr>
      </p:sp>
      <p:sp>
        <p:nvSpPr>
          <p:cNvPr id="17" name="Text 15"/>
          <p:cNvSpPr/>
          <p:nvPr/>
        </p:nvSpPr>
        <p:spPr>
          <a:xfrm>
            <a:off x="7802910" y="3752850"/>
            <a:ext cx="295039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802910" y="4124325"/>
            <a:ext cx="295039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/ ADR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7802910" y="4610100"/>
            <a:ext cx="954137" cy="323850"/>
          </a:xfrm>
          <a:prstGeom prst="roundRect">
            <a:avLst>
              <a:gd name="adj" fmla="val 14706"/>
            </a:avLst>
          </a:prstGeom>
          <a:solidFill>
            <a:srgbClr val="FFF3D0"/>
          </a:solidFill>
          <a:ln/>
        </p:spPr>
      </p:sp>
      <p:sp>
        <p:nvSpPr>
          <p:cNvPr id="20" name="Text 18"/>
          <p:cNvSpPr/>
          <p:nvPr/>
        </p:nvSpPr>
        <p:spPr>
          <a:xfrm>
            <a:off x="7917210" y="4667250"/>
            <a:ext cx="801737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75" spc="51" kern="0" dirty="0">
                <a:solidFill>
                  <a:srgbClr val="7A5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ADVISOR</a:t>
            </a:r>
            <a:endParaRPr lang="en-US" sz="1275" dirty="0"/>
          </a:p>
        </p:txBody>
      </p:sp>
      <p:sp>
        <p:nvSpPr>
          <p:cNvPr id="21" name="Text 19"/>
          <p:cNvSpPr/>
          <p:nvPr/>
        </p:nvSpPr>
        <p:spPr>
          <a:xfrm>
            <a:off x="7802910" y="5143500"/>
            <a:ext cx="276264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constrained to our tech radar and compliance rules.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0808940" y="3429000"/>
            <a:ext cx="3330029" cy="38100"/>
          </a:xfrm>
          <a:prstGeom prst="rect">
            <a:avLst/>
          </a:prstGeom>
          <a:solidFill>
            <a:srgbClr val="E0CF9A"/>
          </a:solidFill>
          <a:ln/>
        </p:spPr>
      </p:sp>
      <p:sp>
        <p:nvSpPr>
          <p:cNvPr id="23" name="Text 21"/>
          <p:cNvSpPr/>
          <p:nvPr/>
        </p:nvSpPr>
        <p:spPr>
          <a:xfrm>
            <a:off x="11132790" y="3752850"/>
            <a:ext cx="295056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1132790" y="4124325"/>
            <a:ext cx="2950562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Spec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11132790" y="4610100"/>
            <a:ext cx="1679525" cy="323850"/>
          </a:xfrm>
          <a:prstGeom prst="roundRect">
            <a:avLst>
              <a:gd name="adj" fmla="val 14706"/>
            </a:avLst>
          </a:prstGeom>
          <a:solidFill>
            <a:srgbClr val="EFE8FA"/>
          </a:solidFill>
          <a:ln/>
        </p:spPr>
      </p:sp>
      <p:sp>
        <p:nvSpPr>
          <p:cNvPr id="26" name="Text 24"/>
          <p:cNvSpPr/>
          <p:nvPr/>
        </p:nvSpPr>
        <p:spPr>
          <a:xfrm>
            <a:off x="11247090" y="4667250"/>
            <a:ext cx="152712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75" spc="51" kern="0" dirty="0">
                <a:solidFill>
                  <a:srgbClr val="5A3D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 ARCHITECT</a:t>
            </a:r>
            <a:endParaRPr lang="en-US" sz="1275" dirty="0"/>
          </a:p>
        </p:txBody>
      </p:sp>
      <p:sp>
        <p:nvSpPr>
          <p:cNvPr id="27" name="Text 25"/>
          <p:cNvSpPr/>
          <p:nvPr/>
        </p:nvSpPr>
        <p:spPr>
          <a:xfrm>
            <a:off x="11132790" y="5143500"/>
            <a:ext cx="2762799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 co-edits; every change ripples through the graph.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14138970" y="3429000"/>
            <a:ext cx="3006030" cy="38100"/>
          </a:xfrm>
          <a:prstGeom prst="rect">
            <a:avLst/>
          </a:prstGeom>
          <a:solidFill>
            <a:srgbClr val="E0CF9A"/>
          </a:solidFill>
          <a:ln/>
        </p:spPr>
      </p:sp>
      <p:sp>
        <p:nvSpPr>
          <p:cNvPr id="29" name="Text 27"/>
          <p:cNvSpPr/>
          <p:nvPr/>
        </p:nvSpPr>
        <p:spPr>
          <a:xfrm>
            <a:off x="14462820" y="3752850"/>
            <a:ext cx="2950399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4462820" y="4124325"/>
            <a:ext cx="2950399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Plan</a:t>
            </a:r>
            <a:endParaRPr lang="en-US" sz="2550" dirty="0"/>
          </a:p>
        </p:txBody>
      </p:sp>
      <p:sp>
        <p:nvSpPr>
          <p:cNvPr id="31" name="Shape 29"/>
          <p:cNvSpPr/>
          <p:nvPr/>
        </p:nvSpPr>
        <p:spPr>
          <a:xfrm>
            <a:off x="14462820" y="4610100"/>
            <a:ext cx="1679525" cy="323850"/>
          </a:xfrm>
          <a:prstGeom prst="roundRect">
            <a:avLst>
              <a:gd name="adj" fmla="val 14706"/>
            </a:avLst>
          </a:prstGeom>
          <a:solidFill>
            <a:srgbClr val="EFE8FA"/>
          </a:solidFill>
          <a:ln/>
        </p:spPr>
      </p:sp>
      <p:sp>
        <p:nvSpPr>
          <p:cNvPr id="32" name="Text 30"/>
          <p:cNvSpPr/>
          <p:nvPr/>
        </p:nvSpPr>
        <p:spPr>
          <a:xfrm>
            <a:off x="14577120" y="4667250"/>
            <a:ext cx="1527125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75" spc="51" kern="0" dirty="0">
                <a:solidFill>
                  <a:srgbClr val="5A3D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 ARCHITECT</a:t>
            </a:r>
            <a:endParaRPr lang="en-US" sz="1275" dirty="0"/>
          </a:p>
        </p:txBody>
      </p:sp>
      <p:sp>
        <p:nvSpPr>
          <p:cNvPr id="33" name="Text 31"/>
          <p:cNvSpPr/>
          <p:nvPr/>
        </p:nvSpPr>
        <p:spPr>
          <a:xfrm>
            <a:off x="14462820" y="5143500"/>
            <a:ext cx="2762646" cy="146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Epics and tasks with estimates and dependencies, ready to build.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1143000" y="8686800"/>
            <a:ext cx="12079635" cy="9525"/>
          </a:xfrm>
          <a:prstGeom prst="rect">
            <a:avLst/>
          </a:prstGeom>
          <a:solidFill>
            <a:srgbClr val="E0D8CC"/>
          </a:solidFill>
          <a:ln/>
        </p:spPr>
      </p:sp>
      <p:sp>
        <p:nvSpPr>
          <p:cNvPr id="35" name="Text 33"/>
          <p:cNvSpPr/>
          <p:nvPr/>
        </p:nvSpPr>
        <p:spPr>
          <a:xfrm>
            <a:off x="13413135" y="8524875"/>
            <a:ext cx="4105052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i="1" dirty="0">
                <a:solidFill>
                  <a:srgbClr val="C41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whole team stays in sync.</a:t>
            </a:r>
            <a:endParaRPr lang="en-US" sz="2250" dirty="0"/>
          </a:p>
        </p:txBody>
      </p:sp>
      <p:sp>
        <p:nvSpPr>
          <p:cNvPr id="36" name="Text 34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4831467" y="9648825"/>
            <a:ext cx="254488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CONFIDENTIAL · INTERNAL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38200"/>
            <a:ext cx="17602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TEAM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333500"/>
            <a:ext cx="17602200" cy="744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540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specialists, one coordinated team.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1143000" y="3352800"/>
            <a:ext cx="3017490" cy="3648075"/>
          </a:xfrm>
          <a:prstGeom prst="roundRect">
            <a:avLst>
              <a:gd name="adj" fmla="val 4419"/>
            </a:avLst>
          </a:prstGeom>
          <a:solidFill>
            <a:srgbClr val="FFFFFF"/>
          </a:solidFill>
          <a:ln w="9525">
            <a:solidFill>
              <a:srgbClr val="E5DED4"/>
            </a:solidFill>
            <a:prstDash val="solid"/>
          </a:ln>
          <a:effectLst>
            <a:outerShdw sx="100000" sy="100000" kx="0" ky="0" algn="bl" rotWithShape="0" blurRad="190500" dist="57150" dir="5400000">
              <a:srgbClr val="000000">
                <a:alpha val="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19225" y="3686175"/>
            <a:ext cx="495300" cy="495300"/>
          </a:xfrm>
          <a:prstGeom prst="roundRect">
            <a:avLst>
              <a:gd name="adj" fmla="val 21154"/>
            </a:avLst>
          </a:prstGeom>
          <a:solidFill>
            <a:srgbClr val="C4122E"/>
          </a:solidFill>
          <a:ln/>
        </p:spPr>
      </p:sp>
      <p:sp>
        <p:nvSpPr>
          <p:cNvPr id="6" name="Text 4"/>
          <p:cNvSpPr/>
          <p:nvPr/>
        </p:nvSpPr>
        <p:spPr>
          <a:xfrm>
            <a:off x="1381125" y="3686175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419225" y="4410075"/>
            <a:ext cx="254124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Analyst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419225" y="5095875"/>
            <a:ext cx="254124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Elicits the idea and scores it against a rubric until it's clear.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1419225" y="6286500"/>
            <a:ext cx="2465040" cy="9525"/>
          </a:xfrm>
          <a:prstGeom prst="rect">
            <a:avLst/>
          </a:prstGeom>
          <a:solidFill>
            <a:srgbClr val="EEE6DA"/>
          </a:solidFill>
          <a:ln/>
        </p:spPr>
      </p:sp>
      <p:sp>
        <p:nvSpPr>
          <p:cNvPr id="10" name="Text 8"/>
          <p:cNvSpPr/>
          <p:nvPr/>
        </p:nvSpPr>
        <p:spPr>
          <a:xfrm>
            <a:off x="1419225" y="6448425"/>
            <a:ext cx="254124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8A8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writes → </a:t>
            </a:r>
            <a:pPr algn="l" indent="0" marL="0">
              <a:buNone/>
            </a:pPr>
            <a:r>
              <a:rPr lang="en-US" sz="135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89090" y="3352800"/>
            <a:ext cx="3017639" cy="3648075"/>
          </a:xfrm>
          <a:prstGeom prst="roundRect">
            <a:avLst>
              <a:gd name="adj" fmla="val 4419"/>
            </a:avLst>
          </a:prstGeom>
          <a:solidFill>
            <a:srgbClr val="FFFFFF"/>
          </a:solidFill>
          <a:ln w="9525">
            <a:solidFill>
              <a:srgbClr val="E5DED4"/>
            </a:solidFill>
            <a:prstDash val="solid"/>
          </a:ln>
          <a:effectLst>
            <a:outerShdw sx="100000" sy="100000" kx="0" ky="0" algn="bl" rotWithShape="0" blurRad="190500" dist="57150" dir="5400000">
              <a:srgbClr val="000000">
                <a:alpha val="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5315" y="3686175"/>
            <a:ext cx="495300" cy="495300"/>
          </a:xfrm>
          <a:prstGeom prst="roundRect">
            <a:avLst>
              <a:gd name="adj" fmla="val 21154"/>
            </a:avLst>
          </a:prstGeom>
          <a:solidFill>
            <a:srgbClr val="C4122E"/>
          </a:solidFill>
          <a:ln/>
        </p:spPr>
      </p:sp>
      <p:sp>
        <p:nvSpPr>
          <p:cNvPr id="13" name="Text 11"/>
          <p:cNvSpPr/>
          <p:nvPr/>
        </p:nvSpPr>
        <p:spPr>
          <a:xfrm>
            <a:off x="4627215" y="3686175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4665315" y="4410075"/>
            <a:ext cx="271170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Author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4665315" y="4800600"/>
            <a:ext cx="2541389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product items — every one traced to a requirement.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4665315" y="5991225"/>
            <a:ext cx="2465189" cy="9525"/>
          </a:xfrm>
          <a:prstGeom prst="rect">
            <a:avLst/>
          </a:prstGeom>
          <a:solidFill>
            <a:srgbClr val="EEE6DA"/>
          </a:solidFill>
          <a:ln/>
        </p:spPr>
      </p:sp>
      <p:sp>
        <p:nvSpPr>
          <p:cNvPr id="17" name="Text 15"/>
          <p:cNvSpPr/>
          <p:nvPr/>
        </p:nvSpPr>
        <p:spPr>
          <a:xfrm>
            <a:off x="4665315" y="6153150"/>
            <a:ext cx="2541389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8A8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writes → </a:t>
            </a:r>
            <a:pPr algn="l" indent="0" marL="0">
              <a:buNone/>
            </a:pPr>
            <a:r>
              <a:rPr lang="en-US" sz="135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PRD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635329" y="3352800"/>
            <a:ext cx="3017490" cy="3648075"/>
          </a:xfrm>
          <a:prstGeom prst="roundRect">
            <a:avLst>
              <a:gd name="adj" fmla="val 4419"/>
            </a:avLst>
          </a:prstGeom>
          <a:solidFill>
            <a:srgbClr val="FFFFFF"/>
          </a:solidFill>
          <a:ln w="9525">
            <a:solidFill>
              <a:srgbClr val="E5DED4"/>
            </a:solidFill>
            <a:prstDash val="solid"/>
          </a:ln>
          <a:effectLst>
            <a:outerShdw sx="100000" sy="100000" kx="0" ky="0" algn="bl" rotWithShape="0" blurRad="190500" dist="57150" dir="5400000">
              <a:srgbClr val="000000">
                <a:alpha val="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911554" y="3686175"/>
            <a:ext cx="495300" cy="495300"/>
          </a:xfrm>
          <a:prstGeom prst="roundRect">
            <a:avLst>
              <a:gd name="adj" fmla="val 21154"/>
            </a:avLst>
          </a:prstGeom>
          <a:solidFill>
            <a:srgbClr val="8A6D00"/>
          </a:solidFill>
          <a:ln/>
        </p:spPr>
      </p:sp>
      <p:sp>
        <p:nvSpPr>
          <p:cNvPr id="20" name="Text 18"/>
          <p:cNvSpPr/>
          <p:nvPr/>
        </p:nvSpPr>
        <p:spPr>
          <a:xfrm>
            <a:off x="7873454" y="3686175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7911554" y="4410075"/>
            <a:ext cx="27115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Advisor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7911554" y="4800600"/>
            <a:ext cx="254124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Chooses technology within our radar and hard compliance rules.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7911554" y="5991225"/>
            <a:ext cx="2465040" cy="9525"/>
          </a:xfrm>
          <a:prstGeom prst="rect">
            <a:avLst/>
          </a:prstGeom>
          <a:solidFill>
            <a:srgbClr val="EEE6DA"/>
          </a:solidFill>
          <a:ln/>
        </p:spPr>
      </p:sp>
      <p:sp>
        <p:nvSpPr>
          <p:cNvPr id="24" name="Text 22"/>
          <p:cNvSpPr/>
          <p:nvPr/>
        </p:nvSpPr>
        <p:spPr>
          <a:xfrm>
            <a:off x="7911554" y="6153150"/>
            <a:ext cx="254124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8A8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writes → </a:t>
            </a:r>
            <a:pPr algn="l" indent="0" marL="0">
              <a:buNone/>
            </a:pPr>
            <a:r>
              <a:rPr lang="en-US" sz="135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ADR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0881420" y="3352800"/>
            <a:ext cx="3017490" cy="3648075"/>
          </a:xfrm>
          <a:prstGeom prst="roundRect">
            <a:avLst>
              <a:gd name="adj" fmla="val 4419"/>
            </a:avLst>
          </a:prstGeom>
          <a:solidFill>
            <a:srgbClr val="FFFFFF"/>
          </a:solidFill>
          <a:ln w="9525">
            <a:solidFill>
              <a:srgbClr val="E5DED4"/>
            </a:solidFill>
            <a:prstDash val="solid"/>
          </a:ln>
          <a:effectLst>
            <a:outerShdw sx="100000" sy="100000" kx="0" ky="0" algn="bl" rotWithShape="0" blurRad="190500" dist="57150" dir="5400000">
              <a:srgbClr val="000000">
                <a:alpha val="4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1157645" y="3686175"/>
            <a:ext cx="495300" cy="495300"/>
          </a:xfrm>
          <a:prstGeom prst="roundRect">
            <a:avLst>
              <a:gd name="adj" fmla="val 21154"/>
            </a:avLst>
          </a:prstGeom>
          <a:solidFill>
            <a:srgbClr val="5A3D8A"/>
          </a:solidFill>
          <a:ln/>
        </p:spPr>
      </p:sp>
      <p:sp>
        <p:nvSpPr>
          <p:cNvPr id="27" name="Text 25"/>
          <p:cNvSpPr/>
          <p:nvPr/>
        </p:nvSpPr>
        <p:spPr>
          <a:xfrm>
            <a:off x="11119545" y="3686175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1157645" y="4410075"/>
            <a:ext cx="27115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</a:t>
            </a:r>
            <a:endParaRPr lang="en-US" sz="2025" dirty="0"/>
          </a:p>
        </p:txBody>
      </p:sp>
      <p:sp>
        <p:nvSpPr>
          <p:cNvPr id="29" name="Text 27"/>
          <p:cNvSpPr/>
          <p:nvPr/>
        </p:nvSpPr>
        <p:spPr>
          <a:xfrm>
            <a:off x="11157645" y="4800600"/>
            <a:ext cx="254124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Co-edits the spec and runs impact analysis on every change.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1157645" y="5991225"/>
            <a:ext cx="2465040" cy="9525"/>
          </a:xfrm>
          <a:prstGeom prst="rect">
            <a:avLst/>
          </a:prstGeom>
          <a:solidFill>
            <a:srgbClr val="EEE6DA"/>
          </a:solidFill>
          <a:ln/>
        </p:spPr>
      </p:sp>
      <p:sp>
        <p:nvSpPr>
          <p:cNvPr id="31" name="Text 29"/>
          <p:cNvSpPr/>
          <p:nvPr/>
        </p:nvSpPr>
        <p:spPr>
          <a:xfrm>
            <a:off x="11157645" y="6153150"/>
            <a:ext cx="254124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8A8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writes → </a:t>
            </a:r>
            <a:pPr algn="l" indent="0" marL="0">
              <a:buNone/>
            </a:pPr>
            <a:r>
              <a:rPr lang="en-US" sz="135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14127510" y="3352800"/>
            <a:ext cx="3017490" cy="3648075"/>
          </a:xfrm>
          <a:prstGeom prst="roundRect">
            <a:avLst>
              <a:gd name="adj" fmla="val 4419"/>
            </a:avLst>
          </a:prstGeom>
          <a:solidFill>
            <a:srgbClr val="FFFFFF"/>
          </a:solidFill>
          <a:ln w="9525">
            <a:solidFill>
              <a:srgbClr val="E5DED4"/>
            </a:solidFill>
            <a:prstDash val="solid"/>
          </a:ln>
          <a:effectLst>
            <a:outerShdw sx="100000" sy="100000" kx="0" ky="0" algn="bl" rotWithShape="0" blurRad="190500" dist="57150" dir="5400000">
              <a:srgbClr val="000000">
                <a:alpha val="4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14403735" y="3686175"/>
            <a:ext cx="495300" cy="495300"/>
          </a:xfrm>
          <a:prstGeom prst="roundRect">
            <a:avLst>
              <a:gd name="adj" fmla="val 21154"/>
            </a:avLst>
          </a:prstGeom>
          <a:solidFill>
            <a:srgbClr val="5A3D8A"/>
          </a:solidFill>
          <a:ln/>
        </p:spPr>
      </p:sp>
      <p:sp>
        <p:nvSpPr>
          <p:cNvPr id="34" name="Text 32"/>
          <p:cNvSpPr/>
          <p:nvPr/>
        </p:nvSpPr>
        <p:spPr>
          <a:xfrm>
            <a:off x="14365635" y="3686175"/>
            <a:ext cx="571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950" dirty="0"/>
          </a:p>
        </p:txBody>
      </p:sp>
      <p:sp>
        <p:nvSpPr>
          <p:cNvPr id="35" name="Text 33"/>
          <p:cNvSpPr/>
          <p:nvPr/>
        </p:nvSpPr>
        <p:spPr>
          <a:xfrm>
            <a:off x="14403735" y="4410075"/>
            <a:ext cx="271154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</a:t>
            </a:r>
            <a:endParaRPr lang="en-US" sz="2025" dirty="0"/>
          </a:p>
        </p:txBody>
      </p:sp>
      <p:sp>
        <p:nvSpPr>
          <p:cNvPr id="36" name="Text 34"/>
          <p:cNvSpPr/>
          <p:nvPr/>
        </p:nvSpPr>
        <p:spPr>
          <a:xfrm>
            <a:off x="14403735" y="4800600"/>
            <a:ext cx="2541240" cy="981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50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Breaks the spec into epics, tasks, estimates and dependencies.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4403735" y="5991225"/>
            <a:ext cx="2465040" cy="9525"/>
          </a:xfrm>
          <a:prstGeom prst="rect">
            <a:avLst/>
          </a:prstGeom>
          <a:solidFill>
            <a:srgbClr val="EEE6DA"/>
          </a:solidFill>
          <a:ln/>
        </p:spPr>
      </p:sp>
      <p:sp>
        <p:nvSpPr>
          <p:cNvPr id="38" name="Text 36"/>
          <p:cNvSpPr/>
          <p:nvPr/>
        </p:nvSpPr>
        <p:spPr>
          <a:xfrm>
            <a:off x="14403735" y="6153150"/>
            <a:ext cx="254124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8A8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writes → </a:t>
            </a:r>
            <a:pPr algn="l" indent="0" marL="0">
              <a:buNone/>
            </a:pPr>
            <a:r>
              <a:rPr lang="en-US" sz="135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1143000" y="8343900"/>
            <a:ext cx="1648206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4A4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single-writer rule: no specialist writes outside its own artifact type — so they collaborate without stepping on each other.</a:t>
            </a:r>
            <a:endParaRPr lang="en-US" sz="2400" dirty="0"/>
          </a:p>
        </p:txBody>
      </p:sp>
      <p:sp>
        <p:nvSpPr>
          <p:cNvPr id="40" name="Text 38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4831467" y="9648825"/>
            <a:ext cx="254488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CONFIDENTIAL · INTERNAL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38200"/>
            <a:ext cx="17602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SPINE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333500"/>
            <a:ext cx="17602200" cy="744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540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artifact graph — everything traces back.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143000" y="2268438"/>
            <a:ext cx="14225588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downstream node cites the upstream id it came from. Nothing floats free — uncited nodes are flagged automatically.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833339" y="3581400"/>
            <a:ext cx="162450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14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REQUIREMENTS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5720879" y="3581400"/>
            <a:ext cx="44544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14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PRD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8562380" y="3581400"/>
            <a:ext cx="148911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14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/ ADR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11923961" y="3581400"/>
            <a:ext cx="118377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14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 SPEC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15408548" y="3581400"/>
            <a:ext cx="69160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14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1425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14500" y="4076700"/>
            <a:ext cx="14859000" cy="4953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914525" y="4953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95250" dist="28575" dir="5400000">
              <a:srgbClr val="000000">
                <a:alpha val="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895475" y="4972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REQ-1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1914525" y="7620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95250" dist="28575" dir="5400000">
              <a:srgbClr val="000000">
                <a:alpha val="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1895475" y="7639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REQ-2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5248275" y="4953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95250" dist="28575" dir="54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5229225" y="4972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PRD-1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5248275" y="7620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95250" dist="28575" dir="5400000">
              <a:srgbClr val="000000">
                <a:alpha val="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5229225" y="7639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PRD-2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8582025" y="62865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95250" dist="28575" dir="5400000">
              <a:srgbClr val="000000">
                <a:alpha val="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562975" y="63055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ADR-1</a:t>
            </a:r>
            <a:endParaRPr lang="en-US" sz="1650" dirty="0"/>
          </a:p>
        </p:txBody>
      </p:sp>
      <p:sp>
        <p:nvSpPr>
          <p:cNvPr id="21" name="Shape 18"/>
          <p:cNvSpPr/>
          <p:nvPr/>
        </p:nvSpPr>
        <p:spPr>
          <a:xfrm>
            <a:off x="11820525" y="4953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95250" dist="28575" dir="5400000">
              <a:srgbClr val="000000">
                <a:alpha val="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11801475" y="4972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SPEC-1</a:t>
            </a:r>
            <a:endParaRPr lang="en-US" sz="1650" dirty="0"/>
          </a:p>
        </p:txBody>
      </p:sp>
      <p:sp>
        <p:nvSpPr>
          <p:cNvPr id="23" name="Shape 20"/>
          <p:cNvSpPr/>
          <p:nvPr/>
        </p:nvSpPr>
        <p:spPr>
          <a:xfrm>
            <a:off x="11820525" y="7620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95250" dist="28575" dir="5400000">
              <a:srgbClr val="000000">
                <a:alpha val="5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1801475" y="7639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SPEC-2</a:t>
            </a:r>
            <a:endParaRPr lang="en-US" sz="1650" dirty="0"/>
          </a:p>
        </p:txBody>
      </p:sp>
      <p:sp>
        <p:nvSpPr>
          <p:cNvPr id="25" name="Shape 22"/>
          <p:cNvSpPr/>
          <p:nvPr/>
        </p:nvSpPr>
        <p:spPr>
          <a:xfrm>
            <a:off x="15059025" y="447675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95250" dist="28575" dir="5400000">
              <a:srgbClr val="000000">
                <a:alpha val="5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15039975" y="449580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TASK-1</a:t>
            </a:r>
            <a:endParaRPr lang="en-US" sz="1650" dirty="0"/>
          </a:p>
        </p:txBody>
      </p:sp>
      <p:sp>
        <p:nvSpPr>
          <p:cNvPr id="27" name="Shape 24"/>
          <p:cNvSpPr/>
          <p:nvPr/>
        </p:nvSpPr>
        <p:spPr>
          <a:xfrm>
            <a:off x="15059025" y="62865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95250" dist="28575" dir="5400000">
              <a:srgbClr val="000000">
                <a:alpha val="5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15039975" y="63055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TASK-2</a:t>
            </a:r>
            <a:endParaRPr lang="en-US" sz="1650" dirty="0"/>
          </a:p>
        </p:txBody>
      </p:sp>
      <p:sp>
        <p:nvSpPr>
          <p:cNvPr id="29" name="Shape 26"/>
          <p:cNvSpPr/>
          <p:nvPr/>
        </p:nvSpPr>
        <p:spPr>
          <a:xfrm>
            <a:off x="15059025" y="809625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95250" dist="28575" dir="5400000">
              <a:srgbClr val="000000">
                <a:alpha val="5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15039975" y="811530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TASK-3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32" name="Text 29"/>
          <p:cNvSpPr/>
          <p:nvPr/>
        </p:nvSpPr>
        <p:spPr>
          <a:xfrm>
            <a:off x="11411694" y="9648825"/>
            <a:ext cx="6306636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edges: derives_from · satisfies · constrains · implements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38200"/>
            <a:ext cx="17602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 1 · READINESS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333500"/>
            <a:ext cx="17602200" cy="744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540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can't advance until it's actually ready.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143000" y="3352800"/>
            <a:ext cx="83820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86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BUZZIN ASKS THE GAP-CLOSING QUESTION</a:t>
            </a:r>
            <a:endParaRPr lang="en-US" sz="1425" dirty="0"/>
          </a:p>
        </p:txBody>
      </p:sp>
      <p:sp>
        <p:nvSpPr>
          <p:cNvPr id="5" name="Shape 3"/>
          <p:cNvSpPr/>
          <p:nvPr/>
        </p:nvSpPr>
        <p:spPr>
          <a:xfrm>
            <a:off x="1143000" y="3771900"/>
            <a:ext cx="7620000" cy="2064841"/>
          </a:xfrm>
          <a:prstGeom prst="roundRect">
            <a:avLst>
              <a:gd name="adj" fmla="val 64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90500" dist="57150" dir="5400000">
              <a:srgbClr val="000000">
                <a:alpha val="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5827216"/>
            <a:ext cx="7620000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7" name="Shape 5"/>
          <p:cNvSpPr/>
          <p:nvPr/>
        </p:nvSpPr>
        <p:spPr>
          <a:xfrm>
            <a:off x="1143000" y="3771900"/>
            <a:ext cx="7620000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8" name="Shape 6"/>
          <p:cNvSpPr/>
          <p:nvPr/>
        </p:nvSpPr>
        <p:spPr>
          <a:xfrm>
            <a:off x="1143000" y="3771900"/>
            <a:ext cx="47625" cy="2064841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9" name="Shape 7"/>
          <p:cNvSpPr/>
          <p:nvPr/>
        </p:nvSpPr>
        <p:spPr>
          <a:xfrm>
            <a:off x="8753475" y="3771900"/>
            <a:ext cx="9525" cy="2064841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10" name="Text 8"/>
          <p:cNvSpPr/>
          <p:nvPr/>
        </p:nvSpPr>
        <p:spPr>
          <a:xfrm>
            <a:off x="1533525" y="4105275"/>
            <a:ext cx="7083362" cy="1436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"You've told me </a:t>
            </a:r>
            <a:pPr algn="l" indent="0" marL="0">
              <a:lnSpc>
                <a:spcPct val="140000"/>
              </a:lnSpc>
              <a:buNone/>
            </a:pPr>
            <a:r>
              <a:rPr lang="en-US" sz="2550" i="1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</a:t>
            </a:r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algn="l" indent="0" marL="0">
              <a:lnSpc>
                <a:spcPct val="140000"/>
              </a:lnSpc>
              <a:buNone/>
            </a:pPr>
            <a:r>
              <a:rPr lang="en-US" sz="2550" i="1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whom </a:t>
            </a:r>
            <a:pPr algn="l" indent="0" marL="0">
              <a:lnSpc>
                <a:spcPct val="140000"/>
              </a:lnSpc>
              <a:buNone/>
            </a:pPr>
            <a:r>
              <a:rPr lang="en-US" sz="255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To move on, how will we know it worked — what's the one measurable success metric?"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143000" y="6160591"/>
            <a:ext cx="784860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950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blank "is this good enough?" — the rubric knows exactly which dimension is short, and asks for that.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906000" y="3352800"/>
            <a:ext cx="7239000" cy="548640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5DED4"/>
            </a:solidFill>
            <a:prstDash val="solid"/>
          </a:ln>
          <a:effectLst>
            <a:outerShdw sx="100000" sy="100000" kx="0" ky="0" algn="bl" rotWithShape="0" blurRad="285750" dist="9525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296525" y="3705225"/>
            <a:ext cx="3179921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readiness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6182975" y="3729038"/>
            <a:ext cx="6477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8A82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5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0296525" y="4124325"/>
            <a:ext cx="6457950" cy="9525"/>
          </a:xfrm>
          <a:prstGeom prst="rect">
            <a:avLst/>
          </a:prstGeom>
          <a:solidFill>
            <a:srgbClr val="EEE6DA"/>
          </a:solidFill>
          <a:ln/>
        </p:spPr>
      </p:sp>
      <p:sp>
        <p:nvSpPr>
          <p:cNvPr id="16" name="Shape 14"/>
          <p:cNvSpPr/>
          <p:nvPr/>
        </p:nvSpPr>
        <p:spPr>
          <a:xfrm>
            <a:off x="10296525" y="4857750"/>
            <a:ext cx="6457950" cy="9525"/>
          </a:xfrm>
          <a:prstGeom prst="rect">
            <a:avLst/>
          </a:prstGeom>
          <a:solidFill>
            <a:srgbClr val="F2ECE2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96525" y="4457700"/>
            <a:ext cx="152400" cy="152400"/>
          </a:xfrm>
          <a:prstGeom prst="ellipse">
            <a:avLst/>
          </a:prstGeom>
          <a:solidFill>
            <a:srgbClr val="1E8E4E"/>
          </a:solidFill>
          <a:ln/>
        </p:spPr>
      </p:sp>
      <p:sp>
        <p:nvSpPr>
          <p:cNvPr id="18" name="Text 16"/>
          <p:cNvSpPr/>
          <p:nvPr/>
        </p:nvSpPr>
        <p:spPr>
          <a:xfrm>
            <a:off x="10620375" y="4391025"/>
            <a:ext cx="596169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clarity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16211550" y="4419600"/>
            <a:ext cx="61912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1E8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</a:t>
            </a:r>
            <a:endParaRPr lang="en-US" sz="1425" dirty="0"/>
          </a:p>
        </p:txBody>
      </p:sp>
      <p:sp>
        <p:nvSpPr>
          <p:cNvPr id="20" name="Shape 18"/>
          <p:cNvSpPr/>
          <p:nvPr/>
        </p:nvSpPr>
        <p:spPr>
          <a:xfrm>
            <a:off x="10296525" y="5514975"/>
            <a:ext cx="6457950" cy="9525"/>
          </a:xfrm>
          <a:prstGeom prst="rect">
            <a:avLst/>
          </a:prstGeom>
          <a:solidFill>
            <a:srgbClr val="F2ECE2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96525" y="5114925"/>
            <a:ext cx="152400" cy="152400"/>
          </a:xfrm>
          <a:prstGeom prst="ellipse">
            <a:avLst/>
          </a:prstGeom>
          <a:solidFill>
            <a:srgbClr val="1E8E4E"/>
          </a:solidFill>
          <a:ln/>
        </p:spPr>
      </p:sp>
      <p:sp>
        <p:nvSpPr>
          <p:cNvPr id="22" name="Text 20"/>
          <p:cNvSpPr/>
          <p:nvPr/>
        </p:nvSpPr>
        <p:spPr>
          <a:xfrm>
            <a:off x="10620375" y="5048250"/>
            <a:ext cx="596169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users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16211550" y="5076825"/>
            <a:ext cx="61912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1E8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</a:t>
            </a:r>
            <a:endParaRPr lang="en-US" sz="1425" dirty="0"/>
          </a:p>
        </p:txBody>
      </p:sp>
      <p:sp>
        <p:nvSpPr>
          <p:cNvPr id="24" name="Shape 22"/>
          <p:cNvSpPr/>
          <p:nvPr/>
        </p:nvSpPr>
        <p:spPr>
          <a:xfrm>
            <a:off x="10296525" y="6172200"/>
            <a:ext cx="6457950" cy="9525"/>
          </a:xfrm>
          <a:prstGeom prst="rect">
            <a:avLst/>
          </a:prstGeom>
          <a:solidFill>
            <a:srgbClr val="F2ECE2"/>
          </a:solidFill>
          <a:ln/>
        </p:spPr>
      </p:sp>
      <p:sp>
        <p:nvSpPr>
          <p:cNvPr id="25" name="Shape 23"/>
          <p:cNvSpPr/>
          <p:nvPr/>
        </p:nvSpPr>
        <p:spPr>
          <a:xfrm>
            <a:off x="10296525" y="5772150"/>
            <a:ext cx="152400" cy="152400"/>
          </a:xfrm>
          <a:prstGeom prst="ellipse">
            <a:avLst/>
          </a:prstGeom>
          <a:solidFill>
            <a:srgbClr val="E0A500"/>
          </a:solidFill>
          <a:ln/>
        </p:spPr>
      </p:sp>
      <p:sp>
        <p:nvSpPr>
          <p:cNvPr id="26" name="Text 24"/>
          <p:cNvSpPr/>
          <p:nvPr/>
        </p:nvSpPr>
        <p:spPr>
          <a:xfrm>
            <a:off x="10620375" y="5705475"/>
            <a:ext cx="596169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metric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16211550" y="5734050"/>
            <a:ext cx="61912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E0A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AMBER</a:t>
            </a:r>
            <a:endParaRPr lang="en-US" sz="1425" dirty="0"/>
          </a:p>
        </p:txBody>
      </p:sp>
      <p:sp>
        <p:nvSpPr>
          <p:cNvPr id="28" name="Shape 26"/>
          <p:cNvSpPr/>
          <p:nvPr/>
        </p:nvSpPr>
        <p:spPr>
          <a:xfrm>
            <a:off x="10296525" y="6829425"/>
            <a:ext cx="6457950" cy="9525"/>
          </a:xfrm>
          <a:prstGeom prst="rect">
            <a:avLst/>
          </a:prstGeom>
          <a:solidFill>
            <a:srgbClr val="F2ECE2"/>
          </a:solidFill>
          <a:ln/>
        </p:spPr>
      </p:sp>
      <p:sp>
        <p:nvSpPr>
          <p:cNvPr id="29" name="Shape 27"/>
          <p:cNvSpPr/>
          <p:nvPr/>
        </p:nvSpPr>
        <p:spPr>
          <a:xfrm>
            <a:off x="10296525" y="6429375"/>
            <a:ext cx="152400" cy="152400"/>
          </a:xfrm>
          <a:prstGeom prst="ellipse">
            <a:avLst/>
          </a:prstGeom>
          <a:solidFill>
            <a:srgbClr val="E0A500"/>
          </a:solidFill>
          <a:ln/>
        </p:spPr>
      </p:sp>
      <p:sp>
        <p:nvSpPr>
          <p:cNvPr id="30" name="Text 28"/>
          <p:cNvSpPr/>
          <p:nvPr/>
        </p:nvSpPr>
        <p:spPr>
          <a:xfrm>
            <a:off x="10620375" y="6362700"/>
            <a:ext cx="596169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boundaries</a:t>
            </a:r>
            <a:endParaRPr lang="en-US" sz="1875" dirty="0"/>
          </a:p>
        </p:txBody>
      </p:sp>
      <p:sp>
        <p:nvSpPr>
          <p:cNvPr id="31" name="Text 29"/>
          <p:cNvSpPr/>
          <p:nvPr/>
        </p:nvSpPr>
        <p:spPr>
          <a:xfrm>
            <a:off x="16211550" y="6391275"/>
            <a:ext cx="61912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E0A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AMBER</a:t>
            </a:r>
            <a:endParaRPr lang="en-US" sz="1425" dirty="0"/>
          </a:p>
        </p:txBody>
      </p:sp>
      <p:sp>
        <p:nvSpPr>
          <p:cNvPr id="32" name="Shape 30"/>
          <p:cNvSpPr/>
          <p:nvPr/>
        </p:nvSpPr>
        <p:spPr>
          <a:xfrm>
            <a:off x="10296525" y="7086600"/>
            <a:ext cx="152400" cy="152400"/>
          </a:xfrm>
          <a:prstGeom prst="ellipse">
            <a:avLst/>
          </a:prstGeom>
          <a:solidFill>
            <a:srgbClr val="1E8E4E"/>
          </a:solidFill>
          <a:ln/>
        </p:spPr>
      </p:sp>
      <p:sp>
        <p:nvSpPr>
          <p:cNvPr id="33" name="Text 31"/>
          <p:cNvSpPr/>
          <p:nvPr/>
        </p:nvSpPr>
        <p:spPr>
          <a:xfrm>
            <a:off x="10620375" y="7019925"/>
            <a:ext cx="596169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</a:t>
            </a:r>
            <a:endParaRPr lang="en-US" sz="1875" dirty="0"/>
          </a:p>
        </p:txBody>
      </p:sp>
      <p:sp>
        <p:nvSpPr>
          <p:cNvPr id="34" name="Text 32"/>
          <p:cNvSpPr/>
          <p:nvPr/>
        </p:nvSpPr>
        <p:spPr>
          <a:xfrm>
            <a:off x="16211550" y="7048500"/>
            <a:ext cx="61912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dirty="0">
                <a:solidFill>
                  <a:srgbClr val="1E8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GREEN</a:t>
            </a:r>
            <a:endParaRPr lang="en-US" sz="1425" dirty="0"/>
          </a:p>
        </p:txBody>
      </p:sp>
      <p:sp>
        <p:nvSpPr>
          <p:cNvPr id="35" name="Shape 33"/>
          <p:cNvSpPr/>
          <p:nvPr/>
        </p:nvSpPr>
        <p:spPr>
          <a:xfrm>
            <a:off x="10296525" y="7734300"/>
            <a:ext cx="6457950" cy="752475"/>
          </a:xfrm>
          <a:prstGeom prst="roundRect">
            <a:avLst>
              <a:gd name="adj" fmla="val 15190"/>
            </a:avLst>
          </a:prstGeom>
          <a:solidFill>
            <a:srgbClr val="F4EEE4"/>
          </a:solidFill>
          <a:ln w="9525">
            <a:solidFill>
              <a:srgbClr val="CBBFAE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1491615" y="7953375"/>
            <a:ext cx="390079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🔒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1938843" y="7962900"/>
            <a:ext cx="398259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A89E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 — locked until all-green</a:t>
            </a:r>
            <a:endParaRPr lang="en-US" sz="1950" dirty="0"/>
          </a:p>
        </p:txBody>
      </p:sp>
      <p:sp>
        <p:nvSpPr>
          <p:cNvPr id="38" name="Text 36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4831467" y="9648825"/>
            <a:ext cx="254488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CONFIDENTIAL · INTERNAL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38200"/>
            <a:ext cx="17602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FFC7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 2 · IMPACT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333500"/>
            <a:ext cx="17602200" cy="744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5400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 one thing. See everything it touches.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143000" y="2268438"/>
            <a:ext cx="14225588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a node and Buzzin walks the graph, flags every stale or contradicted neighbour, and suggests a fix — nothing silently rots.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833339" y="3581400"/>
            <a:ext cx="162450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14" kern="0" dirty="0">
                <a:solidFill>
                  <a:srgbClr val="6F6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REQUIREMENTS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5720879" y="3581400"/>
            <a:ext cx="445443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14" kern="0" dirty="0">
                <a:solidFill>
                  <a:srgbClr val="6F6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PRD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8562380" y="3581400"/>
            <a:ext cx="1489115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14" kern="0" dirty="0">
                <a:solidFill>
                  <a:srgbClr val="FFC7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/ ADR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11923961" y="3581400"/>
            <a:ext cx="118377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14" kern="0" dirty="0">
                <a:solidFill>
                  <a:srgbClr val="6F6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 SPEC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15408548" y="3581400"/>
            <a:ext cx="691604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14" kern="0" dirty="0">
                <a:solidFill>
                  <a:srgbClr val="6F6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1425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14500" y="4076700"/>
            <a:ext cx="14859000" cy="4953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914525" y="4953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221D19"/>
          </a:solidFill>
          <a:ln w="19050">
            <a:solidFill>
              <a:srgbClr val="3A332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895475" y="4972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8F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REQ-1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1914525" y="7620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221D19"/>
          </a:solidFill>
          <a:ln w="19050">
            <a:solidFill>
              <a:srgbClr val="3A332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895475" y="7639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8F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REQ-2</a:t>
            </a:r>
            <a:endParaRPr lang="en-US" sz="1650" dirty="0"/>
          </a:p>
        </p:txBody>
      </p:sp>
      <p:sp>
        <p:nvSpPr>
          <p:cNvPr id="15" name="Shape 12"/>
          <p:cNvSpPr/>
          <p:nvPr/>
        </p:nvSpPr>
        <p:spPr>
          <a:xfrm>
            <a:off x="5248275" y="4953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221D19"/>
          </a:solidFill>
          <a:ln w="19050">
            <a:solidFill>
              <a:srgbClr val="3A332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29225" y="4972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8F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PRD-1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5248275" y="7620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221D19"/>
          </a:solidFill>
          <a:ln w="19050">
            <a:solidFill>
              <a:srgbClr val="3A332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29225" y="7639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8F8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PRD-2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8582025" y="62865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C4122E"/>
          </a:solidFill>
          <a:ln w="19050">
            <a:solidFill>
              <a:srgbClr val="C4122E"/>
            </a:solidFill>
            <a:prstDash val="solid"/>
          </a:ln>
          <a:effectLst>
            <a:outerShdw sx="100000" sy="100000" kx="0" ky="0" algn="bl" rotWithShape="0" blurRad="101600" dist="50800" dir="16200000">
              <a:srgbClr val="C4122E">
                <a:alpha val="14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562975" y="63055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ADR-1</a:t>
            </a:r>
            <a:endParaRPr lang="en-US" sz="1650" dirty="0"/>
          </a:p>
        </p:txBody>
      </p:sp>
      <p:sp>
        <p:nvSpPr>
          <p:cNvPr id="21" name="Shape 18"/>
          <p:cNvSpPr/>
          <p:nvPr/>
        </p:nvSpPr>
        <p:spPr>
          <a:xfrm>
            <a:off x="11820525" y="4953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3D0"/>
          </a:solidFill>
          <a:ln w="19050">
            <a:solidFill>
              <a:srgbClr val="E0A500"/>
            </a:solidFill>
            <a:prstDash val="solid"/>
          </a:ln>
          <a:effectLst>
            <a:outerShdw sx="100000" sy="100000" kx="0" ky="0" algn="bl" rotWithShape="0" blurRad="101600" dist="50800" dir="16200000">
              <a:srgbClr val="E0A5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11801475" y="4972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7A5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SPEC-1</a:t>
            </a:r>
            <a:endParaRPr lang="en-US" sz="1650" dirty="0"/>
          </a:p>
        </p:txBody>
      </p:sp>
      <p:sp>
        <p:nvSpPr>
          <p:cNvPr id="23" name="Shape 20"/>
          <p:cNvSpPr/>
          <p:nvPr/>
        </p:nvSpPr>
        <p:spPr>
          <a:xfrm>
            <a:off x="11820525" y="76200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3D0"/>
          </a:solidFill>
          <a:ln w="19050">
            <a:solidFill>
              <a:srgbClr val="E0A500"/>
            </a:solidFill>
            <a:prstDash val="solid"/>
          </a:ln>
          <a:effectLst>
            <a:outerShdw sx="100000" sy="100000" kx="0" ky="0" algn="bl" rotWithShape="0" blurRad="101600" dist="50800" dir="16200000">
              <a:srgbClr val="E0A500">
                <a:alpha val="12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1801475" y="76390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7A5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SPEC-2</a:t>
            </a:r>
            <a:endParaRPr lang="en-US" sz="1650" dirty="0"/>
          </a:p>
        </p:txBody>
      </p:sp>
      <p:sp>
        <p:nvSpPr>
          <p:cNvPr id="25" name="Shape 22"/>
          <p:cNvSpPr/>
          <p:nvPr/>
        </p:nvSpPr>
        <p:spPr>
          <a:xfrm>
            <a:off x="15059025" y="447675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101600" dist="50800" dir="16200000">
              <a:srgbClr val="E0A500">
                <a:alpha val="82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15039975" y="449580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TASK-1</a:t>
            </a:r>
            <a:endParaRPr lang="en-US" sz="1650" dirty="0"/>
          </a:p>
        </p:txBody>
      </p:sp>
      <p:sp>
        <p:nvSpPr>
          <p:cNvPr id="27" name="Shape 24"/>
          <p:cNvSpPr/>
          <p:nvPr/>
        </p:nvSpPr>
        <p:spPr>
          <a:xfrm>
            <a:off x="15059025" y="628650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101600" dist="50800" dir="16200000">
              <a:srgbClr val="E0A500">
                <a:alpha val="82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15039975" y="630555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TASK-2</a:t>
            </a:r>
            <a:endParaRPr lang="en-US" sz="1650" dirty="0"/>
          </a:p>
        </p:txBody>
      </p:sp>
      <p:sp>
        <p:nvSpPr>
          <p:cNvPr id="29" name="Shape 26"/>
          <p:cNvSpPr/>
          <p:nvPr/>
        </p:nvSpPr>
        <p:spPr>
          <a:xfrm>
            <a:off x="15059025" y="8096250"/>
            <a:ext cx="1314450" cy="53340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D9D0C4"/>
            </a:solidFill>
            <a:prstDash val="solid"/>
          </a:ln>
          <a:effectLst>
            <a:outerShdw sx="100000" sy="100000" kx="0" ky="0" algn="bl" rotWithShape="0" blurRad="101600" dist="50800" dir="16200000">
              <a:srgbClr val="E0A500">
                <a:alpha val="82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15039975" y="8115300"/>
            <a:ext cx="13525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717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TASK-3</a:t>
            </a:r>
            <a:endParaRPr lang="en-US" sz="1650" dirty="0"/>
          </a:p>
        </p:txBody>
      </p:sp>
      <p:sp>
        <p:nvSpPr>
          <p:cNvPr id="31" name="Shape 28"/>
          <p:cNvSpPr/>
          <p:nvPr/>
        </p:nvSpPr>
        <p:spPr>
          <a:xfrm>
            <a:off x="9239250" y="7315200"/>
            <a:ext cx="2979539" cy="390525"/>
          </a:xfrm>
          <a:prstGeom prst="roundRect">
            <a:avLst>
              <a:gd name="adj" fmla="val 19512"/>
            </a:avLst>
          </a:prstGeom>
          <a:solidFill>
            <a:srgbClr val="C4122E"/>
          </a:solidFill>
          <a:ln/>
        </p:spPr>
      </p:sp>
      <p:sp>
        <p:nvSpPr>
          <p:cNvPr id="32" name="Text 29"/>
          <p:cNvSpPr/>
          <p:nvPr/>
        </p:nvSpPr>
        <p:spPr>
          <a:xfrm>
            <a:off x="9391650" y="7400925"/>
            <a:ext cx="2764125" cy="2571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 supersedes ADR-1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34" name="Text 31"/>
          <p:cNvSpPr/>
          <p:nvPr/>
        </p:nvSpPr>
        <p:spPr>
          <a:xfrm>
            <a:off x="14034343" y="9648825"/>
            <a:ext cx="342172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E0A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algn="l" indent="0" marL="0">
              <a:buNone/>
            </a:pPr>
            <a:r>
              <a:rPr lang="en-US" sz="1200" spc="72" kern="0" dirty="0">
                <a:solidFill>
                  <a:srgbClr val="6F6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flagged stale · fix suggested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38200"/>
            <a:ext cx="17602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GROUNDED IN OUR RULES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333500"/>
            <a:ext cx="17602200" cy="744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540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reasons inside our guardrails, not the internet's.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143000" y="3429000"/>
            <a:ext cx="88011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90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TECH RADAR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43000" y="3914775"/>
            <a:ext cx="800100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5DE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9225" y="4176712"/>
            <a:ext cx="112395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E8E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2676525" y="4152900"/>
            <a:ext cx="681037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 — the advisor reaches for these first.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1143000" y="4848225"/>
            <a:ext cx="800100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5DE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19225" y="5110163"/>
            <a:ext cx="112395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E0A5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TRIAL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2676525" y="5086350"/>
            <a:ext cx="681037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Allowed with a caveat and a named fallback.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1143000" y="5781675"/>
            <a:ext cx="800100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5DE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9225" y="6043613"/>
            <a:ext cx="1123950" cy="276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HOLD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2676525" y="6019800"/>
            <a:ext cx="6810375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— cannot be chosen, no exceptions.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9525000" y="3429000"/>
            <a:ext cx="83820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500" spc="90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 COMPLIANCE CONSTRAINTS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525000" y="3914775"/>
            <a:ext cx="2089547" cy="638175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25000" y="4543425"/>
            <a:ext cx="2089547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17" name="Shape 15"/>
          <p:cNvSpPr/>
          <p:nvPr/>
        </p:nvSpPr>
        <p:spPr>
          <a:xfrm>
            <a:off x="9525000" y="3914775"/>
            <a:ext cx="2089547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18" name="Shape 16"/>
          <p:cNvSpPr/>
          <p:nvPr/>
        </p:nvSpPr>
        <p:spPr>
          <a:xfrm>
            <a:off x="9525000" y="3914775"/>
            <a:ext cx="38100" cy="638175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19" name="Shape 17"/>
          <p:cNvSpPr/>
          <p:nvPr/>
        </p:nvSpPr>
        <p:spPr>
          <a:xfrm>
            <a:off x="11605022" y="3914775"/>
            <a:ext cx="9525" cy="63817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4095750"/>
            <a:ext cx="166092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residency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1766947" y="3914775"/>
            <a:ext cx="2718941" cy="638175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766947" y="4543425"/>
            <a:ext cx="2718941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23" name="Shape 21"/>
          <p:cNvSpPr/>
          <p:nvPr/>
        </p:nvSpPr>
        <p:spPr>
          <a:xfrm>
            <a:off x="11766947" y="3914775"/>
            <a:ext cx="2718941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24" name="Shape 22"/>
          <p:cNvSpPr/>
          <p:nvPr/>
        </p:nvSpPr>
        <p:spPr>
          <a:xfrm>
            <a:off x="11766947" y="3914775"/>
            <a:ext cx="38100" cy="638175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25" name="Shape 23"/>
          <p:cNvSpPr/>
          <p:nvPr/>
        </p:nvSpPr>
        <p:spPr>
          <a:xfrm>
            <a:off x="14476363" y="3914775"/>
            <a:ext cx="9525" cy="63817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26" name="Text 24"/>
          <p:cNvSpPr/>
          <p:nvPr/>
        </p:nvSpPr>
        <p:spPr>
          <a:xfrm>
            <a:off x="12033647" y="4095750"/>
            <a:ext cx="2295684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 encryption at rest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638288" y="3914775"/>
            <a:ext cx="1920627" cy="638175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14638288" y="4543425"/>
            <a:ext cx="1920627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29" name="Shape 27"/>
          <p:cNvSpPr/>
          <p:nvPr/>
        </p:nvSpPr>
        <p:spPr>
          <a:xfrm>
            <a:off x="14638288" y="3914775"/>
            <a:ext cx="1920627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30" name="Shape 28"/>
          <p:cNvSpPr/>
          <p:nvPr/>
        </p:nvSpPr>
        <p:spPr>
          <a:xfrm>
            <a:off x="14638288" y="3914775"/>
            <a:ext cx="38100" cy="638175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31" name="Shape 29"/>
          <p:cNvSpPr/>
          <p:nvPr/>
        </p:nvSpPr>
        <p:spPr>
          <a:xfrm>
            <a:off x="16549390" y="3914775"/>
            <a:ext cx="9525" cy="63817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32" name="Text 30"/>
          <p:cNvSpPr/>
          <p:nvPr/>
        </p:nvSpPr>
        <p:spPr>
          <a:xfrm>
            <a:off x="14904988" y="4095750"/>
            <a:ext cx="1492002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audit trail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525000" y="4705350"/>
            <a:ext cx="2128093" cy="638175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/>
        </p:spPr>
      </p:sp>
      <p:sp>
        <p:nvSpPr>
          <p:cNvPr id="34" name="Shape 32"/>
          <p:cNvSpPr/>
          <p:nvPr/>
        </p:nvSpPr>
        <p:spPr>
          <a:xfrm>
            <a:off x="9525000" y="5334000"/>
            <a:ext cx="2128093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35" name="Shape 33"/>
          <p:cNvSpPr/>
          <p:nvPr/>
        </p:nvSpPr>
        <p:spPr>
          <a:xfrm>
            <a:off x="9525000" y="4705350"/>
            <a:ext cx="2128093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36" name="Shape 34"/>
          <p:cNvSpPr/>
          <p:nvPr/>
        </p:nvSpPr>
        <p:spPr>
          <a:xfrm>
            <a:off x="9525000" y="4705350"/>
            <a:ext cx="38100" cy="638175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37" name="Shape 35"/>
          <p:cNvSpPr/>
          <p:nvPr/>
        </p:nvSpPr>
        <p:spPr>
          <a:xfrm>
            <a:off x="11643568" y="4705350"/>
            <a:ext cx="9525" cy="63817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38" name="Text 36"/>
          <p:cNvSpPr/>
          <p:nvPr/>
        </p:nvSpPr>
        <p:spPr>
          <a:xfrm>
            <a:off x="9791700" y="4886325"/>
            <a:ext cx="1699468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risk tier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1805493" y="4705350"/>
            <a:ext cx="2441228" cy="638175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11805493" y="5334000"/>
            <a:ext cx="2441228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41" name="Shape 39"/>
          <p:cNvSpPr/>
          <p:nvPr/>
        </p:nvSpPr>
        <p:spPr>
          <a:xfrm>
            <a:off x="11805493" y="4705350"/>
            <a:ext cx="2441228" cy="952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42" name="Shape 40"/>
          <p:cNvSpPr/>
          <p:nvPr/>
        </p:nvSpPr>
        <p:spPr>
          <a:xfrm>
            <a:off x="11805493" y="4705350"/>
            <a:ext cx="38100" cy="638175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43" name="Shape 41"/>
          <p:cNvSpPr/>
          <p:nvPr/>
        </p:nvSpPr>
        <p:spPr>
          <a:xfrm>
            <a:off x="14237196" y="4705350"/>
            <a:ext cx="9525" cy="638175"/>
          </a:xfrm>
          <a:prstGeom prst="rect">
            <a:avLst/>
          </a:prstGeom>
          <a:solidFill>
            <a:srgbClr val="E5DED4"/>
          </a:solidFill>
          <a:ln/>
        </p:spPr>
      </p:sp>
      <p:sp>
        <p:nvSpPr>
          <p:cNvPr id="44" name="Text 42"/>
          <p:cNvSpPr/>
          <p:nvPr/>
        </p:nvSpPr>
        <p:spPr>
          <a:xfrm>
            <a:off x="12072193" y="4886325"/>
            <a:ext cx="2012603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2 / regulatory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525000" y="5686425"/>
            <a:ext cx="7620000" cy="1409700"/>
          </a:xfrm>
          <a:prstGeom prst="roundRect">
            <a:avLst>
              <a:gd name="adj" fmla="val 9459"/>
            </a:avLst>
          </a:prstGeom>
          <a:solidFill>
            <a:srgbClr val="171717"/>
          </a:solidFill>
          <a:ln/>
        </p:spPr>
      </p:sp>
      <p:sp>
        <p:nvSpPr>
          <p:cNvPr id="46" name="Text 44"/>
          <p:cNvSpPr/>
          <p:nvPr/>
        </p:nvSpPr>
        <p:spPr>
          <a:xfrm>
            <a:off x="9848850" y="5991225"/>
            <a:ext cx="7181469" cy="838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i="1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Violate a hard rule and the advisor </a:t>
            </a:r>
            <a:pPr algn="l" indent="0" marL="0">
              <a:lnSpc>
                <a:spcPct val="140000"/>
              </a:lnSpc>
              <a:buNone/>
            </a:pPr>
            <a:r>
              <a:rPr lang="en-US" sz="2250" i="1" dirty="0">
                <a:solidFill>
                  <a:srgbClr val="FFC7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escalates the conflict </a:t>
            </a:r>
            <a:pPr algn="l" indent="0" marL="0">
              <a:lnSpc>
                <a:spcPct val="140000"/>
              </a:lnSpc>
              <a:buNone/>
            </a:pPr>
            <a:r>
              <a:rPr lang="en-US" sz="2250" i="1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it never quietly breaks it.</a:t>
            </a:r>
            <a:endParaRPr lang="en-US" sz="2250" dirty="0"/>
          </a:p>
        </p:txBody>
      </p:sp>
      <p:sp>
        <p:nvSpPr>
          <p:cNvPr id="47" name="Text 45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14831467" y="9648825"/>
            <a:ext cx="254488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CONFIDENTIAL · INTERNAL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38200"/>
            <a:ext cx="17602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FFC7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VALUE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333500"/>
            <a:ext cx="17602200" cy="744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5400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Reclaimed capacity worth </a:t>
            </a:r>
            <a:pPr algn="l" indent="0" marL="0">
              <a:lnSpc>
                <a:spcPct val="103000"/>
              </a:lnSpc>
              <a:buNone/>
            </a:pPr>
            <a:r>
              <a:rPr lang="en-US" sz="5400" dirty="0">
                <a:solidFill>
                  <a:srgbClr val="FFC7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~$111M a year.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1143000" y="3543300"/>
            <a:ext cx="3574703" cy="2167830"/>
          </a:xfrm>
          <a:prstGeom prst="roundRect">
            <a:avLst>
              <a:gd name="adj" fmla="val 6151"/>
            </a:avLst>
          </a:prstGeom>
          <a:solidFill>
            <a:srgbClr val="1E1A16"/>
          </a:solidFill>
          <a:ln w="9525">
            <a:solidFill>
              <a:srgbClr val="2F29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38275" y="3876675"/>
            <a:ext cx="3282568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5,500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1438275" y="4791075"/>
            <a:ext cx="3073677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+ PMs in scope, junior through Principal / Lead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889153" y="3543300"/>
            <a:ext cx="300930" cy="2205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6F6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285333" y="3543300"/>
            <a:ext cx="3574852" cy="2167830"/>
          </a:xfrm>
          <a:prstGeom prst="roundRect">
            <a:avLst>
              <a:gd name="adj" fmla="val 6151"/>
            </a:avLst>
          </a:prstGeom>
          <a:solidFill>
            <a:srgbClr val="1E1A16"/>
          </a:solidFill>
          <a:ln w="9525">
            <a:solidFill>
              <a:srgbClr val="2F29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80608" y="3876675"/>
            <a:ext cx="328273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$225K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5580608" y="4791075"/>
            <a:ext cx="3073831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total comp, US-anchored estimate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031635" y="3543300"/>
            <a:ext cx="300930" cy="2205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6F6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3300" dirty="0"/>
          </a:p>
        </p:txBody>
      </p:sp>
      <p:sp>
        <p:nvSpPr>
          <p:cNvPr id="12" name="Shape 10"/>
          <p:cNvSpPr/>
          <p:nvPr/>
        </p:nvSpPr>
        <p:spPr>
          <a:xfrm>
            <a:off x="9427815" y="3543300"/>
            <a:ext cx="3574703" cy="2167830"/>
          </a:xfrm>
          <a:prstGeom prst="roundRect">
            <a:avLst>
              <a:gd name="adj" fmla="val 6151"/>
            </a:avLst>
          </a:prstGeom>
          <a:solidFill>
            <a:srgbClr val="1E1A16"/>
          </a:solidFill>
          <a:ln w="9525">
            <a:solidFill>
              <a:srgbClr val="2F292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23090" y="3876675"/>
            <a:ext cx="3282568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</a:t>
            </a:r>
            <a:endParaRPr lang="en-US" sz="6000" dirty="0"/>
          </a:p>
        </p:txBody>
      </p:sp>
      <p:sp>
        <p:nvSpPr>
          <p:cNvPr id="14" name="Text 12"/>
          <p:cNvSpPr/>
          <p:nvPr/>
        </p:nvSpPr>
        <p:spPr>
          <a:xfrm>
            <a:off x="9723090" y="4791075"/>
            <a:ext cx="3073677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their time in the idea → plan → spec cycle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3173968" y="3543300"/>
            <a:ext cx="300930" cy="22059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buNone/>
            </a:pPr>
            <a:r>
              <a:rPr lang="en-US" sz="3300" dirty="0">
                <a:solidFill>
                  <a:srgbClr val="6F6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13570148" y="3543300"/>
            <a:ext cx="3574852" cy="2167830"/>
          </a:xfrm>
          <a:prstGeom prst="roundRect">
            <a:avLst>
              <a:gd name="adj" fmla="val 6151"/>
            </a:avLst>
          </a:prstGeom>
          <a:solidFill>
            <a:srgbClr val="1E1A16"/>
          </a:solidFill>
          <a:ln w="9525">
            <a:solidFill>
              <a:srgbClr val="2F29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865423" y="3876675"/>
            <a:ext cx="3282732" cy="800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000" dirty="0">
                <a:solidFill>
                  <a:srgbClr val="FFC7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30%</a:t>
            </a:r>
            <a:endParaRPr lang="en-US" sz="6000" dirty="0"/>
          </a:p>
        </p:txBody>
      </p:sp>
      <p:sp>
        <p:nvSpPr>
          <p:cNvPr id="18" name="Text 16"/>
          <p:cNvSpPr/>
          <p:nvPr/>
        </p:nvSpPr>
        <p:spPr>
          <a:xfrm>
            <a:off x="13865423" y="4791075"/>
            <a:ext cx="3282732" cy="3314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5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that time Buzzin gives back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143000" y="6953250"/>
            <a:ext cx="16002000" cy="1843980"/>
          </a:xfrm>
          <a:prstGeom prst="roundRect">
            <a:avLst>
              <a:gd name="adj" fmla="val 9298"/>
            </a:avLst>
          </a:prstGeom>
          <a:solidFill>
            <a:srgbClr val="C4122E"/>
          </a:solidFill>
          <a:ln/>
        </p:spPr>
      </p:sp>
      <p:sp>
        <p:nvSpPr>
          <p:cNvPr id="20" name="Text 18"/>
          <p:cNvSpPr/>
          <p:nvPr/>
        </p:nvSpPr>
        <p:spPr>
          <a:xfrm>
            <a:off x="1638300" y="7315200"/>
            <a:ext cx="6515859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171" kern="0" dirty="0">
                <a:solidFill>
                  <a:srgbClr val="FFD9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RECLAIMED PLANNING CAPACITY</a:t>
            </a:r>
            <a:endParaRPr lang="en-US" sz="1425" dirty="0"/>
          </a:p>
        </p:txBody>
      </p:sp>
      <p:sp>
        <p:nvSpPr>
          <p:cNvPr id="21" name="Text 19"/>
          <p:cNvSpPr/>
          <p:nvPr/>
        </p:nvSpPr>
        <p:spPr>
          <a:xfrm>
            <a:off x="1638300" y="7639050"/>
            <a:ext cx="6515859" cy="834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≈ $111M / year</a:t>
            </a:r>
            <a:endParaRPr lang="en-US" sz="6600" dirty="0"/>
          </a:p>
        </p:txBody>
      </p:sp>
      <p:sp>
        <p:nvSpPr>
          <p:cNvPr id="22" name="Text 20"/>
          <p:cNvSpPr/>
          <p:nvPr/>
        </p:nvSpPr>
        <p:spPr>
          <a:xfrm>
            <a:off x="10370820" y="7339459"/>
            <a:ext cx="6278880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FFE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Conservative point estimate. Range ≈ </a:t>
            </a:r>
            <a:pPr algn="r" indent="0" marL="0">
              <a:lnSpc>
                <a:spcPct val="150000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$74M </a:t>
            </a:r>
            <a:pPr algn="r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FFE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global-blended comp to </a:t>
            </a:r>
            <a:pPr algn="r" indent="0" marL="0">
              <a:lnSpc>
                <a:spcPct val="150000"/>
              </a:lnSpc>
              <a:buNone/>
            </a:pPr>
            <a:r>
              <a:rPr lang="en-US" sz="187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$130M </a:t>
            </a:r>
            <a:pPr algn="r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FFE3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35% efficiency — and this is planning only, before faster delivery downstream.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0606980" y="9648825"/>
            <a:ext cx="7191821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6F6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ILLUSTRATIVE · HEADCOUNT &amp; COMP ESTIMATED · VALIDATE WITH FINANCE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3350" cy="10287000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914400"/>
            <a:ext cx="17602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WE ARE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1409700"/>
            <a:ext cx="17602200" cy="78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570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mockup. It runs today.</a:t>
            </a:r>
            <a:endParaRPr lang="en-US" sz="5700" dirty="0"/>
          </a:p>
        </p:txBody>
      </p:sp>
      <p:sp>
        <p:nvSpPr>
          <p:cNvPr id="5" name="Text 3"/>
          <p:cNvSpPr/>
          <p:nvPr/>
        </p:nvSpPr>
        <p:spPr>
          <a:xfrm>
            <a:off x="1143000" y="3600450"/>
            <a:ext cx="30450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580852" y="3600450"/>
            <a:ext cx="7496979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Claude-backed specialist agents, live end-to-end</a:t>
            </a:r>
            <a:endParaRPr lang="en-US" sz="2175" dirty="0"/>
          </a:p>
        </p:txBody>
      </p:sp>
      <p:sp>
        <p:nvSpPr>
          <p:cNvPr id="7" name="Text 5"/>
          <p:cNvSpPr/>
          <p:nvPr/>
        </p:nvSpPr>
        <p:spPr>
          <a:xfrm>
            <a:off x="9572625" y="3600450"/>
            <a:ext cx="30450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10477" y="3600450"/>
            <a:ext cx="6909093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Artifact graph with typed edges &amp; version history</a:t>
            </a:r>
            <a:endParaRPr lang="en-US" sz="2175" dirty="0"/>
          </a:p>
        </p:txBody>
      </p:sp>
      <p:sp>
        <p:nvSpPr>
          <p:cNvPr id="9" name="Text 7"/>
          <p:cNvSpPr/>
          <p:nvPr/>
        </p:nvSpPr>
        <p:spPr>
          <a:xfrm>
            <a:off x="1143000" y="4253805"/>
            <a:ext cx="30450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580852" y="4253805"/>
            <a:ext cx="7348558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 &amp; Impact engines on one consistency checker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9572625" y="4253805"/>
            <a:ext cx="30450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0010477" y="4253805"/>
            <a:ext cx="7021562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ADRs — radar + compliance enforced</a:t>
            </a:r>
            <a:endParaRPr lang="en-US" sz="2175" dirty="0"/>
          </a:p>
        </p:txBody>
      </p:sp>
      <p:sp>
        <p:nvSpPr>
          <p:cNvPr id="13" name="Text 11"/>
          <p:cNvSpPr/>
          <p:nvPr/>
        </p:nvSpPr>
        <p:spPr>
          <a:xfrm>
            <a:off x="1143000" y="5293816"/>
            <a:ext cx="30450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80852" y="5293816"/>
            <a:ext cx="5973157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+ SQLite backend, React front end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9572625" y="5293816"/>
            <a:ext cx="304502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E8E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0010477" y="5293816"/>
            <a:ext cx="7348558" cy="8114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75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test suite green: gate · impact · constraint · traceability</a:t>
            </a:r>
            <a:endParaRPr lang="en-US" sz="2175" dirty="0"/>
          </a:p>
        </p:txBody>
      </p:sp>
      <p:sp>
        <p:nvSpPr>
          <p:cNvPr id="17" name="Text 15"/>
          <p:cNvSpPr/>
          <p:nvPr/>
        </p:nvSpPr>
        <p:spPr>
          <a:xfrm>
            <a:off x="1143000" y="8134350"/>
            <a:ext cx="16482060" cy="762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i="1" dirty="0">
                <a:solidFill>
                  <a:srgbClr val="4A44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hard part — making the intelligence legible and safe — is already proven. What's left is turning a proof-of-concept into a product.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4831467" y="9648825"/>
            <a:ext cx="254488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CONFIDENTIAL · INTERNAL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838200"/>
            <a:ext cx="1760220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396" kern="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PATH FORWARD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43000" y="1333500"/>
            <a:ext cx="17602200" cy="744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5400" dirty="0">
                <a:solidFill>
                  <a:srgbClr val="1717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proof-of-concept to platform.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1143000" y="3543300"/>
            <a:ext cx="3810000" cy="38100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3867150"/>
            <a:ext cx="37719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86" kern="0" dirty="0">
                <a:solidFill>
                  <a:srgbClr val="C41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NOW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1143000" y="4248150"/>
            <a:ext cx="37719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core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143000" y="4724400"/>
            <a:ext cx="3531870" cy="10239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operator, sequential, seeded company profile. The full pipeline works.</a:t>
            </a:r>
            <a:endParaRPr lang="en-US" sz="1725" dirty="0"/>
          </a:p>
        </p:txBody>
      </p:sp>
      <p:sp>
        <p:nvSpPr>
          <p:cNvPr id="8" name="Shape 6"/>
          <p:cNvSpPr/>
          <p:nvPr/>
        </p:nvSpPr>
        <p:spPr>
          <a:xfrm>
            <a:off x="4953000" y="3543300"/>
            <a:ext cx="4191000" cy="38100"/>
          </a:xfrm>
          <a:prstGeom prst="rect">
            <a:avLst/>
          </a:prstGeom>
          <a:solidFill>
            <a:srgbClr val="E0CF9A"/>
          </a:solidFill>
          <a:ln/>
        </p:spPr>
      </p:sp>
      <p:sp>
        <p:nvSpPr>
          <p:cNvPr id="9" name="Text 7"/>
          <p:cNvSpPr/>
          <p:nvPr/>
        </p:nvSpPr>
        <p:spPr>
          <a:xfrm>
            <a:off x="5334000" y="3867150"/>
            <a:ext cx="37719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86" kern="0" dirty="0">
                <a:solidFill>
                  <a:srgbClr val="8A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5334000" y="4248150"/>
            <a:ext cx="37719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Workday-aware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5334000" y="4724400"/>
            <a:ext cx="3531870" cy="10239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the operator's role from Workday, auto-applying the right persona and entitlements.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9144000" y="3543300"/>
            <a:ext cx="4191000" cy="38100"/>
          </a:xfrm>
          <a:prstGeom prst="rect">
            <a:avLst/>
          </a:prstGeom>
          <a:solidFill>
            <a:srgbClr val="E0CF9A"/>
          </a:solidFill>
          <a:ln/>
        </p:spPr>
      </p:sp>
      <p:sp>
        <p:nvSpPr>
          <p:cNvPr id="13" name="Text 11"/>
          <p:cNvSpPr/>
          <p:nvPr/>
        </p:nvSpPr>
        <p:spPr>
          <a:xfrm>
            <a:off x="9525000" y="3867150"/>
            <a:ext cx="37719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86" kern="0" dirty="0">
                <a:solidFill>
                  <a:srgbClr val="8A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9525000" y="4248150"/>
            <a:ext cx="37719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525000" y="4724400"/>
            <a:ext cx="3531870" cy="10239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Multi-user, SSO, and live integrations — Jira, Confluence, ServiceNow.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13335000" y="3543300"/>
            <a:ext cx="3810000" cy="38100"/>
          </a:xfrm>
          <a:prstGeom prst="rect">
            <a:avLst/>
          </a:prstGeom>
          <a:solidFill>
            <a:srgbClr val="E0CF9A"/>
          </a:solidFill>
          <a:ln/>
        </p:spPr>
      </p:sp>
      <p:sp>
        <p:nvSpPr>
          <p:cNvPr id="17" name="Text 15"/>
          <p:cNvSpPr/>
          <p:nvPr/>
        </p:nvSpPr>
        <p:spPr>
          <a:xfrm>
            <a:off x="13716000" y="3867150"/>
            <a:ext cx="37719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425" spc="86" kern="0" dirty="0">
                <a:solidFill>
                  <a:srgbClr val="8A6D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LATER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13716000" y="4248150"/>
            <a:ext cx="377190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Portfolio-scale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716000" y="4724400"/>
            <a:ext cx="3531870" cy="10239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725" dirty="0">
                <a:solidFill>
                  <a:srgbClr val="4A44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analysis across many projects — see a change ripple through the whole book of work.</a:t>
            </a:r>
            <a:endParaRPr lang="en-US" sz="1725" dirty="0"/>
          </a:p>
        </p:txBody>
      </p:sp>
      <p:sp>
        <p:nvSpPr>
          <p:cNvPr id="20" name="Text 18"/>
          <p:cNvSpPr/>
          <p:nvPr/>
        </p:nvSpPr>
        <p:spPr>
          <a:xfrm>
            <a:off x="1143000" y="9620250"/>
            <a:ext cx="65692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b="1" spc="-33" kern="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4831467" y="9648825"/>
            <a:ext cx="2544887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72" kern="0" dirty="0">
                <a:solidFill>
                  <a:srgbClr val="A89E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CONFIDENTIAL · INTERNAL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3350" cy="10287000"/>
          </a:xfrm>
          <a:prstGeom prst="rect">
            <a:avLst/>
          </a:prstGeom>
          <a:solidFill>
            <a:srgbClr val="C412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/>
        </p:spPr>
      </p:sp>
      <p:sp>
        <p:nvSpPr>
          <p:cNvPr id="4" name="Text 2"/>
          <p:cNvSpPr/>
          <p:nvPr/>
        </p:nvSpPr>
        <p:spPr>
          <a:xfrm>
            <a:off x="1143000" y="2190750"/>
            <a:ext cx="2044913" cy="819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5400" b="1" spc="-162" kern="0" dirty="0">
                <a:solidFill>
                  <a:srgbClr val="F7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143000" y="3314700"/>
            <a:ext cx="16187738" cy="1866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F7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risky part is done. </a:t>
            </a:r>
            <a:pPr algn="l" indent="0" marL="0">
              <a:lnSpc>
                <a:spcPct val="100000"/>
              </a:lnSpc>
              <a:buNone/>
            </a:pPr>
            <a:r>
              <a:rPr lang="en-US" sz="7200" dirty="0">
                <a:solidFill>
                  <a:srgbClr val="FFC7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build it.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143000" y="5524500"/>
            <a:ext cx="12263438" cy="1495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55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us a focused pilot on one real initiative — a small team and access to our radar + compliance data — and we'll show Buzzin carry it from a sentence to a shippable plan.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143000" y="8286750"/>
            <a:ext cx="1600498" cy="762000"/>
          </a:xfrm>
          <a:prstGeom prst="roundRect">
            <a:avLst>
              <a:gd name="adj" fmla="val 15000"/>
            </a:avLst>
          </a:prstGeom>
          <a:solidFill>
            <a:srgbClr val="1E1A16"/>
          </a:solidFill>
          <a:ln w="9525">
            <a:solidFill>
              <a:srgbClr val="2F29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38275" y="8524875"/>
            <a:ext cx="1086148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350" spc="81" kern="0" dirty="0">
                <a:solidFill>
                  <a:srgbClr val="FFC7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ASK →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2933998" y="8286750"/>
            <a:ext cx="4609951" cy="762000"/>
          </a:xfrm>
          <a:prstGeom prst="roundRect">
            <a:avLst>
              <a:gd name="adj" fmla="val 15000"/>
            </a:avLst>
          </a:prstGeom>
          <a:solidFill>
            <a:srgbClr val="1E1A16"/>
          </a:solidFill>
          <a:ln w="9525">
            <a:solidFill>
              <a:srgbClr val="2F29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29273" y="8524875"/>
            <a:ext cx="41577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7D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 initiative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7734449" y="8286750"/>
            <a:ext cx="4610100" cy="762000"/>
          </a:xfrm>
          <a:prstGeom prst="roundRect">
            <a:avLst>
              <a:gd name="adj" fmla="val 15000"/>
            </a:avLst>
          </a:prstGeom>
          <a:solidFill>
            <a:srgbClr val="1E1A16"/>
          </a:solidFill>
          <a:ln w="9525">
            <a:solidFill>
              <a:srgbClr val="2F29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29724" y="8524875"/>
            <a:ext cx="4157853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7D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build team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12535049" y="8286750"/>
            <a:ext cx="4609951" cy="762000"/>
          </a:xfrm>
          <a:prstGeom prst="roundRect">
            <a:avLst>
              <a:gd name="adj" fmla="val 15000"/>
            </a:avLst>
          </a:prstGeom>
          <a:solidFill>
            <a:srgbClr val="1E1A16"/>
          </a:solidFill>
          <a:ln w="9525">
            <a:solidFill>
              <a:srgbClr val="2F29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830324" y="8524875"/>
            <a:ext cx="415770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E7DE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+ compliance access</a:t>
            </a:r>
            <a:endParaRPr lang="en-US" sz="1875" dirty="0"/>
          </a:p>
        </p:txBody>
      </p:sp>
      <p:sp>
        <p:nvSpPr>
          <p:cNvPr id="15" name="Shape 13"/>
          <p:cNvSpPr/>
          <p:nvPr/>
        </p:nvSpPr>
        <p:spPr>
          <a:xfrm>
            <a:off x="1143000" y="9363075"/>
            <a:ext cx="16002000" cy="9525"/>
          </a:xfrm>
          <a:prstGeom prst="rect">
            <a:avLst/>
          </a:prstGeom>
          <a:solidFill>
            <a:srgbClr val="2F2924"/>
          </a:solidFill>
          <a:ln/>
        </p:spPr>
      </p:sp>
      <p:sp>
        <p:nvSpPr>
          <p:cNvPr id="16" name="Text 14"/>
          <p:cNvSpPr/>
          <p:nvPr/>
        </p:nvSpPr>
        <p:spPr>
          <a:xfrm>
            <a:off x="1143000" y="9620250"/>
            <a:ext cx="5272802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BCB3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Devin is for developers. </a:t>
            </a:r>
            <a:pPr algn="l" indent="0" marL="0">
              <a:buNone/>
            </a:pPr>
            <a:r>
              <a:rPr lang="en-US" sz="1650" dirty="0">
                <a:solidFill>
                  <a:srgbClr val="FFC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Buzzin is for the business.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4761369" y="9648825"/>
            <a:ext cx="2621994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spc="96" kern="0" dirty="0">
                <a:solidFill>
                  <a:srgbClr val="6F66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CONFIDENTIAL · INTERNAL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2026-07-03T07:08:51Z</dcterms:created>
  <dcterms:modified xsi:type="dcterms:W3CDTF">2026-07-03T07:08:51Z</dcterms:modified>
</cp:coreProperties>
</file>