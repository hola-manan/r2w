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confidently. This is a proposal to build Buzzin for real. One line: Devin gave engineers an AI teammate; Buzzin gives the business one — it carries an idea from a sentence to a shippable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product starts as a sentence from a business stakeholder. Then it gets handed off — BA to PM to architect to engineering — and at every handoff, context leaks. What ships is rarely what was meant.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lost context is expensive. Industry ranges: rework eats a big share of build effort, and most failed projects trace back to requirements problems. Frame these as directional, not precise — the mechanism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turn. Devin gave every engineer an AI teammate. Buzzin gives the business one. One operator chats their idea in; a team of AI specialists turns it into a plan the way a great cross-functional team would — but nothing gets lost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workflow. One idea moves through five stages — Requirements, PRD, Stack, Spec, Tasks. The operator switches persona from Business User to Tech Architect as it deepens. Each stage has a gate; you can't advance until the work is actually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hood, Buzzin is a team of five AI specialists, each expert at one stage. The key discipline: single-writer. Each specialist can only write its own artifact type, so they collaborate without trampling each other's work — like a well-run team with clear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spine that makes it all hold together: the artifact graph. Every node — a requirement, a PRD item, an ADR, a spec component, a task — is linked to the upstream node it came from. Nothing floats free. If a node can't cite where it came from, Buzzin flags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of two signature engines. The Readiness Engine scores the work against an anchored rubric and gates progression — you literally cannot advance until the hard dimensions go green. Instead of a blank 'is this good enough?', Buzzin asks the one question that closes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engine, and the one that earns its keep over time. When the architect changes one node — say, supersedes an ADR — Buzzin walks the graph and flags everything downstream that just went stale, with a suggested fix for each. Watch it propagate: the change ripples from the ADR to the specs to the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is safe for us specifically. Every stack decision is an ADR, constrained to our tech radar and blocked outright if it violates a hard compliance rule. The advisor escalates a conflict instead of silently breaking a rule. It reasons inside our guardrails, not a generic internet's.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it's worth at Wells Fargo scale. Around 5,500 people sit in the architect and product-management ladders, junior through Principal, at roughly 225K average total comp. These roles spend a large share of their week on the idea-to-plan-to-spec cycle — 30% is conservative — and Buzzin gives back about a third of it. Multiply it out: roughly 110 million dollars a year in reclaimed capacity, before any downstream delivery speedup. Illustrative; validate the headcount and comp with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Crucially, this is not a mockup. The full pipeline runs today — five agents, the graph, both engines, constrained ADRs, on a real backend and frontend. The offline test suite is green on the hard acceptance checks: gating, impact, constraint enforcement, and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goes from here. Today it's a single operator on a seeded profile. Next, we detect the operator's role from Workday and auto-apply the right persona and entitlements. Then multi-user and live integrations — Jira, Confluence, ServiceNow. Then portfolio-level impact across many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The risky part is proven. Give us a focused pilot — one real initiative, a small team, and access to our radar and compliance data — and we'll show Buzzin carrying it from a sentence to a task plan. Let's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85825"/>
            <a:ext cx="123750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4573250" y="762000"/>
            <a:ext cx="2286000" cy="15240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480" b="-7480"/>
          <a:stretch/>
        </p:blipFill>
        <p:spPr>
          <a:xfrm>
            <a:off x="14573250" y="762000"/>
            <a:ext cx="228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067050"/>
            <a:ext cx="17287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PROPOSAL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3733800"/>
            <a:ext cx="16187738" cy="2056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350" spc="-73" kern="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teammate for the people who </a:t>
            </a:r>
            <a:pPr algn="l" indent="0" marL="0">
              <a:lnSpc>
                <a:spcPct val="102000"/>
              </a:lnSpc>
              <a:buNone/>
            </a:pPr>
            <a:r>
              <a:rPr lang="en-US" sz="7350" i="1" spc="-73" kern="0" dirty="0">
                <a:solidFill>
                  <a:srgbClr val="C41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</a:t>
            </a:r>
            <a:pPr algn="l" indent="0" marL="0">
              <a:lnSpc>
                <a:spcPct val="102000"/>
              </a:lnSpc>
              <a:buNone/>
            </a:pPr>
            <a:r>
              <a:rPr lang="en-US" sz="7350" spc="-73" kern="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work.</a:t>
            </a:r>
            <a:endParaRPr lang="en-US" sz="7350" dirty="0"/>
          </a:p>
        </p:txBody>
      </p:sp>
      <p:sp>
        <p:nvSpPr>
          <p:cNvPr id="8" name="Text 5"/>
          <p:cNvSpPr/>
          <p:nvPr/>
        </p:nvSpPr>
        <p:spPr>
          <a:xfrm>
            <a:off x="1143000" y="6171307"/>
            <a:ext cx="117729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AI-mediated SDLC companion that takes a stakeholder's idea from a single sentence to a shippable, traceable plan — without losing a thing in translation.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1143000" y="8991600"/>
            <a:ext cx="1609725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9286875"/>
            <a:ext cx="63210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is for developers. </a:t>
            </a:r>
            <a:pPr algn="l" indent="0" marL="0">
              <a:buNone/>
            </a:pPr>
            <a:r>
              <a:rPr lang="en-US" sz="2025" b="1" dirty="0">
                <a:solidFill>
                  <a:srgbClr val="C4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 is for the business.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5841117" y="9324975"/>
            <a:ext cx="153904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4716125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product starts as a sentence. Then the handoffs begin.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09650" y="40957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472440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/>
        </p:spPr>
      </p:sp>
      <p:sp>
        <p:nvSpPr>
          <p:cNvPr id="6" name="Text 4"/>
          <p:cNvSpPr/>
          <p:nvPr/>
        </p:nvSpPr>
        <p:spPr>
          <a:xfrm>
            <a:off x="1009650" y="5010150"/>
            <a:ext cx="2933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intent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71900" y="4452938"/>
            <a:ext cx="742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9B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43400" y="40957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76750" y="472440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171717">
              <a:alpha val="7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5010150"/>
            <a:ext cx="2933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reworded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05650" y="4452938"/>
            <a:ext cx="742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9B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77150" y="40957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810500" y="472440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C4122E">
              <a:alpha val="5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677150" y="5010150"/>
            <a:ext cx="2933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re-scoped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39400" y="4452938"/>
            <a:ext cx="742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9B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010900" y="40957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1144250" y="472440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C4122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010900" y="5010150"/>
            <a:ext cx="2933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reinterpreted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73150" y="4452938"/>
            <a:ext cx="742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9B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4344650" y="40957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4478000" y="472440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C4122E">
              <a:alpha val="2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4344650" y="5010150"/>
            <a:ext cx="2933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what was meant?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8039100"/>
            <a:ext cx="137350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4A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handoff is a re-typing of intent into a new document — with no thread back to what was actually meant.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831467" y="9648825"/>
            <a:ext cx="25448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3735050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context isn't free. It's most of the bill.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3924300"/>
            <a:ext cx="4978301" cy="28575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257675"/>
            <a:ext cx="547613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143000" y="5610225"/>
            <a:ext cx="512765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engineering effort is spent on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building the wrong thing, then fixing it.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654701" y="3924300"/>
            <a:ext cx="4978450" cy="28575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Text 6"/>
          <p:cNvSpPr/>
          <p:nvPr/>
        </p:nvSpPr>
        <p:spPr>
          <a:xfrm>
            <a:off x="6654701" y="4257675"/>
            <a:ext cx="547629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6654701" y="5610225"/>
            <a:ext cx="5127803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troubled projects trace back to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vague, missing, or misread.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166550" y="3924300"/>
            <a:ext cx="4978450" cy="28575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11" name="Text 9"/>
          <p:cNvSpPr/>
          <p:nvPr/>
        </p:nvSpPr>
        <p:spPr>
          <a:xfrm>
            <a:off x="12166550" y="4257675"/>
            <a:ext cx="547629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 wks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12166550" y="5610225"/>
            <a:ext cx="5127803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an agreed, buildable plan — much of it re-aligning what was already said.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227969" y="9648825"/>
            <a:ext cx="32087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DIRECTIONAL · INDUSTRY RANGES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905000"/>
            <a:ext cx="17287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BUZZIN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628900"/>
            <a:ext cx="272660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16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736032" y="2743200"/>
            <a:ext cx="209550" cy="7239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943350"/>
            <a:ext cx="14225588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Devin gave every engineer an AI teammate. </a:t>
            </a:r>
            <a:pPr algn="l" indent="0" marL="0">
              <a:lnSpc>
                <a:spcPct val="108000"/>
              </a:lnSpc>
              <a:buNone/>
            </a:pPr>
            <a:r>
              <a:rPr lang="en-US" sz="4800" dirty="0">
                <a:solidFill>
                  <a:srgbClr val="C41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Buzzin gives the business one.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5640884"/>
            <a:ext cx="13244513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chat your idea in as a Business User. A team of AI specialists turns it into requirements, a PRD, an architecture, a spec, and a task plan — the way a great cross-functional team would, with nothing lost between them.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831467" y="9648825"/>
            <a:ext cx="25448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idea, five stages, zero handoff loss.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3006030" cy="381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752850"/>
            <a:ext cx="29503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4124325"/>
            <a:ext cx="29503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4610100"/>
            <a:ext cx="1575941" cy="323850"/>
          </a:xfrm>
          <a:prstGeom prst="roundRect">
            <a:avLst>
              <a:gd name="adj" fmla="val 14706"/>
            </a:avLst>
          </a:prstGeom>
          <a:solidFill>
            <a:srgbClr val="FFF3D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667250"/>
            <a:ext cx="14235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8A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USER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143000" y="5143500"/>
            <a:ext cx="276264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your idea in. A live scorecard blocks Advance until it's clear.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4149030" y="3429000"/>
            <a:ext cx="3330029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1" name="Text 9"/>
          <p:cNvSpPr/>
          <p:nvPr/>
        </p:nvSpPr>
        <p:spPr>
          <a:xfrm>
            <a:off x="4472880" y="3752850"/>
            <a:ext cx="295056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2880" y="4124325"/>
            <a:ext cx="29505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4472880" y="4610100"/>
            <a:ext cx="1575941" cy="323850"/>
          </a:xfrm>
          <a:prstGeom prst="roundRect">
            <a:avLst>
              <a:gd name="adj" fmla="val 14706"/>
            </a:avLst>
          </a:prstGeom>
          <a:solidFill>
            <a:srgbClr val="FFF3D0"/>
          </a:solidFill>
          <a:ln/>
        </p:spPr>
      </p:sp>
      <p:sp>
        <p:nvSpPr>
          <p:cNvPr id="14" name="Text 12"/>
          <p:cNvSpPr/>
          <p:nvPr/>
        </p:nvSpPr>
        <p:spPr>
          <a:xfrm>
            <a:off x="4587180" y="4667250"/>
            <a:ext cx="14235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8A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USER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472880" y="5143500"/>
            <a:ext cx="2762799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product items, each traced back to a requirement.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7479060" y="3429000"/>
            <a:ext cx="332988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7" name="Text 15"/>
          <p:cNvSpPr/>
          <p:nvPr/>
        </p:nvSpPr>
        <p:spPr>
          <a:xfrm>
            <a:off x="7802910" y="3752850"/>
            <a:ext cx="29503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02910" y="4124325"/>
            <a:ext cx="29503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/ ADR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7802910" y="4610100"/>
            <a:ext cx="954137" cy="323850"/>
          </a:xfrm>
          <a:prstGeom prst="roundRect">
            <a:avLst>
              <a:gd name="adj" fmla="val 14706"/>
            </a:avLst>
          </a:prstGeom>
          <a:solidFill>
            <a:srgbClr val="FFF3D0"/>
          </a:solidFill>
          <a:ln/>
        </p:spPr>
      </p:sp>
      <p:sp>
        <p:nvSpPr>
          <p:cNvPr id="20" name="Text 18"/>
          <p:cNvSpPr/>
          <p:nvPr/>
        </p:nvSpPr>
        <p:spPr>
          <a:xfrm>
            <a:off x="7917210" y="4667250"/>
            <a:ext cx="8017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7802910" y="5143500"/>
            <a:ext cx="276264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constrained to our tech radar and compliance rules.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0808940" y="3429000"/>
            <a:ext cx="3330029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23" name="Text 21"/>
          <p:cNvSpPr/>
          <p:nvPr/>
        </p:nvSpPr>
        <p:spPr>
          <a:xfrm>
            <a:off x="11132790" y="3752850"/>
            <a:ext cx="295056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32790" y="4124325"/>
            <a:ext cx="29505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Spec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1132790" y="4610100"/>
            <a:ext cx="1679525" cy="323850"/>
          </a:xfrm>
          <a:prstGeom prst="roundRect">
            <a:avLst>
              <a:gd name="adj" fmla="val 14706"/>
            </a:avLst>
          </a:prstGeom>
          <a:solidFill>
            <a:srgbClr val="EFE8FA"/>
          </a:solidFill>
          <a:ln/>
        </p:spPr>
      </p:sp>
      <p:sp>
        <p:nvSpPr>
          <p:cNvPr id="26" name="Text 24"/>
          <p:cNvSpPr/>
          <p:nvPr/>
        </p:nvSpPr>
        <p:spPr>
          <a:xfrm>
            <a:off x="11247090" y="4667250"/>
            <a:ext cx="15271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5A3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ARCHITECT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1132790" y="5143500"/>
            <a:ext cx="2762799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co-edits; every change ripples through the graph.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4138970" y="3429000"/>
            <a:ext cx="300603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29" name="Text 27"/>
          <p:cNvSpPr/>
          <p:nvPr/>
        </p:nvSpPr>
        <p:spPr>
          <a:xfrm>
            <a:off x="14462820" y="3752850"/>
            <a:ext cx="29503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462820" y="4124325"/>
            <a:ext cx="29503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Plan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4462820" y="4610100"/>
            <a:ext cx="1679525" cy="323850"/>
          </a:xfrm>
          <a:prstGeom prst="roundRect">
            <a:avLst>
              <a:gd name="adj" fmla="val 14706"/>
            </a:avLst>
          </a:prstGeom>
          <a:solidFill>
            <a:srgbClr val="EFE8FA"/>
          </a:solidFill>
          <a:ln/>
        </p:spPr>
      </p:sp>
      <p:sp>
        <p:nvSpPr>
          <p:cNvPr id="32" name="Text 30"/>
          <p:cNvSpPr/>
          <p:nvPr/>
        </p:nvSpPr>
        <p:spPr>
          <a:xfrm>
            <a:off x="14577120" y="4667250"/>
            <a:ext cx="15271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5A3D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ARCHITECT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4462820" y="5143500"/>
            <a:ext cx="276264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Epics and tasks with estimates and dependencies, ready to build.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143000" y="8686800"/>
            <a:ext cx="12079635" cy="9525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35" name="Text 33"/>
          <p:cNvSpPr/>
          <p:nvPr/>
        </p:nvSpPr>
        <p:spPr>
          <a:xfrm>
            <a:off x="13413135" y="8524875"/>
            <a:ext cx="410505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C41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team stays in sync.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4831467" y="9648825"/>
            <a:ext cx="25448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specialists, one coordinated team.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352800"/>
            <a:ext cx="3017490" cy="36480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9225" y="3686175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C4122E"/>
          </a:solidFill>
          <a:ln/>
        </p:spPr>
      </p:sp>
      <p:sp>
        <p:nvSpPr>
          <p:cNvPr id="6" name="Text 4"/>
          <p:cNvSpPr/>
          <p:nvPr/>
        </p:nvSpPr>
        <p:spPr>
          <a:xfrm>
            <a:off x="1381125" y="368617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4410075"/>
            <a:ext cx="25412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Analyst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19225" y="5095875"/>
            <a:ext cx="25412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Elicits the idea and scores it against a rubric until it's clear.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419225" y="6286500"/>
            <a:ext cx="246504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0" name="Text 8"/>
          <p:cNvSpPr/>
          <p:nvPr/>
        </p:nvSpPr>
        <p:spPr>
          <a:xfrm>
            <a:off x="1419225" y="6448425"/>
            <a:ext cx="25412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89090" y="3352800"/>
            <a:ext cx="3017639" cy="36480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5315" y="3686175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C412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27215" y="368617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665315" y="4410075"/>
            <a:ext cx="27117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Author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4665315" y="4800600"/>
            <a:ext cx="254138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product items — every one traced to a requirement.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665315" y="5991225"/>
            <a:ext cx="2465189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5315" y="6153150"/>
            <a:ext cx="25413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35329" y="3352800"/>
            <a:ext cx="3017490" cy="36480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11554" y="3686175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8A6D00"/>
          </a:solidFill>
          <a:ln/>
        </p:spPr>
      </p:sp>
      <p:sp>
        <p:nvSpPr>
          <p:cNvPr id="20" name="Text 18"/>
          <p:cNvSpPr/>
          <p:nvPr/>
        </p:nvSpPr>
        <p:spPr>
          <a:xfrm>
            <a:off x="7873454" y="368617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11554" y="4410075"/>
            <a:ext cx="27115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Advisor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7911554" y="4800600"/>
            <a:ext cx="25412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Chooses technology within our radar and hard compliance rules.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911554" y="5991225"/>
            <a:ext cx="246504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24" name="Text 22"/>
          <p:cNvSpPr/>
          <p:nvPr/>
        </p:nvSpPr>
        <p:spPr>
          <a:xfrm>
            <a:off x="7911554" y="6153150"/>
            <a:ext cx="25412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881420" y="3352800"/>
            <a:ext cx="3017490" cy="36480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157645" y="3686175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5A3D8A"/>
          </a:solidFill>
          <a:ln/>
        </p:spPr>
      </p:sp>
      <p:sp>
        <p:nvSpPr>
          <p:cNvPr id="27" name="Text 25"/>
          <p:cNvSpPr/>
          <p:nvPr/>
        </p:nvSpPr>
        <p:spPr>
          <a:xfrm>
            <a:off x="11119545" y="368617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157645" y="4410075"/>
            <a:ext cx="27115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1157645" y="4800600"/>
            <a:ext cx="25412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Co-edits the spec and runs impact analysis on every change.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157645" y="5991225"/>
            <a:ext cx="246504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31" name="Text 29"/>
          <p:cNvSpPr/>
          <p:nvPr/>
        </p:nvSpPr>
        <p:spPr>
          <a:xfrm>
            <a:off x="11157645" y="6153150"/>
            <a:ext cx="25412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4127510" y="3352800"/>
            <a:ext cx="3017490" cy="36480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4403735" y="3686175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5A3D8A"/>
          </a:solidFill>
          <a:ln/>
        </p:spPr>
      </p:sp>
      <p:sp>
        <p:nvSpPr>
          <p:cNvPr id="34" name="Text 32"/>
          <p:cNvSpPr/>
          <p:nvPr/>
        </p:nvSpPr>
        <p:spPr>
          <a:xfrm>
            <a:off x="14365635" y="368617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4403735" y="4410075"/>
            <a:ext cx="27115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4403735" y="4800600"/>
            <a:ext cx="25412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the spec into epics, tasks, estimates and dependencies.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4403735" y="5991225"/>
            <a:ext cx="246504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38" name="Text 36"/>
          <p:cNvSpPr/>
          <p:nvPr/>
        </p:nvSpPr>
        <p:spPr>
          <a:xfrm>
            <a:off x="14403735" y="6153150"/>
            <a:ext cx="25412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43000" y="8343900"/>
            <a:ext cx="164820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4A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single-writer rule: no specialist writes outside its own artifact type — so they collaborate without stepping on each other.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4831467" y="9648825"/>
            <a:ext cx="25448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artifact graph — everything traces back.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268438"/>
            <a:ext cx="1422558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downstream node cites the upstream id it came from. Nothing floats free — uncited nodes are flagged automatically.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33339" y="3581400"/>
            <a:ext cx="16245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720879" y="3581400"/>
            <a:ext cx="4454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8562380" y="3581400"/>
            <a:ext cx="14891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/ ADR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1923961" y="3581400"/>
            <a:ext cx="11837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SPEC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5408548" y="3581400"/>
            <a:ext cx="6916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4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4076700"/>
            <a:ext cx="14859000" cy="4953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14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895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REQ-1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914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895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REQ-2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24827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2922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24827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2922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PRD-2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8582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562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ADR-1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1820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01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SPEC-1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1820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1801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SPEC-2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15059025" y="44767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5039975" y="44958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TASK-1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5059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5039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TASK-2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5059025" y="80962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5039975" y="81153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TASK-3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1411694" y="9648825"/>
            <a:ext cx="63066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edges: derives_from · satisfies · constrains · implements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1 · READINESS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advance until it's actually ready.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352800"/>
            <a:ext cx="8382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BUZZIN ASKS THE GAP-CLOSING QUESTION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143000" y="3771900"/>
            <a:ext cx="7620000" cy="2064841"/>
          </a:xfrm>
          <a:prstGeom prst="roundRect">
            <a:avLst>
              <a:gd name="adj" fmla="val 64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5827216"/>
            <a:ext cx="7620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771900"/>
            <a:ext cx="7620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771900"/>
            <a:ext cx="47625" cy="2064841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9" name="Shape 7"/>
          <p:cNvSpPr/>
          <p:nvPr/>
        </p:nvSpPr>
        <p:spPr>
          <a:xfrm>
            <a:off x="8753475" y="3771900"/>
            <a:ext cx="9525" cy="2064841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0" name="Text 8"/>
          <p:cNvSpPr/>
          <p:nvPr/>
        </p:nvSpPr>
        <p:spPr>
          <a:xfrm>
            <a:off x="1533525" y="4105275"/>
            <a:ext cx="7083362" cy="143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"You've told me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whom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To move on, how will we know it worked — what's the one measurable success metric?"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43000" y="6160591"/>
            <a:ext cx="7848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blank "is this good enough?" — the rubric knows exactly which dimension is short, and asks for that.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906000" y="3352800"/>
            <a:ext cx="7239000" cy="5486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sx="100000" sy="100000" kx="0" ky="0" algn="bl" rotWithShape="0" blurRad="285750" dist="9525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96525" y="3705225"/>
            <a:ext cx="31799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readiness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182975" y="3729038"/>
            <a:ext cx="647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296525" y="4124325"/>
            <a:ext cx="645795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96525" y="4857750"/>
            <a:ext cx="645795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96525" y="4457700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620375" y="4391025"/>
            <a:ext cx="59616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clarity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6211550" y="4419600"/>
            <a:ext cx="6191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0296525" y="5514975"/>
            <a:ext cx="645795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96525" y="5114925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22" name="Text 20"/>
          <p:cNvSpPr/>
          <p:nvPr/>
        </p:nvSpPr>
        <p:spPr>
          <a:xfrm>
            <a:off x="10620375" y="5048250"/>
            <a:ext cx="59616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6211550" y="5076825"/>
            <a:ext cx="6191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0296525" y="6172200"/>
            <a:ext cx="645795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6525" y="5772150"/>
            <a:ext cx="152400" cy="152400"/>
          </a:xfrm>
          <a:prstGeom prst="ellipse">
            <a:avLst/>
          </a:prstGeom>
          <a:solidFill>
            <a:srgbClr val="E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620375" y="5705475"/>
            <a:ext cx="59616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6211550" y="5734050"/>
            <a:ext cx="6191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0296525" y="6829425"/>
            <a:ext cx="645795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6525" y="6429375"/>
            <a:ext cx="152400" cy="152400"/>
          </a:xfrm>
          <a:prstGeom prst="ellipse">
            <a:avLst/>
          </a:prstGeom>
          <a:solidFill>
            <a:srgbClr val="E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620375" y="6362700"/>
            <a:ext cx="59616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boundaries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6211550" y="6391275"/>
            <a:ext cx="6191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10296525" y="7086600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33" name="Text 31"/>
          <p:cNvSpPr/>
          <p:nvPr/>
        </p:nvSpPr>
        <p:spPr>
          <a:xfrm>
            <a:off x="10620375" y="7019925"/>
            <a:ext cx="59616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6211550" y="7048500"/>
            <a:ext cx="6191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0296525" y="7734300"/>
            <a:ext cx="6457950" cy="752475"/>
          </a:xfrm>
          <a:prstGeom prst="roundRect">
            <a:avLst>
              <a:gd name="adj" fmla="val 15190"/>
            </a:avLst>
          </a:prstGeom>
          <a:solidFill>
            <a:srgbClr val="F4EEE4"/>
          </a:solidFill>
          <a:ln w="9525">
            <a:solidFill>
              <a:srgbClr val="CBBFAE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1491615" y="7953375"/>
            <a:ext cx="3900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938843" y="7962900"/>
            <a:ext cx="39825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89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— locked until all-green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4831467" y="9648825"/>
            <a:ext cx="25448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2 · IMPACT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one thing. See everything it touches.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268438"/>
            <a:ext cx="1422558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 node and Buzzin walks the graph, flags every stale or contradicted neighbour, and suggests a fix — nothing silently rots.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33339" y="3581400"/>
            <a:ext cx="16245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720879" y="3581400"/>
            <a:ext cx="4454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8562380" y="3581400"/>
            <a:ext cx="14891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/ ADR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1923961" y="3581400"/>
            <a:ext cx="11837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SPEC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5408548" y="3581400"/>
            <a:ext cx="6916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4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4076700"/>
            <a:ext cx="14859000" cy="4953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14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95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REQ-1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914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95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REQ-2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24827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2922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24827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2922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PRD-2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8582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C4122E"/>
          </a:solidFill>
          <a:ln w="19050">
            <a:solidFill>
              <a:srgbClr val="C4122E"/>
            </a:solidFill>
            <a:prstDash val="solid"/>
          </a:ln>
          <a:effectLst>
            <a:outerShdw sx="100000" sy="100000" kx="0" ky="0" algn="bl" rotWithShape="0" blurRad="101600" dist="50800" dir="16200000">
              <a:srgbClr val="C4122E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562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ADR-1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1820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01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SPEC-1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1820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1801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SPEC-2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15059025" y="44767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5039975" y="44958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TASK-1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5059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5039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TASK-2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5059025" y="80962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5039975" y="81153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TASK-3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9239250" y="7315200"/>
            <a:ext cx="2979539" cy="390525"/>
          </a:xfrm>
          <a:prstGeom prst="roundRect">
            <a:avLst>
              <a:gd name="adj" fmla="val 19512"/>
            </a:avLst>
          </a:prstGeom>
          <a:solidFill>
            <a:srgbClr val="C4122E"/>
          </a:solidFill>
          <a:ln/>
        </p:spPr>
      </p:sp>
      <p:sp>
        <p:nvSpPr>
          <p:cNvPr id="32" name="Text 29"/>
          <p:cNvSpPr/>
          <p:nvPr/>
        </p:nvSpPr>
        <p:spPr>
          <a:xfrm>
            <a:off x="9391650" y="7400925"/>
            <a:ext cx="2764125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 supersedes ADR-1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14034343" y="9648825"/>
            <a:ext cx="34217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 stale · fix suggested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IN OUR RULES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reasons inside our guardrails, not the internet's.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429000"/>
            <a:ext cx="88011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RADAR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43000" y="3914775"/>
            <a:ext cx="8001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9225" y="4176712"/>
            <a:ext cx="1123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676525" y="4152900"/>
            <a:ext cx="6810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— the advisor reaches for these first.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143000" y="4848225"/>
            <a:ext cx="8001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9225" y="5110163"/>
            <a:ext cx="1123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76525" y="5086350"/>
            <a:ext cx="6810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with a caveat and a named fallback.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43000" y="5781675"/>
            <a:ext cx="8001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9225" y="6043613"/>
            <a:ext cx="1123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676525" y="6019800"/>
            <a:ext cx="6810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— cannot be chosen, no exceptions.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525000" y="3429000"/>
            <a:ext cx="83820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COMPLIANCE CONSTRAINTS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525000" y="3914775"/>
            <a:ext cx="2089547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0" y="4543425"/>
            <a:ext cx="2089547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0" y="3914775"/>
            <a:ext cx="2089547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0" y="3914775"/>
            <a:ext cx="38100" cy="638175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05022" y="3914775"/>
            <a:ext cx="9525" cy="63817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0" name="Text 18"/>
          <p:cNvSpPr/>
          <p:nvPr/>
        </p:nvSpPr>
        <p:spPr>
          <a:xfrm>
            <a:off x="9791700" y="4095750"/>
            <a:ext cx="16609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residency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766947" y="3914775"/>
            <a:ext cx="2718941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66947" y="4543425"/>
            <a:ext cx="2718941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66947" y="3914775"/>
            <a:ext cx="2718941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66947" y="3914775"/>
            <a:ext cx="38100" cy="638175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6363" y="3914775"/>
            <a:ext cx="9525" cy="63817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6" name="Text 24"/>
          <p:cNvSpPr/>
          <p:nvPr/>
        </p:nvSpPr>
        <p:spPr>
          <a:xfrm>
            <a:off x="12033647" y="4095750"/>
            <a:ext cx="22956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encryption at rest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638288" y="3914775"/>
            <a:ext cx="1920627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4638288" y="4543425"/>
            <a:ext cx="1920627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9" name="Shape 27"/>
          <p:cNvSpPr/>
          <p:nvPr/>
        </p:nvSpPr>
        <p:spPr>
          <a:xfrm>
            <a:off x="14638288" y="3914775"/>
            <a:ext cx="1920627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0" name="Shape 28"/>
          <p:cNvSpPr/>
          <p:nvPr/>
        </p:nvSpPr>
        <p:spPr>
          <a:xfrm>
            <a:off x="14638288" y="3914775"/>
            <a:ext cx="38100" cy="638175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6549390" y="3914775"/>
            <a:ext cx="9525" cy="63817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2" name="Text 30"/>
          <p:cNvSpPr/>
          <p:nvPr/>
        </p:nvSpPr>
        <p:spPr>
          <a:xfrm>
            <a:off x="14904988" y="4095750"/>
            <a:ext cx="14920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0" y="4705350"/>
            <a:ext cx="2128093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525000" y="5334000"/>
            <a:ext cx="2128093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5" name="Shape 33"/>
          <p:cNvSpPr/>
          <p:nvPr/>
        </p:nvSpPr>
        <p:spPr>
          <a:xfrm>
            <a:off x="9525000" y="4705350"/>
            <a:ext cx="2128093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0" y="4705350"/>
            <a:ext cx="38100" cy="638175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7" name="Shape 35"/>
          <p:cNvSpPr/>
          <p:nvPr/>
        </p:nvSpPr>
        <p:spPr>
          <a:xfrm>
            <a:off x="11643568" y="4705350"/>
            <a:ext cx="9525" cy="63817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8" name="Text 36"/>
          <p:cNvSpPr/>
          <p:nvPr/>
        </p:nvSpPr>
        <p:spPr>
          <a:xfrm>
            <a:off x="9791700" y="4886325"/>
            <a:ext cx="16994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risk tier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805493" y="4705350"/>
            <a:ext cx="2441228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05493" y="5334000"/>
            <a:ext cx="2441228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41" name="Shape 39"/>
          <p:cNvSpPr/>
          <p:nvPr/>
        </p:nvSpPr>
        <p:spPr>
          <a:xfrm>
            <a:off x="11805493" y="4705350"/>
            <a:ext cx="2441228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42" name="Shape 40"/>
          <p:cNvSpPr/>
          <p:nvPr/>
        </p:nvSpPr>
        <p:spPr>
          <a:xfrm>
            <a:off x="11805493" y="4705350"/>
            <a:ext cx="38100" cy="638175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43" name="Shape 41"/>
          <p:cNvSpPr/>
          <p:nvPr/>
        </p:nvSpPr>
        <p:spPr>
          <a:xfrm>
            <a:off x="14237196" y="4705350"/>
            <a:ext cx="9525" cy="63817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12072193" y="4886325"/>
            <a:ext cx="20126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/ regulatory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525000" y="5686425"/>
            <a:ext cx="7620000" cy="1409700"/>
          </a:xfrm>
          <a:prstGeom prst="roundRect">
            <a:avLst>
              <a:gd name="adj" fmla="val 9459"/>
            </a:avLst>
          </a:prstGeom>
          <a:solidFill>
            <a:srgbClr val="171717"/>
          </a:solidFill>
          <a:ln/>
        </p:spPr>
      </p:sp>
      <p:sp>
        <p:nvSpPr>
          <p:cNvPr id="46" name="Text 44"/>
          <p:cNvSpPr/>
          <p:nvPr/>
        </p:nvSpPr>
        <p:spPr>
          <a:xfrm>
            <a:off x="9848850" y="5991225"/>
            <a:ext cx="71814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Violate a hard rule and the advisor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escalates the conflict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it never quietly breaks it.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4831467" y="9648825"/>
            <a:ext cx="25448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VALUE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Reclaimed capacity worth </a:t>
            </a:r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~$111M a year.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543300"/>
            <a:ext cx="3574703" cy="2167830"/>
          </a:xfrm>
          <a:prstGeom prst="roundRect">
            <a:avLst>
              <a:gd name="adj" fmla="val 6151"/>
            </a:avLst>
          </a:prstGeom>
          <a:solidFill>
            <a:srgbClr val="1E1A16"/>
          </a:solidFill>
          <a:ln w="9525">
            <a:solidFill>
              <a:srgbClr val="2F29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8275" y="3876675"/>
            <a:ext cx="32825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5,500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438275" y="4791075"/>
            <a:ext cx="307367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 + PMs in scope, junior through Principal / Lead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89153" y="3543300"/>
            <a:ext cx="300930" cy="2205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285333" y="3543300"/>
            <a:ext cx="3574852" cy="2167830"/>
          </a:xfrm>
          <a:prstGeom prst="roundRect">
            <a:avLst>
              <a:gd name="adj" fmla="val 6151"/>
            </a:avLst>
          </a:prstGeom>
          <a:solidFill>
            <a:srgbClr val="1E1A16"/>
          </a:solidFill>
          <a:ln w="9525">
            <a:solidFill>
              <a:srgbClr val="2F29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0608" y="3876675"/>
            <a:ext cx="32827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$225K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580608" y="4791075"/>
            <a:ext cx="3073831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total comp, US-anchored estimate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031635" y="3543300"/>
            <a:ext cx="300930" cy="2205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427815" y="3543300"/>
            <a:ext cx="3574703" cy="2167830"/>
          </a:xfrm>
          <a:prstGeom prst="roundRect">
            <a:avLst>
              <a:gd name="adj" fmla="val 6151"/>
            </a:avLst>
          </a:prstGeom>
          <a:solidFill>
            <a:srgbClr val="1E1A16"/>
          </a:solidFill>
          <a:ln w="9525">
            <a:solidFill>
              <a:srgbClr val="2F29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3090" y="3876675"/>
            <a:ext cx="328256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723090" y="4791075"/>
            <a:ext cx="307367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their time in the idea → plan → spec cycle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173968" y="3543300"/>
            <a:ext cx="300930" cy="2205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3570148" y="3543300"/>
            <a:ext cx="3574852" cy="2167830"/>
          </a:xfrm>
          <a:prstGeom prst="roundRect">
            <a:avLst>
              <a:gd name="adj" fmla="val 6151"/>
            </a:avLst>
          </a:prstGeom>
          <a:solidFill>
            <a:srgbClr val="1E1A16"/>
          </a:solidFill>
          <a:ln w="9525">
            <a:solidFill>
              <a:srgbClr val="2F29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65423" y="3876675"/>
            <a:ext cx="32827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3865423" y="4791075"/>
            <a:ext cx="3282732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that time Buzzin gives back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6953250"/>
            <a:ext cx="16002000" cy="1843980"/>
          </a:xfrm>
          <a:prstGeom prst="roundRect">
            <a:avLst>
              <a:gd name="adj" fmla="val 9298"/>
            </a:avLst>
          </a:prstGeom>
          <a:solidFill>
            <a:srgbClr val="C4122E"/>
          </a:solidFill>
          <a:ln/>
        </p:spPr>
      </p:sp>
      <p:sp>
        <p:nvSpPr>
          <p:cNvPr id="20" name="Text 18"/>
          <p:cNvSpPr/>
          <p:nvPr/>
        </p:nvSpPr>
        <p:spPr>
          <a:xfrm>
            <a:off x="1638300" y="7315200"/>
            <a:ext cx="651585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FFD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RECLAIMED PLANNING CAPACITY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638300" y="7639050"/>
            <a:ext cx="6515859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$111M / year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0370820" y="7339459"/>
            <a:ext cx="627888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point estimate. Range ≈ </a:t>
            </a:r>
            <a:pPr algn="r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$74M </a:t>
            </a:r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global-blended comp to </a:t>
            </a:r>
            <a:pPr algn="r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$130M </a:t>
            </a:r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35% efficiency — and this is planning only, before faster delivery downstream.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606980" y="9648825"/>
            <a:ext cx="71918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· HEADCOUNT &amp; COMP ESTIMATED · VALIDATE WITH FINANCE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09700"/>
            <a:ext cx="17602200" cy="783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7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mockup. It runs today.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3600450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80852" y="3600450"/>
            <a:ext cx="749697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Claude-backed specialist agents, live end-to-end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72625" y="3600450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10477" y="3600450"/>
            <a:ext cx="690909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graph with typed edges &amp; version history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143000" y="4253805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80852" y="4253805"/>
            <a:ext cx="734855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&amp; Impact engines on one consistency checker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572625" y="4253805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10477" y="4253805"/>
            <a:ext cx="702156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ADRs — radar + compliance enforced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43000" y="5293816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80852" y="5293816"/>
            <a:ext cx="5973157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SQLite backend, React front end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572625" y="5293816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10477" y="5293816"/>
            <a:ext cx="734855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test suite green: gate · impact · constraint · traceability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143000" y="8134350"/>
            <a:ext cx="1648206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4A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 part — making the intelligence legible and safe — is already proven. What's left is turning a proof-of-concept into a product.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831467" y="9648825"/>
            <a:ext cx="25448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PATH FORWARD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proof-of-concept to platform.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543300"/>
            <a:ext cx="3810000" cy="381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7150"/>
            <a:ext cx="3771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143000" y="4248150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core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4724400"/>
            <a:ext cx="3531870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operator, sequential, seeded company profile. The full pipeline works.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4953000" y="3543300"/>
            <a:ext cx="41910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0" y="3867150"/>
            <a:ext cx="3771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8A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334000" y="4248150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Workday-aware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334000" y="4724400"/>
            <a:ext cx="3531870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the operator's role from Workday, auto-applying the right persona and entitlements.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144000" y="3543300"/>
            <a:ext cx="41910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3867150"/>
            <a:ext cx="3771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8A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525000" y="4248150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0" y="4724400"/>
            <a:ext cx="3531870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Multi-user, SSO, and live integrations — Jira, Confluence, ServiceNow.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3335000" y="3543300"/>
            <a:ext cx="38100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0" y="3867150"/>
            <a:ext cx="3771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8A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3716000" y="4248150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Portfolio-scale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716000" y="4724400"/>
            <a:ext cx="3531870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across many projects — see a change ripple through the whole book of work.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143000" y="9620250"/>
            <a:ext cx="6569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831467" y="9648825"/>
            <a:ext cx="25448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43000" y="2190750"/>
            <a:ext cx="204491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3000" y="3314700"/>
            <a:ext cx="16187738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risky part is done. </a:t>
            </a:r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it.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5524500"/>
            <a:ext cx="12263438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us a focused pilot on one real initiative — a small team and access to our radar + compliance data — and we'll show Buzzin carry it from a sentence to a shippable plan.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8286750"/>
            <a:ext cx="1600498" cy="762000"/>
          </a:xfrm>
          <a:prstGeom prst="roundRect">
            <a:avLst>
              <a:gd name="adj" fmla="val 15000"/>
            </a:avLst>
          </a:prstGeom>
          <a:solidFill>
            <a:srgbClr val="1E1A16"/>
          </a:solidFill>
          <a:ln w="9525">
            <a:solidFill>
              <a:srgbClr val="2F29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8275" y="8524875"/>
            <a:ext cx="10861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 →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933998" y="8286750"/>
            <a:ext cx="4609951" cy="762000"/>
          </a:xfrm>
          <a:prstGeom prst="roundRect">
            <a:avLst>
              <a:gd name="adj" fmla="val 15000"/>
            </a:avLst>
          </a:prstGeom>
          <a:solidFill>
            <a:srgbClr val="1E1A16"/>
          </a:solidFill>
          <a:ln w="9525">
            <a:solidFill>
              <a:srgbClr val="2F29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9273" y="8524875"/>
            <a:ext cx="4157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initiative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7734449" y="8286750"/>
            <a:ext cx="4610100" cy="762000"/>
          </a:xfrm>
          <a:prstGeom prst="roundRect">
            <a:avLst>
              <a:gd name="adj" fmla="val 15000"/>
            </a:avLst>
          </a:prstGeom>
          <a:solidFill>
            <a:srgbClr val="1E1A16"/>
          </a:solidFill>
          <a:ln w="9525">
            <a:solidFill>
              <a:srgbClr val="2F29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9724" y="8524875"/>
            <a:ext cx="41578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build team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535049" y="8286750"/>
            <a:ext cx="4609951" cy="762000"/>
          </a:xfrm>
          <a:prstGeom prst="roundRect">
            <a:avLst>
              <a:gd name="adj" fmla="val 15000"/>
            </a:avLst>
          </a:prstGeom>
          <a:solidFill>
            <a:srgbClr val="1E1A16"/>
          </a:solidFill>
          <a:ln w="9525">
            <a:solidFill>
              <a:srgbClr val="2F29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30324" y="8524875"/>
            <a:ext cx="4157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+ compliance access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9363075"/>
            <a:ext cx="16002000" cy="9525"/>
          </a:xfrm>
          <a:prstGeom prst="rect">
            <a:avLst/>
          </a:prstGeom>
          <a:solidFill>
            <a:srgbClr val="2F2924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9620250"/>
            <a:ext cx="52728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is for developers. </a:t>
            </a:r>
            <a:pPr algn="l" indent="0" marL="0">
              <a:buNone/>
            </a:pPr>
            <a:r>
              <a:rPr lang="en-US" sz="165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 is for the business.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761369" y="9648825"/>
            <a:ext cx="26219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2026-07-03T07:03:03Z</dcterms:created>
  <dcterms:modified xsi:type="dcterms:W3CDTF">2026-07-03T07:03:03Z</dcterms:modified>
</cp:coreProperties>
</file>